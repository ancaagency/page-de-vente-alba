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à usage animateur : chaque slide porte en note ce qu'il faut dire, faire et surveiller. Les encarts TIP sont projetables — ce sont eux que les participants recopient.
Avant d'ouvrir : vérifier que les deux participants sont connectés, et que vos clips vidéo de secours sont accessibles hors ligne.
Ouverture (2 min) : se présenter en une phrase, annoncer le format — atelier, chacun sur sa machine, sur leurs propres projets. Pas de théorie longue.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cadrage temporel — la montrer 30 secondes, ne pas la commenter ligne à ligne.
Ce qu'on annonce : « Trois heures, sept séquences, une pause. Vous repartez avec quatre choses concrètes. »
Si vous prenez du retard, c'est sur le cadrage et le passage à l'échelle qu'on rogne — jamais sur l'image ni sur l'agent.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préparation, pas projetée pendant la session.
Envoyer la liste au plus tard le jeudi précédent, et rappeler le vendredi. L'erreur classique : ils arrivent sans capture 3D exploitable et on perd vingt minutes à en produire une.
Demander les fichiers en amont par mail : ça vous permet de préparer deux ou trois exemples à l'avance.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pas une de plus. C'est la séquence qui déborde le plus facilement.
Objectif : qu'ils sachent, en sortant de ces quinze minutes, ce qu'ils ont le droit de faire et ce qu'ils ne feront jamais.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Ne pas faire de démonstration ici — on annonce, on démontrera plus tard.
Chaque outil a un rôle et on ne les mélange pas : l'image chez ChatGPT, le mouvement chez Seedance, le document chez Claude.
Si on vous demande « et Midjourney ? » : supérieur en esthétique pure, très inférieur en édition précise d'une image existante. En architecture, c'est l'édition qui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Séquence courte mais non négociable : c'est ce qui vous protège et ce qui les protège.
Faire le réglage de confidentialité EN DIRECT. Ne pas se contenter de le dire.
La question qui vient toujours : « est-ce que je peux mettre le plan de mon client ? » Un plan de votre propre projet, oui. Un document reçu sous condition de confidentialité, non — le fait qu'il soit sur votre disque ne vous en donne pas la libre disposition.
La phrase sur l'image d'intention se pose MAINTENANT, avant la première image. Dans vingt minutes ils verront quelque chose d'impressionnant, et la limite ne s'entendra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minutes. Annoncer clairement : « ce qu'on écrit dans les dix prochaines minutes, vous l'emportez. C'est la première pièce de votre bibliothèque de prompts.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Écrire un prompt complet devant eux, bloc par bloc, sur un vrai projet.
Insister sur le bloc 2, CADRAGE : personne ne l'écrit, et c'est celui qui change le plus le résultat.
Ne pas générer d'image tout de suite. On construit d'abord l'outil — sinon ils regardent l'image et n'écoutent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Ne pas lire les listes — parcourir et s'arrêter sur trois mots.
Ce qui surprend toujours : on leur enlève du travail au lieu de leur en ajouter. Les mots barrés viennent de la génération précédente d'outils, où ils servaient vraiment.
Leur faire remarquer qu'ils connaissent déjà le vocabulaire d'architecture. Ce qui leur manque, c'est celui du photographe — c'est là qu'ils progressent le plus vite.
Si l'un d'eux utilise Midjourney, ne pas le contredire frontalement : « sur Midjourney ces réflexes ont encore un sens, ici non.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chronométrées. Premier contact avec l'outil : laissez-les faire, n'intervenez pas techniquement.
Piège d'animation : la tentation de corriger pendant la manche 1. Ne le faites pas, le résultat médiocre est pédagogique.
Si vous êtes en retard : garder les 5 minutes de manche 1 et réduire le débrief. Ne jamais supprimer la manche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au total pour le module : 4 min ici, 12 min d'atelier capture 3D, 5 min sur matière et lumière, 5 min sur l'itération, 5 min sur la dérive, 15 min d'atelier libre.
C'est la séquence la plus longue et la plus importante — elle ne se sacrifie jamais.
Passer vite sur les portes 1 et 3, s'installer sur la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 4 min de démonstration par vous, 8 min chacun sur son projet.
Faites la démonstration sur VOTRE fichier d'abord, pour que le premier résultat soit propre.
Si une capture n'a pas les verticales droites, la corriger dans SketchUp plutôt que de compter sur 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Démonstration en direct : joindre une référence matière et montrer le résultat. Montrez volontairement le piège — l'erreur vue une fois ne se refait plus.
Le point professionnel : l'heure bleue est la plus vendeuse et la plus trompeuse. Une agence qui ne montre que des heures bleues perd en crédibilité auprès d'une MOA publique.
Leur faire choisir une ambiance par défaut d'agence. C'est une décision, pas une préférence.
Ajouter la saison coûte six mots et évite le jardin toujours parfait : « arbres en fin d'automne, feuillage clairsemé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C'est LA slide de la formation — celle qu'ils photographieront. Laissez-la à l'écran.
À démontrer en direct, en trois itérations enchaînées sur la même image. Ils doivent voir que l'image ne se réinitialise pas.
Le réflexe à casser : réécrire tout le prompt à chaque essai, parce que c'est ce que Midjourney impose. Ici c'est une conversation — on parle à quelqu'un qui a l'image sous les yeux.
C'est le livrable numéro 2 du programme : la grille d'itération. Le dire explicitement.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Moment le plus professionnel de la session — c'est ce qui vous distingue d'un tutoriel.
Faire l'exercice en direct sur une image que VOUS avez générée, en trouvant les erreurs devant eux. Montrer que vous les cherchez, pas que vous les connaissez.
La formulation clé, à dire lentement : le modèle ramène vers la moyenne ce que votre projet a de singulier. Un architecte comprend immédiatement ce que ça implique.
Si vous êtes en retard, ne coupez pas cette slide. Coupez cinq minutes sur l'atelier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Vous circulez, vous ne parlez pas depuis l'écran.
Ce que vous surveillez : celui qui recommence son prompt depuis le début au lieu d'itérer. Ça ne s'attrape qu'en regardant par-dessus l'épaule.
Le contrôle croisé de la fin est important : relire l'image de quelqu'un d'autre est beaucoup plus efficace que relire la sienne.
Annoncer la pause à 01:30 précises, même si l'atelier n'est pas fini. Ils continueront pendant la pause, c'est très bien.
PENDANT LA PAUSE : vérifier l'accès Seedance et les crédits sur les deux machines, charger les clips de secours, préparer une de leurs images validées comme point de départ du module vidéo.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minutes. Objectif D du programme : animer une image fixe.
Vos deux clips de secours doivent être prêts et lisibles hors ligne. C'est le point de défaillance le plus probable de la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Montrer l'interface Dreamina brièvement — ils la découvriront en faisant.
Le chiffre à ne pas cacher : deux générations sur trois partent à la poubelle. C'est un outil de tirage, pas de commande.
Si la question du coût vient : environ un euro pour un clip de six secondes utilisable, tout compris. À comparer à un devis de motion design.
La phrase sur Seedance 2.5 désamorce l'objection « ça change tous les six mois ». Ils y pensent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Le renversement mental : ils viennent de passer 45 minutes à être très précis sur l'image, et là il faut être plus économe.
La règle d'or — séparer caméra et sujet — évite le plus d'échecs. La dire deux fois.
Le piège numéro 4, le staffage animé, est celui qu'ils vont tous rencontrer : ils voudront faire marcher des gens devant leur bâtiment. Prévenir avant l'atelier fait gagner cinq minutes et une déception.
Le piège numéro 6 est le prolongement de « image d'intention » : une vidéo IA se choisit pour ses angles morts.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Idéalement, avoir un exemple généré de chacun des quatre mouvements. Si vous n'en avez que deux, prenez le travelling avant et le survol.
Utiliser leur vocabulaire de cinéma, pas les termes anglais des interfaces — ils comprennent mieux et retiennent mieux.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Les temps de génération sont longs : profitez de l'attente pour parler des usages plutôt que de laisser le silence s'installer.
Plan de repli : si la génération échoue ou si les crédits sont épuisés, passez aux clips préparés et transformez l'atelier en analyse commentée. Le contenu passe quand même.
Le point d'atterrissage est le dernier bloc, trois minutes sur les usages. Ne pas le sacrifier : c'est ce qui transforme une démonstration technique en décision d'agence.
À 02:15, on bascule sur l'agent même si un clip est encore en cours de génération.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minutes. Objectif E et livrable numéro 3 du programme — le plus différenciant : les deux premiers modules, ils pourraient les trouver ailleurs. Celui-ci, 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dont trois de démonstration Claude — le seul passage de la session sur Claude, à cadrer serré.
Ce qu'il faut montrer, et rien de plus : un Project, un PDF de programme déposé, deux questions précises (« quelles surfaces imposées par lot ? », « qu'est-ce que le règlement interdit explicitement ? »), deux réponses sourcées avec les pages. L'écart avec ChatGPT sur ce cas est visible immédiatement.
Ne pas ouvrir de débat comparatif entre modèles. La règle « l'image chez ChatGPT, le document chez Claude » est suffisante et opérationnelle.
Si le budget les inquiète : Claude est optionnel, on peut tout faire dans ChatGPT, moins bien sur les documents longs. Le dire honnêtement.
Le mot à employer : « former un collaborateur », pas « configurer un outil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Ne pas la lire — l'utiliser comme canevas pendant la construction de la slide suivante.
Le bloc 3, ton et interdits, est celui qui les amuse le plus et produit l'effet le plus immédiat. Leur faire dire à voix haute les mots qu'ils détestent : la liste sort toute seule, très personnelle à chaque agence.
Cette slide est un livrable : ils la recopient telle quelle pour créer leurs autres agents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Vous tenez le clavier pour l'étape 2, ils tiennent le leur pour les étapes 3 à 5.
Le test de l'étape 4 doit porter sur un cas RÉEL et en cours, pas sur un exemple. C'est ce qui déclenche la conviction.
Si le résultat du test est décevant, c'est une bonne nouvelle : l'étape 5 devient concrète et ils apprennent à corriger un agent — la vraie compétence.
À 02:50, on arrête, même si l'agent n'est pas parfait. Ils le finiront eux-mêmes.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serrées. Si vous êtes en retard, c'est ici que vous compressez — mais ne supprimez jamais le plan 30 jours. Sans lui, la formation reste une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 Les montants sont indicatifs — les vérifier le matin même.
La comparaison qui parle : une image de perspectiviste se situe entre 400 et 1500 €. Le budget annuel des trois outils représente moins d'une image.
Ne pas survendre : Claude est optionnel, Seedance peut se prendre à la carte. Une agence de deux personnes qui démarre peut tenir avec deux comptes ChatGPT Plus.
La semaine 1 est la seule qui compte vraiment : si la pratique quotidienne ne s'installe pas dans les sept premiers jours, tout le reste tombe.
La semaine 3 est le test de vérité : tant qu'ils n'ont pas montré une image IA à un vrai client, la formation n'a rien changé.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Reprendre les quatre livrables un par un et vérifier à voix haute qu'ils les ont vraiment : le fichier de prompts est-il ouvert ? L'agent tourne-t-il ? Si non, prendre deux minutes de plus.
Dernière question à leur poser, et attendre la réponse : « qu'est-ce que vous faites demain matin avec ça ? » La réponse vous dit si la session a fonctionné.
Envoyer dans les 24 h : le fichier de prompts consolidé, cette présentation en PDF, la grille d'itération.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préparation, jamais projetée. À relire le dimanche soir.
Les cinq moments de surveillance sont ceux où une session de trois heures se joue : les quatre premiers sont des arbitrages de temps, le cinquième est un arbitrage de valeur.
Les trois préparations de la veille prennent environ une heure. C'est la meilleure heure investie sur cette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à envoyer en PDF après la session, et à copier dans leur fichier de prompts pendant la session.
Les trois prompts vidéo respectent la règle d'or : caméra et sujet dans des phrases séparées. Leur faire remarquer la longueur — entre 50 et 70 mots, la zone où le modèle est le plus fiable.
Le prompt « esquisse vers maquette blanche » est celui qui surprend le plus favorablement les architectes : il correspond à un geste qu'ils connaissent déjà et qu'ils font à la main.
Le survol précise « aucun personnage en mouvement » : c'est le garde-fou contre le piège du staffage animé.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138160" y="365760"/>
            <a:ext cx="3840480" cy="5852160"/>
          </a:xfrm>
          <a:prstGeom prst="rect">
            <a:avLst/>
          </a:prstGeom>
          <a:noFill/>
          <a:ln/>
        </p:spPr>
        <p:txBody>
          <a:bodyPr wrap="square" lIns="0" tIns="0" rIns="0" bIns="0" rtlCol="0" anchor="ctr"/>
          <a:lstStyle/>
          <a:p>
            <a:pPr algn="ctr" indent="0" marL="0">
              <a:buNone/>
            </a:pPr>
            <a:r>
              <a:rPr lang="en-US" sz="34000" b="1" dirty="0">
                <a:solidFill>
                  <a:srgbClr val="1E242A"/>
                </a:solidFill>
                <a:latin typeface="Cambria" pitchFamily="34" charset="0"/>
                <a:ea typeface="Cambria" pitchFamily="34" charset="-122"/>
                <a:cs typeface="Cambria" pitchFamily="34" charset="-120"/>
              </a:rPr>
              <a:t>A</a:t>
            </a:r>
            <a:endParaRPr lang="en-US" sz="34000" dirty="0"/>
          </a:p>
        </p:txBody>
      </p:sp>
      <p:sp>
        <p:nvSpPr>
          <p:cNvPr id="3" name="Text 1"/>
          <p:cNvSpPr txBox="1"/>
          <p:nvPr/>
        </p:nvSpPr>
        <p:spPr>
          <a:xfrm>
            <a:off x="566928" y="1234440"/>
            <a:ext cx="7498080" cy="274320"/>
          </a:xfrm>
          <a:prstGeom prst="rect">
            <a:avLst/>
          </a:prstGeom>
          <a:noFill/>
          <a:ln/>
        </p:spPr>
        <p:txBody>
          <a:bodyPr wrap="square" lIns="0" tIns="0" rIns="0" bIns="0" rtlCol="0" anchor="ctr"/>
          <a:lstStyle/>
          <a:p>
            <a:pPr indent="0" marL="0">
              <a:buNone/>
            </a:pPr>
            <a:r>
              <a:rPr lang="en-US" sz="1150" b="1" spc="180" kern="0" dirty="0">
                <a:solidFill>
                  <a:srgbClr val="C0542A"/>
                </a:solidFill>
                <a:latin typeface="Calibri" pitchFamily="34" charset="0"/>
                <a:ea typeface="Calibri" pitchFamily="34" charset="-122"/>
                <a:cs typeface="Calibri" pitchFamily="34" charset="-120"/>
              </a:rPr>
              <a:t>FORMATION · ARCHITECTES &amp; MAÎTRISE D'ŒUVRE</a:t>
            </a:r>
            <a:endParaRPr lang="en-US" sz="1150" dirty="0"/>
          </a:p>
        </p:txBody>
      </p:sp>
      <p:sp>
        <p:nvSpPr>
          <p:cNvPr id="4" name="Text 2"/>
          <p:cNvSpPr txBox="1"/>
          <p:nvPr/>
        </p:nvSpPr>
        <p:spPr>
          <a:xfrm>
            <a:off x="566928" y="1691640"/>
            <a:ext cx="7680960" cy="2103120"/>
          </a:xfrm>
          <a:prstGeom prst="rect">
            <a:avLst/>
          </a:prstGeom>
          <a:noFill/>
          <a:ln/>
        </p:spPr>
        <p:txBody>
          <a:bodyPr wrap="square" lIns="0" tIns="0" rIns="0" bIns="0" rtlCol="0" anchor="ctr"/>
          <a:lstStyle/>
          <a:p>
            <a:pPr indent="0" marL="0">
              <a:lnSpc>
                <a:spcPct val="105000"/>
              </a:lnSpc>
              <a:buNone/>
            </a:pPr>
            <a:r>
              <a:rPr lang="en-US" sz="5000" b="1" dirty="0">
                <a:solidFill>
                  <a:srgbClr val="FFFFFF"/>
                </a:solidFill>
                <a:latin typeface="Cambria" pitchFamily="34" charset="0"/>
                <a:ea typeface="Cambria" pitchFamily="34" charset="-122"/>
                <a:cs typeface="Cambria" pitchFamily="34" charset="-120"/>
              </a:rPr>
              <a:t>L'IA au service</a:t>
            </a:r>
            <a:endParaRPr lang="en-US" sz="5000" dirty="0"/>
          </a:p>
          <a:p>
            <a:pPr indent="0" marL="0">
              <a:lnSpc>
                <a:spcPct val="105000"/>
              </a:lnSpc>
              <a:buNone/>
            </a:pPr>
            <a:r>
              <a:rPr lang="en-US" sz="5000" b="1" dirty="0">
                <a:solidFill>
                  <a:srgbClr val="FFFFFF"/>
                </a:solidFill>
                <a:latin typeface="Cambria" pitchFamily="34" charset="0"/>
                <a:ea typeface="Cambria" pitchFamily="34" charset="-122"/>
                <a:cs typeface="Cambria" pitchFamily="34" charset="-120"/>
              </a:rPr>
              <a:t>du projet architectural</a:t>
            </a:r>
            <a:endParaRPr lang="en-US" sz="5000" dirty="0"/>
          </a:p>
        </p:txBody>
      </p:sp>
      <p:sp>
        <p:nvSpPr>
          <p:cNvPr id="5" name="Text 3"/>
          <p:cNvSpPr txBox="1"/>
          <p:nvPr/>
        </p:nvSpPr>
        <p:spPr>
          <a:xfrm>
            <a:off x="566928" y="3886200"/>
            <a:ext cx="7498080" cy="365760"/>
          </a:xfrm>
          <a:prstGeom prst="rect">
            <a:avLst/>
          </a:prstGeom>
          <a:noFill/>
          <a:ln/>
        </p:spPr>
        <p:txBody>
          <a:bodyPr wrap="square" lIns="0" tIns="0" rIns="0" bIns="0" rtlCol="0" anchor="ctr"/>
          <a:lstStyle/>
          <a:p>
            <a:pPr indent="0" marL="0">
              <a:buNone/>
            </a:pPr>
            <a:r>
              <a:rPr lang="en-US" sz="1600" i="1" dirty="0">
                <a:solidFill>
                  <a:srgbClr val="9AA6AC"/>
                </a:solidFill>
                <a:latin typeface="Calibri" pitchFamily="34" charset="0"/>
                <a:ea typeface="Calibri" pitchFamily="34" charset="-122"/>
                <a:cs typeface="Calibri" pitchFamily="34" charset="-120"/>
              </a:rPr>
              <a:t>Conducteur de session — support animateur</a:t>
            </a:r>
            <a:endParaRPr lang="en-US" sz="1600" dirty="0"/>
          </a:p>
        </p:txBody>
      </p:sp>
      <p:sp>
        <p:nvSpPr>
          <p:cNvPr id="6" name="Text 4"/>
          <p:cNvSpPr txBox="1"/>
          <p:nvPr/>
        </p:nvSpPr>
        <p:spPr>
          <a:xfrm>
            <a:off x="566928" y="4709160"/>
            <a:ext cx="237744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3 h 00</a:t>
            </a:r>
            <a:endParaRPr lang="en-US" sz="3000" dirty="0"/>
          </a:p>
        </p:txBody>
      </p:sp>
      <p:sp>
        <p:nvSpPr>
          <p:cNvPr id="7" name="Text 5"/>
          <p:cNvSpPr txBox="1"/>
          <p:nvPr/>
        </p:nvSpPr>
        <p:spPr>
          <a:xfrm>
            <a:off x="566928" y="5285232"/>
            <a:ext cx="2377440" cy="548640"/>
          </a:xfrm>
          <a:prstGeom prst="rect">
            <a:avLst/>
          </a:prstGeom>
          <a:noFill/>
          <a:ln/>
        </p:spPr>
        <p:txBody>
          <a:bodyPr wrap="square" lIns="0" tIns="0" rIns="0" bIns="0" rtlCol="0" anchor="ctr"/>
          <a:lstStyle/>
          <a:p>
            <a:pPr indent="0" marL="0">
              <a:buNone/>
            </a:pPr>
            <a:r>
              <a:rPr lang="en-US" sz="1100" dirty="0">
                <a:solidFill>
                  <a:srgbClr val="9AA6AC"/>
                </a:solidFill>
                <a:latin typeface="Calibri" pitchFamily="34" charset="0"/>
                <a:ea typeface="Calibri" pitchFamily="34" charset="-122"/>
                <a:cs typeface="Calibri" pitchFamily="34" charset="-120"/>
              </a:rPr>
              <a:t>180 minutes, sans temps mort</a:t>
            </a:r>
            <a:endParaRPr lang="en-US" sz="1100" dirty="0"/>
          </a:p>
        </p:txBody>
      </p:sp>
      <p:sp>
        <p:nvSpPr>
          <p:cNvPr id="8" name="Text 6"/>
          <p:cNvSpPr txBox="1"/>
          <p:nvPr/>
        </p:nvSpPr>
        <p:spPr>
          <a:xfrm>
            <a:off x="3081528" y="4709160"/>
            <a:ext cx="237744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9" name="Text 7"/>
          <p:cNvSpPr txBox="1"/>
          <p:nvPr/>
        </p:nvSpPr>
        <p:spPr>
          <a:xfrm>
            <a:off x="3081528" y="5285232"/>
            <a:ext cx="2377440" cy="548640"/>
          </a:xfrm>
          <a:prstGeom prst="rect">
            <a:avLst/>
          </a:prstGeom>
          <a:noFill/>
          <a:ln/>
        </p:spPr>
        <p:txBody>
          <a:bodyPr wrap="square" lIns="0" tIns="0" rIns="0" bIns="0" rtlCol="0" anchor="ctr"/>
          <a:lstStyle/>
          <a:p>
            <a:pPr indent="0" marL="0">
              <a:buNone/>
            </a:pPr>
            <a:r>
              <a:rPr lang="en-US" sz="1100" dirty="0">
                <a:solidFill>
                  <a:srgbClr val="9AA6AC"/>
                </a:solidFill>
                <a:latin typeface="Calibri" pitchFamily="34" charset="0"/>
                <a:ea typeface="Calibri" pitchFamily="34" charset="-122"/>
                <a:cs typeface="Calibri" pitchFamily="34" charset="-120"/>
              </a:rPr>
              <a:t>participants maximum</a:t>
            </a:r>
            <a:endParaRPr lang="en-US" sz="1100" dirty="0"/>
          </a:p>
        </p:txBody>
      </p:sp>
      <p:sp>
        <p:nvSpPr>
          <p:cNvPr id="10" name="Text 8"/>
          <p:cNvSpPr txBox="1"/>
          <p:nvPr/>
        </p:nvSpPr>
        <p:spPr>
          <a:xfrm>
            <a:off x="5596128" y="4709160"/>
            <a:ext cx="237744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11" name="Text 9"/>
          <p:cNvSpPr txBox="1"/>
          <p:nvPr/>
        </p:nvSpPr>
        <p:spPr>
          <a:xfrm>
            <a:off x="5596128" y="5285232"/>
            <a:ext cx="2377440" cy="548640"/>
          </a:xfrm>
          <a:prstGeom prst="rect">
            <a:avLst/>
          </a:prstGeom>
          <a:noFill/>
          <a:ln/>
        </p:spPr>
        <p:txBody>
          <a:bodyPr wrap="square" lIns="0" tIns="0" rIns="0" bIns="0" rtlCol="0" anchor="ctr"/>
          <a:lstStyle/>
          <a:p>
            <a:pPr indent="0" marL="0">
              <a:buNone/>
            </a:pPr>
            <a:r>
              <a:rPr lang="en-US" sz="1100" dirty="0">
                <a:solidFill>
                  <a:srgbClr val="9AA6AC"/>
                </a:solidFill>
                <a:latin typeface="Calibri" pitchFamily="34" charset="0"/>
                <a:ea typeface="Calibri" pitchFamily="34" charset="-122"/>
                <a:cs typeface="Calibri" pitchFamily="34" charset="-120"/>
              </a:rPr>
              <a:t>outils : ChatGPT · Seedance 2.0 · Claude</a:t>
            </a:r>
            <a:endParaRPr lang="en-US" sz="1100" dirty="0"/>
          </a:p>
        </p:txBody>
      </p:sp>
      <p:sp>
        <p:nvSpPr>
          <p:cNvPr id="12" name="Text 10"/>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9AA6AC"/>
                </a:solidFill>
                <a:latin typeface="Calibri" pitchFamily="34" charset="0"/>
                <a:ea typeface="Calibri" pitchFamily="34" charset="-122"/>
                <a:cs typeface="Calibri" pitchFamily="34" charset="-120"/>
              </a:rPr>
              <a:t>L'IA au service du projet architectural</a:t>
            </a:r>
            <a:endParaRPr lang="en-US" sz="900" dirty="0"/>
          </a:p>
        </p:txBody>
      </p:sp>
      <p:sp>
        <p:nvSpPr>
          <p:cNvPr id="13" name="Text 11"/>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9AA6AC"/>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VUE D'ENSEMBLE</a:t>
            </a:r>
            <a:endParaRPr lang="en-US" sz="1050" dirty="0"/>
          </a:p>
        </p:txBody>
      </p:sp>
      <p:sp>
        <p:nvSpPr>
          <p:cNvPr id="3" name="Text 1"/>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Le fil de la session</a:t>
            </a:r>
            <a:endParaRPr lang="en-US" sz="2900" dirty="0"/>
          </a:p>
        </p:txBody>
      </p:sp>
      <p:sp>
        <p:nvSpPr>
          <p:cNvPr id="4" name="Text 2"/>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5" name="Text 3"/>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66928" y="1389888"/>
            <a:ext cx="11057839" cy="548640"/>
          </a:xfrm>
          <a:prstGeom prst="roundRect">
            <a:avLst>
              <a:gd name="adj" fmla="val 13333"/>
            </a:avLst>
          </a:prstGeom>
          <a:solidFill>
            <a:srgbClr val="EFF1F2"/>
          </a:solidFill>
          <a:ln/>
        </p:spPr>
      </p:sp>
      <p:sp>
        <p:nvSpPr>
          <p:cNvPr id="7" name="Text 5"/>
          <p:cNvSpPr txBox="1"/>
          <p:nvPr/>
        </p:nvSpPr>
        <p:spPr>
          <a:xfrm>
            <a:off x="822960" y="1389888"/>
            <a:ext cx="1691640" cy="548640"/>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00:00   ·   15 min</a:t>
            </a:r>
            <a:endParaRPr lang="en-US" sz="1150" dirty="0"/>
          </a:p>
        </p:txBody>
      </p:sp>
      <p:sp>
        <p:nvSpPr>
          <p:cNvPr id="8" name="Text 6"/>
          <p:cNvSpPr txBox="1"/>
          <p:nvPr/>
        </p:nvSpPr>
        <p:spPr>
          <a:xfrm>
            <a:off x="2578608" y="1444752"/>
            <a:ext cx="3017520" cy="237744"/>
          </a:xfrm>
          <a:prstGeom prst="rect">
            <a:avLst/>
          </a:prstGeom>
          <a:noFill/>
          <a:ln/>
        </p:spPr>
        <p:txBody>
          <a:bodyPr wrap="square" lIns="0" tIns="0" rIns="0" bIns="0" rtlCol="0" anchor="t"/>
          <a:lstStyle/>
          <a:p>
            <a:pPr indent="0" marL="0">
              <a:buNone/>
            </a:pPr>
            <a:r>
              <a:rPr lang="en-US" sz="1200" b="1" spc="60" kern="0" dirty="0">
                <a:solidFill>
                  <a:srgbClr val="C0542A"/>
                </a:solidFill>
                <a:latin typeface="Calibri" pitchFamily="34" charset="0"/>
                <a:ea typeface="Calibri" pitchFamily="34" charset="-122"/>
                <a:cs typeface="Calibri" pitchFamily="34" charset="-120"/>
              </a:rPr>
              <a:t>CADRAGE</a:t>
            </a:r>
            <a:endParaRPr lang="en-US" sz="1200" dirty="0"/>
          </a:p>
        </p:txBody>
      </p:sp>
      <p:sp>
        <p:nvSpPr>
          <p:cNvPr id="9" name="Text 7"/>
          <p:cNvSpPr txBox="1"/>
          <p:nvPr/>
        </p:nvSpPr>
        <p:spPr>
          <a:xfrm>
            <a:off x="2578608" y="1673352"/>
            <a:ext cx="8771839" cy="237744"/>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Le paysage réel des outils · droits, confidentialité, ce qu'on ne met jamais dans une IA</a:t>
            </a:r>
            <a:endParaRPr lang="en-US" sz="1100" dirty="0"/>
          </a:p>
        </p:txBody>
      </p:sp>
      <p:sp>
        <p:nvSpPr>
          <p:cNvPr id="10" name="Shape 8"/>
          <p:cNvSpPr/>
          <p:nvPr/>
        </p:nvSpPr>
        <p:spPr>
          <a:xfrm>
            <a:off x="566928" y="1993392"/>
            <a:ext cx="11057839" cy="548640"/>
          </a:xfrm>
          <a:prstGeom prst="roundRect">
            <a:avLst>
              <a:gd name="adj" fmla="val 13333"/>
            </a:avLst>
          </a:prstGeom>
          <a:solidFill>
            <a:srgbClr val="EFF1F2"/>
          </a:solidFill>
          <a:ln/>
        </p:spPr>
      </p:sp>
      <p:sp>
        <p:nvSpPr>
          <p:cNvPr id="11" name="Text 9"/>
          <p:cNvSpPr txBox="1"/>
          <p:nvPr/>
        </p:nvSpPr>
        <p:spPr>
          <a:xfrm>
            <a:off x="822960" y="1993392"/>
            <a:ext cx="1691640" cy="548640"/>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00:15   ·   30 min</a:t>
            </a:r>
            <a:endParaRPr lang="en-US" sz="1150" dirty="0"/>
          </a:p>
        </p:txBody>
      </p:sp>
      <p:sp>
        <p:nvSpPr>
          <p:cNvPr id="12" name="Text 10"/>
          <p:cNvSpPr txBox="1"/>
          <p:nvPr/>
        </p:nvSpPr>
        <p:spPr>
          <a:xfrm>
            <a:off x="2578608" y="2048256"/>
            <a:ext cx="3017520" cy="237744"/>
          </a:xfrm>
          <a:prstGeom prst="rect">
            <a:avLst/>
          </a:prstGeom>
          <a:noFill/>
          <a:ln/>
        </p:spPr>
        <p:txBody>
          <a:bodyPr wrap="square" lIns="0" tIns="0" rIns="0" bIns="0" rtlCol="0" anchor="t"/>
          <a:lstStyle/>
          <a:p>
            <a:pPr indent="0" marL="0">
              <a:buNone/>
            </a:pPr>
            <a:r>
              <a:rPr lang="en-US" sz="1200" b="1" spc="60" kern="0" dirty="0">
                <a:solidFill>
                  <a:srgbClr val="C0542A"/>
                </a:solidFill>
                <a:latin typeface="Calibri" pitchFamily="34" charset="0"/>
                <a:ea typeface="Calibri" pitchFamily="34" charset="-122"/>
                <a:cs typeface="Calibri" pitchFamily="34" charset="-120"/>
              </a:rPr>
              <a:t>LE PROMPT, VRAIMENT</a:t>
            </a:r>
            <a:endParaRPr lang="en-US" sz="1200" dirty="0"/>
          </a:p>
        </p:txBody>
      </p:sp>
      <p:sp>
        <p:nvSpPr>
          <p:cNvPr id="13" name="Text 11"/>
          <p:cNvSpPr txBox="1"/>
          <p:nvPr/>
        </p:nvSpPr>
        <p:spPr>
          <a:xfrm>
            <a:off x="2578608" y="2276856"/>
            <a:ext cx="8771839" cy="237744"/>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La structure · le vocabulaire archi et photo · les mots inutiles · exercice comparatif</a:t>
            </a:r>
            <a:endParaRPr lang="en-US" sz="1100" dirty="0"/>
          </a:p>
        </p:txBody>
      </p:sp>
      <p:sp>
        <p:nvSpPr>
          <p:cNvPr id="14" name="Shape 12"/>
          <p:cNvSpPr/>
          <p:nvPr/>
        </p:nvSpPr>
        <p:spPr>
          <a:xfrm>
            <a:off x="566928" y="2596896"/>
            <a:ext cx="11057839" cy="548640"/>
          </a:xfrm>
          <a:prstGeom prst="roundRect">
            <a:avLst>
              <a:gd name="adj" fmla="val 13333"/>
            </a:avLst>
          </a:prstGeom>
          <a:solidFill>
            <a:srgbClr val="EFF1F2"/>
          </a:solidFill>
          <a:ln/>
        </p:spPr>
      </p:sp>
      <p:sp>
        <p:nvSpPr>
          <p:cNvPr id="15" name="Text 13"/>
          <p:cNvSpPr txBox="1"/>
          <p:nvPr/>
        </p:nvSpPr>
        <p:spPr>
          <a:xfrm>
            <a:off x="822960" y="2596896"/>
            <a:ext cx="1691640" cy="548640"/>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00:45   ·   45 min</a:t>
            </a:r>
            <a:endParaRPr lang="en-US" sz="1150" dirty="0"/>
          </a:p>
        </p:txBody>
      </p:sp>
      <p:sp>
        <p:nvSpPr>
          <p:cNvPr id="16" name="Text 14"/>
          <p:cNvSpPr txBox="1"/>
          <p:nvPr/>
        </p:nvSpPr>
        <p:spPr>
          <a:xfrm>
            <a:off x="2578608" y="2651760"/>
            <a:ext cx="3017520" cy="237744"/>
          </a:xfrm>
          <a:prstGeom prst="rect">
            <a:avLst/>
          </a:prstGeom>
          <a:noFill/>
          <a:ln/>
        </p:spPr>
        <p:txBody>
          <a:bodyPr wrap="square" lIns="0" tIns="0" rIns="0" bIns="0" rtlCol="0" anchor="t"/>
          <a:lstStyle/>
          <a:p>
            <a:pPr indent="0" marL="0">
              <a:buNone/>
            </a:pPr>
            <a:r>
              <a:rPr lang="en-US" sz="1200" b="1" spc="60" kern="0" dirty="0">
                <a:solidFill>
                  <a:srgbClr val="C0542A"/>
                </a:solidFill>
                <a:latin typeface="Calibri" pitchFamily="34" charset="0"/>
                <a:ea typeface="Calibri" pitchFamily="34" charset="-122"/>
                <a:cs typeface="Calibri" pitchFamily="34" charset="-120"/>
              </a:rPr>
              <a:t>L'IMAGE PHOTORÉALISTE</a:t>
            </a:r>
            <a:endParaRPr lang="en-US" sz="1200" dirty="0"/>
          </a:p>
        </p:txBody>
      </p:sp>
      <p:sp>
        <p:nvSpPr>
          <p:cNvPr id="17" name="Text 15"/>
          <p:cNvSpPr txBox="1"/>
          <p:nvPr/>
        </p:nvSpPr>
        <p:spPr>
          <a:xfrm>
            <a:off x="2578608" y="2880360"/>
            <a:ext cx="8771839" cy="237744"/>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Esquisse et capture 3D vers le rendu · reprendre une image à 80 % pour aller à 100 %</a:t>
            </a:r>
            <a:endParaRPr lang="en-US" sz="1100" dirty="0"/>
          </a:p>
        </p:txBody>
      </p:sp>
      <p:sp>
        <p:nvSpPr>
          <p:cNvPr id="18" name="Shape 16"/>
          <p:cNvSpPr/>
          <p:nvPr/>
        </p:nvSpPr>
        <p:spPr>
          <a:xfrm>
            <a:off x="566928" y="3200400"/>
            <a:ext cx="11057839" cy="365760"/>
          </a:xfrm>
          <a:prstGeom prst="roundRect">
            <a:avLst>
              <a:gd name="adj" fmla="val 20000"/>
            </a:avLst>
          </a:prstGeom>
          <a:solidFill>
            <a:srgbClr val="E3E7E9"/>
          </a:solidFill>
          <a:ln/>
        </p:spPr>
      </p:sp>
      <p:sp>
        <p:nvSpPr>
          <p:cNvPr id="19" name="Text 17"/>
          <p:cNvSpPr txBox="1"/>
          <p:nvPr/>
        </p:nvSpPr>
        <p:spPr>
          <a:xfrm>
            <a:off x="822960" y="3200400"/>
            <a:ext cx="1691640" cy="365760"/>
          </a:xfrm>
          <a:prstGeom prst="rect">
            <a:avLst/>
          </a:prstGeom>
          <a:noFill/>
          <a:ln/>
        </p:spPr>
        <p:txBody>
          <a:bodyPr wrap="square" lIns="0" tIns="0" rIns="0" bIns="0" rtlCol="0" anchor="ctr"/>
          <a:lstStyle/>
          <a:p>
            <a:pPr indent="0" marL="0">
              <a:buNone/>
            </a:pPr>
            <a:r>
              <a:rPr lang="en-US" sz="1150" b="1" dirty="0">
                <a:solidFill>
                  <a:srgbClr val="78868D"/>
                </a:solidFill>
                <a:latin typeface="Calibri" pitchFamily="34" charset="0"/>
                <a:ea typeface="Calibri" pitchFamily="34" charset="-122"/>
                <a:cs typeface="Calibri" pitchFamily="34" charset="-120"/>
              </a:rPr>
              <a:t>01:30   ·   10 min</a:t>
            </a:r>
            <a:endParaRPr lang="en-US" sz="1150" dirty="0"/>
          </a:p>
        </p:txBody>
      </p:sp>
      <p:sp>
        <p:nvSpPr>
          <p:cNvPr id="20" name="Text 18"/>
          <p:cNvSpPr txBox="1"/>
          <p:nvPr/>
        </p:nvSpPr>
        <p:spPr>
          <a:xfrm>
            <a:off x="2578608" y="3200400"/>
            <a:ext cx="3017520" cy="365760"/>
          </a:xfrm>
          <a:prstGeom prst="rect">
            <a:avLst/>
          </a:prstGeom>
          <a:noFill/>
          <a:ln/>
        </p:spPr>
        <p:txBody>
          <a:bodyPr wrap="square" lIns="0" tIns="0" rIns="0" bIns="0" rtlCol="0" anchor="ctr"/>
          <a:lstStyle/>
          <a:p>
            <a:pPr indent="0" marL="0">
              <a:buNone/>
            </a:pPr>
            <a:r>
              <a:rPr lang="en-US" sz="1200" b="1" spc="60" kern="0" dirty="0">
                <a:solidFill>
                  <a:srgbClr val="78868D"/>
                </a:solidFill>
                <a:latin typeface="Calibri" pitchFamily="34" charset="0"/>
                <a:ea typeface="Calibri" pitchFamily="34" charset="-122"/>
                <a:cs typeface="Calibri" pitchFamily="34" charset="-120"/>
              </a:rPr>
              <a:t>PAUSE</a:t>
            </a:r>
            <a:endParaRPr lang="en-US" sz="1200" dirty="0"/>
          </a:p>
        </p:txBody>
      </p:sp>
      <p:sp>
        <p:nvSpPr>
          <p:cNvPr id="21" name="Shape 19"/>
          <p:cNvSpPr/>
          <p:nvPr/>
        </p:nvSpPr>
        <p:spPr>
          <a:xfrm>
            <a:off x="566928" y="3621024"/>
            <a:ext cx="11057839" cy="548640"/>
          </a:xfrm>
          <a:prstGeom prst="roundRect">
            <a:avLst>
              <a:gd name="adj" fmla="val 13333"/>
            </a:avLst>
          </a:prstGeom>
          <a:solidFill>
            <a:srgbClr val="EFF1F2"/>
          </a:solidFill>
          <a:ln/>
        </p:spPr>
      </p:sp>
      <p:sp>
        <p:nvSpPr>
          <p:cNvPr id="22" name="Text 20"/>
          <p:cNvSpPr txBox="1"/>
          <p:nvPr/>
        </p:nvSpPr>
        <p:spPr>
          <a:xfrm>
            <a:off x="822960" y="3621024"/>
            <a:ext cx="1691640" cy="548640"/>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01:40   ·   35 min</a:t>
            </a:r>
            <a:endParaRPr lang="en-US" sz="1150" dirty="0"/>
          </a:p>
        </p:txBody>
      </p:sp>
      <p:sp>
        <p:nvSpPr>
          <p:cNvPr id="23" name="Text 21"/>
          <p:cNvSpPr txBox="1"/>
          <p:nvPr/>
        </p:nvSpPr>
        <p:spPr>
          <a:xfrm>
            <a:off x="2578608" y="3675888"/>
            <a:ext cx="3017520" cy="237744"/>
          </a:xfrm>
          <a:prstGeom prst="rect">
            <a:avLst/>
          </a:prstGeom>
          <a:noFill/>
          <a:ln/>
        </p:spPr>
        <p:txBody>
          <a:bodyPr wrap="square" lIns="0" tIns="0" rIns="0" bIns="0" rtlCol="0" anchor="t"/>
          <a:lstStyle/>
          <a:p>
            <a:pPr indent="0" marL="0">
              <a:buNone/>
            </a:pPr>
            <a:r>
              <a:rPr lang="en-US" sz="1200" b="1" spc="60" kern="0" dirty="0">
                <a:solidFill>
                  <a:srgbClr val="C0542A"/>
                </a:solidFill>
                <a:latin typeface="Calibri" pitchFamily="34" charset="0"/>
                <a:ea typeface="Calibri" pitchFamily="34" charset="-122"/>
                <a:cs typeface="Calibri" pitchFamily="34" charset="-120"/>
              </a:rPr>
              <a:t>LA VIDÉO COURTE</a:t>
            </a:r>
            <a:endParaRPr lang="en-US" sz="1200" dirty="0"/>
          </a:p>
        </p:txBody>
      </p:sp>
      <p:sp>
        <p:nvSpPr>
          <p:cNvPr id="24" name="Text 22"/>
          <p:cNvSpPr txBox="1"/>
          <p:nvPr/>
        </p:nvSpPr>
        <p:spPr>
          <a:xfrm>
            <a:off x="2578608" y="3904488"/>
            <a:ext cx="8771839" cy="237744"/>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Seedance 2.0 · travelling, panoramique, révélation, survol · les règles du prompt vidéo</a:t>
            </a:r>
            <a:endParaRPr lang="en-US" sz="1100" dirty="0"/>
          </a:p>
        </p:txBody>
      </p:sp>
      <p:sp>
        <p:nvSpPr>
          <p:cNvPr id="25" name="Shape 23"/>
          <p:cNvSpPr/>
          <p:nvPr/>
        </p:nvSpPr>
        <p:spPr>
          <a:xfrm>
            <a:off x="566928" y="4224528"/>
            <a:ext cx="11057839" cy="548640"/>
          </a:xfrm>
          <a:prstGeom prst="roundRect">
            <a:avLst>
              <a:gd name="adj" fmla="val 13333"/>
            </a:avLst>
          </a:prstGeom>
          <a:solidFill>
            <a:srgbClr val="EFF1F2"/>
          </a:solidFill>
          <a:ln/>
        </p:spPr>
      </p:sp>
      <p:sp>
        <p:nvSpPr>
          <p:cNvPr id="26" name="Text 24"/>
          <p:cNvSpPr txBox="1"/>
          <p:nvPr/>
        </p:nvSpPr>
        <p:spPr>
          <a:xfrm>
            <a:off x="822960" y="4224528"/>
            <a:ext cx="1691640" cy="548640"/>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02:15   ·   35 min</a:t>
            </a:r>
            <a:endParaRPr lang="en-US" sz="1150" dirty="0"/>
          </a:p>
        </p:txBody>
      </p:sp>
      <p:sp>
        <p:nvSpPr>
          <p:cNvPr id="27" name="Text 25"/>
          <p:cNvSpPr txBox="1"/>
          <p:nvPr/>
        </p:nvSpPr>
        <p:spPr>
          <a:xfrm>
            <a:off x="2578608" y="4279392"/>
            <a:ext cx="3017520" cy="237744"/>
          </a:xfrm>
          <a:prstGeom prst="rect">
            <a:avLst/>
          </a:prstGeom>
          <a:noFill/>
          <a:ln/>
        </p:spPr>
        <p:txBody>
          <a:bodyPr wrap="square" lIns="0" tIns="0" rIns="0" bIns="0" rtlCol="0" anchor="t"/>
          <a:lstStyle/>
          <a:p>
            <a:pPr indent="0" marL="0">
              <a:buNone/>
            </a:pPr>
            <a:r>
              <a:rPr lang="en-US" sz="1200" b="1" spc="60" kern="0" dirty="0">
                <a:solidFill>
                  <a:srgbClr val="C0542A"/>
                </a:solidFill>
                <a:latin typeface="Calibri" pitchFamily="34" charset="0"/>
                <a:ea typeface="Calibri" pitchFamily="34" charset="-122"/>
                <a:cs typeface="Calibri" pitchFamily="34" charset="-120"/>
              </a:rPr>
              <a:t>CRÉER SON AGENT</a:t>
            </a:r>
            <a:endParaRPr lang="en-US" sz="1200" dirty="0"/>
          </a:p>
        </p:txBody>
      </p:sp>
      <p:sp>
        <p:nvSpPr>
          <p:cNvPr id="28" name="Text 26"/>
          <p:cNvSpPr txBox="1"/>
          <p:nvPr/>
        </p:nvSpPr>
        <p:spPr>
          <a:xfrm>
            <a:off x="2578608" y="4507992"/>
            <a:ext cx="8771839" cy="237744"/>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Le vrai basculement · construit en direct sur un cas d'agence</a:t>
            </a:r>
            <a:endParaRPr lang="en-US" sz="1100" dirty="0"/>
          </a:p>
        </p:txBody>
      </p:sp>
      <p:sp>
        <p:nvSpPr>
          <p:cNvPr id="29" name="Shape 27"/>
          <p:cNvSpPr/>
          <p:nvPr/>
        </p:nvSpPr>
        <p:spPr>
          <a:xfrm>
            <a:off x="566928" y="4828032"/>
            <a:ext cx="11057839" cy="548640"/>
          </a:xfrm>
          <a:prstGeom prst="roundRect">
            <a:avLst>
              <a:gd name="adj" fmla="val 13333"/>
            </a:avLst>
          </a:prstGeom>
          <a:solidFill>
            <a:srgbClr val="EFF1F2"/>
          </a:solidFill>
          <a:ln/>
        </p:spPr>
      </p:sp>
      <p:sp>
        <p:nvSpPr>
          <p:cNvPr id="30" name="Text 28"/>
          <p:cNvSpPr txBox="1"/>
          <p:nvPr/>
        </p:nvSpPr>
        <p:spPr>
          <a:xfrm>
            <a:off x="822960" y="4828032"/>
            <a:ext cx="1691640" cy="548640"/>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02:50   ·   10 min</a:t>
            </a:r>
            <a:endParaRPr lang="en-US" sz="1150" dirty="0"/>
          </a:p>
        </p:txBody>
      </p:sp>
      <p:sp>
        <p:nvSpPr>
          <p:cNvPr id="31" name="Text 29"/>
          <p:cNvSpPr txBox="1"/>
          <p:nvPr/>
        </p:nvSpPr>
        <p:spPr>
          <a:xfrm>
            <a:off x="2578608" y="4882896"/>
            <a:ext cx="3017520" cy="237744"/>
          </a:xfrm>
          <a:prstGeom prst="rect">
            <a:avLst/>
          </a:prstGeom>
          <a:noFill/>
          <a:ln/>
        </p:spPr>
        <p:txBody>
          <a:bodyPr wrap="square" lIns="0" tIns="0" rIns="0" bIns="0" rtlCol="0" anchor="t"/>
          <a:lstStyle/>
          <a:p>
            <a:pPr indent="0" marL="0">
              <a:buNone/>
            </a:pPr>
            <a:r>
              <a:rPr lang="en-US" sz="1200" b="1" spc="60" kern="0" dirty="0">
                <a:solidFill>
                  <a:srgbClr val="C0542A"/>
                </a:solidFill>
                <a:latin typeface="Calibri" pitchFamily="34" charset="0"/>
                <a:ea typeface="Calibri" pitchFamily="34" charset="-122"/>
                <a:cs typeface="Calibri" pitchFamily="34" charset="-120"/>
              </a:rPr>
              <a:t>PASSAGE À L'ÉCHELLE</a:t>
            </a:r>
            <a:endParaRPr lang="en-US" sz="1200" dirty="0"/>
          </a:p>
        </p:txBody>
      </p:sp>
      <p:sp>
        <p:nvSpPr>
          <p:cNvPr id="32" name="Text 30"/>
          <p:cNvSpPr txBox="1"/>
          <p:nvPr/>
        </p:nvSpPr>
        <p:spPr>
          <a:xfrm>
            <a:off x="2578608" y="5111496"/>
            <a:ext cx="8771839" cy="237744"/>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Quels outils garder, à quel budget · plan de démarrage sur 30 jours</a:t>
            </a:r>
            <a:endParaRPr lang="en-US" sz="1100" dirty="0"/>
          </a:p>
        </p:txBody>
      </p:sp>
      <p:sp>
        <p:nvSpPr>
          <p:cNvPr id="33" name="Shape 31"/>
          <p:cNvSpPr/>
          <p:nvPr/>
        </p:nvSpPr>
        <p:spPr>
          <a:xfrm>
            <a:off x="566928" y="5632704"/>
            <a:ext cx="11057839" cy="603504"/>
          </a:xfrm>
          <a:prstGeom prst="roundRect">
            <a:avLst>
              <a:gd name="adj" fmla="val 12121"/>
            </a:avLst>
          </a:prstGeom>
          <a:solidFill>
            <a:srgbClr val="F6E7E0"/>
          </a:solidFill>
          <a:ln/>
        </p:spPr>
      </p:sp>
      <p:sp>
        <p:nvSpPr>
          <p:cNvPr id="34" name="Shape 32"/>
          <p:cNvSpPr/>
          <p:nvPr/>
        </p:nvSpPr>
        <p:spPr>
          <a:xfrm>
            <a:off x="786384" y="5788152"/>
            <a:ext cx="603504" cy="292608"/>
          </a:xfrm>
          <a:prstGeom prst="roundRect">
            <a:avLst>
              <a:gd name="adj" fmla="val 21875"/>
            </a:avLst>
          </a:prstGeom>
          <a:solidFill>
            <a:srgbClr val="C0542A"/>
          </a:solidFill>
          <a:ln/>
        </p:spPr>
      </p:sp>
      <p:sp>
        <p:nvSpPr>
          <p:cNvPr id="35" name="Text 33"/>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6" name="Text 34"/>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Les deux séquences qui ne se sacrifient jamais : l'image photoréaliste et l'agent. Tout le reste peut se compresser.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À ENVOYER AVANT LA SESSION</a:t>
            </a:r>
            <a:endParaRPr lang="en-US" sz="1050" dirty="0"/>
          </a:p>
        </p:txBody>
      </p:sp>
      <p:sp>
        <p:nvSpPr>
          <p:cNvPr id="3" name="Text 1"/>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Ce qu'ils doivent avoir en arrivant</a:t>
            </a:r>
            <a:endParaRPr lang="en-US" sz="2900" dirty="0"/>
          </a:p>
        </p:txBody>
      </p:sp>
      <p:sp>
        <p:nvSpPr>
          <p:cNvPr id="4" name="Text 2"/>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5" name="Text 3"/>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66928" y="1417320"/>
            <a:ext cx="3533546" cy="4023360"/>
          </a:xfrm>
          <a:prstGeom prst="roundRect">
            <a:avLst>
              <a:gd name="adj" fmla="val 2070"/>
            </a:avLst>
          </a:prstGeom>
          <a:solidFill>
            <a:srgbClr val="EFF1F2"/>
          </a:solidFill>
          <a:ln/>
        </p:spPr>
      </p:sp>
      <p:sp>
        <p:nvSpPr>
          <p:cNvPr id="7" name="Shape 5"/>
          <p:cNvSpPr/>
          <p:nvPr/>
        </p:nvSpPr>
        <p:spPr>
          <a:xfrm>
            <a:off x="822960" y="1664208"/>
            <a:ext cx="402336" cy="402336"/>
          </a:xfrm>
          <a:prstGeom prst="ellipse">
            <a:avLst/>
          </a:prstGeom>
          <a:solidFill>
            <a:srgbClr val="44555E"/>
          </a:solidFill>
          <a:ln/>
        </p:spPr>
      </p:sp>
      <p:sp>
        <p:nvSpPr>
          <p:cNvPr id="8" name="Text 6"/>
          <p:cNvSpPr txBox="1"/>
          <p:nvPr/>
        </p:nvSpPr>
        <p:spPr>
          <a:xfrm>
            <a:off x="822960" y="16642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822960" y="2212848"/>
            <a:ext cx="3021482" cy="31089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Comptes actifs</a:t>
            </a:r>
            <a:endParaRPr lang="en-US" sz="1700" dirty="0"/>
          </a:p>
        </p:txBody>
      </p:sp>
      <p:sp>
        <p:nvSpPr>
          <p:cNvPr id="10" name="Text 8"/>
          <p:cNvSpPr txBox="1"/>
          <p:nvPr/>
        </p:nvSpPr>
        <p:spPr>
          <a:xfrm>
            <a:off x="822960" y="2615184"/>
            <a:ext cx="3021482" cy="26974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44555E"/>
                </a:solidFill>
                <a:latin typeface="Calibri" pitchFamily="34" charset="0"/>
                <a:ea typeface="Calibri" pitchFamily="34" charset="-122"/>
                <a:cs typeface="Calibri" pitchFamily="34" charset="-120"/>
              </a:rPr>
              <a:t>ChatGPT Plus — obligatoire, environ 23 €/mois. L'outil de 70 % de la session.</a:t>
            </a:r>
            <a:endParaRPr lang="en-US" sz="1150" dirty="0"/>
          </a:p>
          <a:p>
            <a:pPr marL="342900" indent="-342900">
              <a:spcAft>
                <a:spcPts val="800"/>
              </a:spcAft>
              <a:buSzPct val="100000"/>
              <a:buChar char="–"/>
            </a:pPr>
            <a:r>
              <a:rPr lang="en-US" sz="1150" dirty="0">
                <a:solidFill>
                  <a:srgbClr val="44555E"/>
                </a:solidFill>
                <a:latin typeface="Calibri" pitchFamily="34" charset="0"/>
                <a:ea typeface="Calibri" pitchFamily="34" charset="-122"/>
                <a:cs typeface="Calibri" pitchFamily="34" charset="-120"/>
              </a:rPr>
              <a:t>CapCut / Dreamina — accès à Seedance 2.0. Essai gratuit puis crédits.</a:t>
            </a:r>
            <a:endParaRPr lang="en-US" sz="1150" dirty="0"/>
          </a:p>
          <a:p>
            <a:pPr marL="342900" indent="-342900">
              <a:spcAft>
                <a:spcPts val="800"/>
              </a:spcAft>
              <a:buSzPct val="100000"/>
              <a:buChar char="–"/>
            </a:pPr>
            <a:r>
              <a:rPr lang="en-US" sz="1150" dirty="0">
                <a:solidFill>
                  <a:srgbClr val="44555E"/>
                </a:solidFill>
                <a:latin typeface="Calibri" pitchFamily="34" charset="0"/>
                <a:ea typeface="Calibri" pitchFamily="34" charset="-122"/>
                <a:cs typeface="Calibri" pitchFamily="34" charset="-120"/>
              </a:rPr>
              <a:t>Claude Pro — optionnel, environ 20 €/mois. Pour le module agent.</a:t>
            </a:r>
            <a:endParaRPr lang="en-US" sz="1150" dirty="0"/>
          </a:p>
        </p:txBody>
      </p:sp>
      <p:sp>
        <p:nvSpPr>
          <p:cNvPr id="11" name="Shape 9"/>
          <p:cNvSpPr/>
          <p:nvPr/>
        </p:nvSpPr>
        <p:spPr>
          <a:xfrm>
            <a:off x="4329074" y="1417320"/>
            <a:ext cx="3533546" cy="4023360"/>
          </a:xfrm>
          <a:prstGeom prst="roundRect">
            <a:avLst>
              <a:gd name="adj" fmla="val 2070"/>
            </a:avLst>
          </a:prstGeom>
          <a:solidFill>
            <a:srgbClr val="EFF1F2"/>
          </a:solidFill>
          <a:ln/>
        </p:spPr>
      </p:sp>
      <p:sp>
        <p:nvSpPr>
          <p:cNvPr id="12" name="Shape 10"/>
          <p:cNvSpPr/>
          <p:nvPr/>
        </p:nvSpPr>
        <p:spPr>
          <a:xfrm>
            <a:off x="4585106" y="1664208"/>
            <a:ext cx="402336" cy="402336"/>
          </a:xfrm>
          <a:prstGeom prst="ellipse">
            <a:avLst/>
          </a:prstGeom>
          <a:solidFill>
            <a:srgbClr val="44555E"/>
          </a:solidFill>
          <a:ln/>
        </p:spPr>
      </p:sp>
      <p:sp>
        <p:nvSpPr>
          <p:cNvPr id="13" name="Text 11"/>
          <p:cNvSpPr txBox="1"/>
          <p:nvPr/>
        </p:nvSpPr>
        <p:spPr>
          <a:xfrm>
            <a:off x="4585106" y="16642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85106" y="2212848"/>
            <a:ext cx="3021482" cy="31089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Matériel</a:t>
            </a:r>
            <a:endParaRPr lang="en-US" sz="1700" dirty="0"/>
          </a:p>
        </p:txBody>
      </p:sp>
      <p:sp>
        <p:nvSpPr>
          <p:cNvPr id="15" name="Text 13"/>
          <p:cNvSpPr txBox="1"/>
          <p:nvPr/>
        </p:nvSpPr>
        <p:spPr>
          <a:xfrm>
            <a:off x="4585106" y="2615184"/>
            <a:ext cx="3021482" cy="26974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44555E"/>
                </a:solidFill>
                <a:latin typeface="Calibri" pitchFamily="34" charset="0"/>
                <a:ea typeface="Calibri" pitchFamily="34" charset="-122"/>
                <a:cs typeface="Calibri" pitchFamily="34" charset="-120"/>
              </a:rPr>
              <a:t>Portable et chargeur, souris externe si possible.</a:t>
            </a:r>
            <a:endParaRPr lang="en-US" sz="1150" dirty="0"/>
          </a:p>
          <a:p>
            <a:pPr marL="342900" indent="-342900">
              <a:spcAft>
                <a:spcPts val="800"/>
              </a:spcAft>
              <a:buSzPct val="100000"/>
              <a:buChar char="–"/>
            </a:pPr>
            <a:r>
              <a:rPr lang="en-US" sz="1150" dirty="0">
                <a:solidFill>
                  <a:srgbClr val="44555E"/>
                </a:solidFill>
                <a:latin typeface="Calibri" pitchFamily="34" charset="0"/>
                <a:ea typeface="Calibri" pitchFamily="34" charset="-122"/>
                <a:cs typeface="Calibri" pitchFamily="34" charset="-120"/>
              </a:rPr>
              <a:t>Un partage de connexion 4G en secours, testé avant.</a:t>
            </a:r>
            <a:endParaRPr lang="en-US" sz="1150" dirty="0"/>
          </a:p>
          <a:p>
            <a:pPr marL="342900" indent="-342900">
              <a:spcAft>
                <a:spcPts val="800"/>
              </a:spcAft>
              <a:buSzPct val="100000"/>
              <a:buChar char="–"/>
            </a:pPr>
            <a:r>
              <a:rPr lang="en-US" sz="1150" dirty="0">
                <a:solidFill>
                  <a:srgbClr val="44555E"/>
                </a:solidFill>
                <a:latin typeface="Calibri" pitchFamily="34" charset="0"/>
                <a:ea typeface="Calibri" pitchFamily="34" charset="-122"/>
                <a:cs typeface="Calibri" pitchFamily="34" charset="-120"/>
              </a:rPr>
              <a:t>Écran ou téléviseur pour projeter votre machine.</a:t>
            </a:r>
            <a:endParaRPr lang="en-US" sz="1150" dirty="0"/>
          </a:p>
        </p:txBody>
      </p:sp>
      <p:sp>
        <p:nvSpPr>
          <p:cNvPr id="16" name="Shape 14"/>
          <p:cNvSpPr/>
          <p:nvPr/>
        </p:nvSpPr>
        <p:spPr>
          <a:xfrm>
            <a:off x="8091221" y="1417320"/>
            <a:ext cx="3533546" cy="4023360"/>
          </a:xfrm>
          <a:prstGeom prst="roundRect">
            <a:avLst>
              <a:gd name="adj" fmla="val 2070"/>
            </a:avLst>
          </a:prstGeom>
          <a:solidFill>
            <a:srgbClr val="F6E7E0"/>
          </a:solidFill>
          <a:ln/>
        </p:spPr>
      </p:sp>
      <p:sp>
        <p:nvSpPr>
          <p:cNvPr id="17" name="Shape 15"/>
          <p:cNvSpPr/>
          <p:nvPr/>
        </p:nvSpPr>
        <p:spPr>
          <a:xfrm>
            <a:off x="8347253" y="1664208"/>
            <a:ext cx="402336" cy="402336"/>
          </a:xfrm>
          <a:prstGeom prst="ellipse">
            <a:avLst/>
          </a:prstGeom>
          <a:solidFill>
            <a:srgbClr val="C0542A"/>
          </a:solidFill>
          <a:ln/>
        </p:spPr>
      </p:sp>
      <p:sp>
        <p:nvSpPr>
          <p:cNvPr id="18" name="Text 16"/>
          <p:cNvSpPr txBox="1"/>
          <p:nvPr/>
        </p:nvSpPr>
        <p:spPr>
          <a:xfrm>
            <a:off x="8347253" y="16642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47253" y="2212848"/>
            <a:ext cx="3021482" cy="31089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Ce qu'ils apportent</a:t>
            </a:r>
            <a:endParaRPr lang="en-US" sz="1700" dirty="0"/>
          </a:p>
        </p:txBody>
      </p:sp>
      <p:sp>
        <p:nvSpPr>
          <p:cNvPr id="20" name="Text 18"/>
          <p:cNvSpPr txBox="1"/>
          <p:nvPr/>
        </p:nvSpPr>
        <p:spPr>
          <a:xfrm>
            <a:off x="8347253" y="2615184"/>
            <a:ext cx="3021482" cy="26974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8A4A34"/>
                </a:solidFill>
                <a:latin typeface="Calibri" pitchFamily="34" charset="0"/>
                <a:ea typeface="Calibri" pitchFamily="34" charset="-122"/>
                <a:cs typeface="Calibri" pitchFamily="34" charset="-120"/>
              </a:rPr>
              <a:t>Un projet en cours, pas un projet fini.</a:t>
            </a:r>
            <a:endParaRPr lang="en-US" sz="1150" dirty="0"/>
          </a:p>
          <a:p>
            <a:pPr marL="342900" indent="-342900">
              <a:spcAft>
                <a:spcPts val="800"/>
              </a:spcAft>
              <a:buSzPct val="100000"/>
              <a:buChar char="–"/>
            </a:pPr>
            <a:r>
              <a:rPr lang="en-US" sz="1150" dirty="0">
                <a:solidFill>
                  <a:srgbClr val="8A4A34"/>
                </a:solidFill>
                <a:latin typeface="Calibri" pitchFamily="34" charset="0"/>
                <a:ea typeface="Calibri" pitchFamily="34" charset="-122"/>
                <a:cs typeface="Calibri" pitchFamily="34" charset="-120"/>
              </a:rPr>
              <a:t>2 à 3 captures 3D — vue perspective, 16:9, verticales droites.</a:t>
            </a:r>
            <a:endParaRPr lang="en-US" sz="1150" dirty="0"/>
          </a:p>
          <a:p>
            <a:pPr marL="342900" indent="-342900">
              <a:spcAft>
                <a:spcPts val="800"/>
              </a:spcAft>
              <a:buSzPct val="100000"/>
              <a:buChar char="–"/>
            </a:pPr>
            <a:r>
              <a:rPr lang="en-US" sz="1150" dirty="0">
                <a:solidFill>
                  <a:srgbClr val="8A4A34"/>
                </a:solidFill>
                <a:latin typeface="Calibri" pitchFamily="34" charset="0"/>
                <a:ea typeface="Calibri" pitchFamily="34" charset="-122"/>
                <a:cs typeface="Calibri" pitchFamily="34" charset="-120"/>
              </a:rPr>
              <a:t>2 à 3 esquisses scannées ou photographiées.</a:t>
            </a:r>
            <a:endParaRPr lang="en-US" sz="1150" dirty="0"/>
          </a:p>
          <a:p>
            <a:pPr marL="342900" indent="-342900">
              <a:spcAft>
                <a:spcPts val="800"/>
              </a:spcAft>
              <a:buSzPct val="100000"/>
              <a:buChar char="–"/>
            </a:pPr>
            <a:r>
              <a:rPr lang="en-US" sz="1150" dirty="0">
                <a:solidFill>
                  <a:srgbClr val="8A4A34"/>
                </a:solidFill>
                <a:latin typeface="Calibri" pitchFamily="34" charset="0"/>
                <a:ea typeface="Calibri" pitchFamily="34" charset="-122"/>
                <a:cs typeface="Calibri" pitchFamily="34" charset="-120"/>
              </a:rPr>
              <a:t>5 images de référence : matériaux, ambiances.</a:t>
            </a:r>
            <a:endParaRPr lang="en-US" sz="1150" dirty="0"/>
          </a:p>
          <a:p>
            <a:pPr marL="342900" indent="-342900">
              <a:spcAft>
                <a:spcPts val="800"/>
              </a:spcAft>
              <a:buSzPct val="100000"/>
              <a:buChar char="–"/>
            </a:pPr>
            <a:r>
              <a:rPr lang="en-US" sz="1150" dirty="0">
                <a:solidFill>
                  <a:srgbClr val="8A4A34"/>
                </a:solidFill>
                <a:latin typeface="Calibri" pitchFamily="34" charset="0"/>
                <a:ea typeface="Calibri" pitchFamily="34" charset="-122"/>
                <a:cs typeface="Calibri" pitchFamily="34" charset="-120"/>
              </a:rPr>
              <a:t>Un document type de l'agence : note d'intention, descriptif, mail MOA.</a:t>
            </a:r>
            <a:endParaRPr lang="en-US" sz="1150" dirty="0"/>
          </a:p>
        </p:txBody>
      </p:sp>
      <p:sp>
        <p:nvSpPr>
          <p:cNvPr id="21" name="Shape 19"/>
          <p:cNvSpPr/>
          <p:nvPr/>
        </p:nvSpPr>
        <p:spPr>
          <a:xfrm>
            <a:off x="566928" y="5632704"/>
            <a:ext cx="11057839" cy="603504"/>
          </a:xfrm>
          <a:prstGeom prst="roundRect">
            <a:avLst>
              <a:gd name="adj" fmla="val 12121"/>
            </a:avLst>
          </a:prstGeom>
          <a:solidFill>
            <a:srgbClr val="F6E7E0"/>
          </a:solidFill>
          <a:ln/>
        </p:spPr>
      </p:sp>
      <p:sp>
        <p:nvSpPr>
          <p:cNvPr id="22" name="Shape 20"/>
          <p:cNvSpPr/>
          <p:nvPr/>
        </p:nvSpPr>
        <p:spPr>
          <a:xfrm>
            <a:off x="786384" y="5788152"/>
            <a:ext cx="603504" cy="292608"/>
          </a:xfrm>
          <a:prstGeom prst="roundRect">
            <a:avLst>
              <a:gd name="adj" fmla="val 21875"/>
            </a:avLst>
          </a:prstGeom>
          <a:solidFill>
            <a:srgbClr val="C0542A"/>
          </a:solidFill>
          <a:ln/>
        </p:spPr>
      </p:sp>
      <p:sp>
        <p:nvSpPr>
          <p:cNvPr id="23" name="Text 21"/>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4" name="Text 22"/>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Sans capture 3D de leur propre projet, la session retombe sur des images génériques. C'est le seul prérequis vraiment bloquant — le rappeler nommément dans le mail.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9418320" y="320040"/>
            <a:ext cx="2377440" cy="2377440"/>
          </a:xfrm>
          <a:prstGeom prst="rect">
            <a:avLst/>
          </a:prstGeom>
          <a:noFill/>
          <a:ln/>
        </p:spPr>
        <p:txBody>
          <a:bodyPr wrap="square" lIns="0" tIns="0" rIns="0" bIns="0" rtlCol="0" anchor="ctr"/>
          <a:lstStyle/>
          <a:p>
            <a:pPr algn="ctr" indent="0" marL="0">
              <a:buNone/>
            </a:pPr>
            <a:r>
              <a:rPr lang="en-US" sz="15000" b="1" dirty="0">
                <a:solidFill>
                  <a:srgbClr val="1F252A"/>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566928" y="713232"/>
            <a:ext cx="8595360" cy="292608"/>
          </a:xfrm>
          <a:prstGeom prst="rect">
            <a:avLst/>
          </a:prstGeom>
          <a:noFill/>
          <a:ln/>
        </p:spPr>
        <p:txBody>
          <a:bodyPr wrap="square" lIns="0" tIns="0" rIns="0" bIns="0" rtlCol="0" anchor="ctr"/>
          <a:lstStyle/>
          <a:p>
            <a:pPr indent="0" marL="0">
              <a:buNone/>
            </a:pPr>
            <a:r>
              <a:rPr lang="en-US" sz="1200" b="1" spc="180" kern="0" dirty="0">
                <a:solidFill>
                  <a:srgbClr val="C0542A"/>
                </a:solidFill>
                <a:latin typeface="Calibri" pitchFamily="34" charset="0"/>
                <a:ea typeface="Calibri" pitchFamily="34" charset="-122"/>
                <a:cs typeface="Calibri" pitchFamily="34" charset="-120"/>
              </a:rPr>
              <a:t>00:00 → 00:15  ·  15 MINUTES</a:t>
            </a:r>
            <a:endParaRPr lang="en-US" sz="1200" dirty="0"/>
          </a:p>
        </p:txBody>
      </p:sp>
      <p:sp>
        <p:nvSpPr>
          <p:cNvPr id="4" name="Text 2"/>
          <p:cNvSpPr txBox="1"/>
          <p:nvPr/>
        </p:nvSpPr>
        <p:spPr>
          <a:xfrm>
            <a:off x="566928" y="1060704"/>
            <a:ext cx="8778240" cy="8686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Cadrage</a:t>
            </a:r>
            <a:endParaRPr lang="en-US" sz="4000" dirty="0"/>
          </a:p>
        </p:txBody>
      </p:sp>
      <p:sp>
        <p:nvSpPr>
          <p:cNvPr id="5" name="Text 3"/>
          <p:cNvSpPr txBox="1"/>
          <p:nvPr/>
        </p:nvSpPr>
        <p:spPr>
          <a:xfrm>
            <a:off x="566928" y="1956816"/>
            <a:ext cx="9692640" cy="384048"/>
          </a:xfrm>
          <a:prstGeom prst="rect">
            <a:avLst/>
          </a:prstGeom>
          <a:noFill/>
          <a:ln/>
        </p:spPr>
        <p:txBody>
          <a:bodyPr wrap="square" lIns="0" tIns="0" rIns="0" bIns="0" rtlCol="0" anchor="ctr"/>
          <a:lstStyle/>
          <a:p>
            <a:pPr indent="0" marL="0">
              <a:buNone/>
            </a:pPr>
            <a:r>
              <a:rPr lang="en-US" sz="1350" i="1" dirty="0">
                <a:solidFill>
                  <a:srgbClr val="9AA6AC"/>
                </a:solidFill>
                <a:latin typeface="Calibri" pitchFamily="34" charset="0"/>
                <a:ea typeface="Calibri" pitchFamily="34" charset="-122"/>
                <a:cs typeface="Calibri" pitchFamily="34" charset="-120"/>
              </a:rPr>
              <a:t>Ce qui tient ses promesses, ce qui n'est qu'une démo — et ce qu'on ne met jamais dans une IA.</a:t>
            </a:r>
            <a:endParaRPr lang="en-US" sz="135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9AA6AC"/>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9AA6AC"/>
                </a:solidFill>
                <a:latin typeface="Calibri" pitchFamily="34" charset="0"/>
                <a:ea typeface="Calibri" pitchFamily="34" charset="-122"/>
                <a:cs typeface="Calibri" pitchFamily="34" charset="-120"/>
              </a:rPr>
              <a:t>4</a:t>
            </a:r>
            <a:endParaRPr lang="en-US" sz="900" dirty="0"/>
          </a:p>
        </p:txBody>
      </p:sp>
      <p:sp>
        <p:nvSpPr>
          <p:cNvPr id="8" name="Shape 6"/>
          <p:cNvSpPr/>
          <p:nvPr/>
        </p:nvSpPr>
        <p:spPr>
          <a:xfrm>
            <a:off x="566928" y="3310128"/>
            <a:ext cx="2593010" cy="1444752"/>
          </a:xfrm>
          <a:prstGeom prst="roundRect">
            <a:avLst>
              <a:gd name="adj" fmla="val 5063"/>
            </a:avLst>
          </a:prstGeom>
          <a:solidFill>
            <a:srgbClr val="23292E"/>
          </a:solidFill>
          <a:ln/>
        </p:spPr>
      </p:sp>
      <p:sp>
        <p:nvSpPr>
          <p:cNvPr id="9" name="Text 7"/>
          <p:cNvSpPr txBox="1"/>
          <p:nvPr/>
        </p:nvSpPr>
        <p:spPr>
          <a:xfrm>
            <a:off x="786384"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3 min</a:t>
            </a:r>
            <a:endParaRPr lang="en-US" sz="1800" dirty="0"/>
          </a:p>
        </p:txBody>
      </p:sp>
      <p:sp>
        <p:nvSpPr>
          <p:cNvPr id="10" name="Text 8"/>
          <p:cNvSpPr txBox="1"/>
          <p:nvPr/>
        </p:nvSpPr>
        <p:spPr>
          <a:xfrm>
            <a:off x="786384"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Tour de table : leur usage réel de l'IA, honnêtement</a:t>
            </a:r>
            <a:endParaRPr lang="en-US" sz="1150" dirty="0"/>
          </a:p>
        </p:txBody>
      </p:sp>
      <p:sp>
        <p:nvSpPr>
          <p:cNvPr id="11" name="Shape 9"/>
          <p:cNvSpPr/>
          <p:nvPr/>
        </p:nvSpPr>
        <p:spPr>
          <a:xfrm>
            <a:off x="3388538" y="3310128"/>
            <a:ext cx="2593010" cy="1444752"/>
          </a:xfrm>
          <a:prstGeom prst="roundRect">
            <a:avLst>
              <a:gd name="adj" fmla="val 5063"/>
            </a:avLst>
          </a:prstGeom>
          <a:solidFill>
            <a:srgbClr val="23292E"/>
          </a:solidFill>
          <a:ln/>
        </p:spPr>
      </p:sp>
      <p:sp>
        <p:nvSpPr>
          <p:cNvPr id="12" name="Text 10"/>
          <p:cNvSpPr txBox="1"/>
          <p:nvPr/>
        </p:nvSpPr>
        <p:spPr>
          <a:xfrm>
            <a:off x="3607994"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5 min</a:t>
            </a:r>
            <a:endParaRPr lang="en-US" sz="1800" dirty="0"/>
          </a:p>
        </p:txBody>
      </p:sp>
      <p:sp>
        <p:nvSpPr>
          <p:cNvPr id="13" name="Text 11"/>
          <p:cNvSpPr txBox="1"/>
          <p:nvPr/>
        </p:nvSpPr>
        <p:spPr>
          <a:xfrm>
            <a:off x="3607994"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Les trois outils de la session et leur rôle exact</a:t>
            </a:r>
            <a:endParaRPr lang="en-US" sz="1150" dirty="0"/>
          </a:p>
        </p:txBody>
      </p:sp>
      <p:sp>
        <p:nvSpPr>
          <p:cNvPr id="14" name="Shape 12"/>
          <p:cNvSpPr/>
          <p:nvPr/>
        </p:nvSpPr>
        <p:spPr>
          <a:xfrm>
            <a:off x="6210148" y="3310128"/>
            <a:ext cx="2593010" cy="1444752"/>
          </a:xfrm>
          <a:prstGeom prst="roundRect">
            <a:avLst>
              <a:gd name="adj" fmla="val 5063"/>
            </a:avLst>
          </a:prstGeom>
          <a:solidFill>
            <a:srgbClr val="23292E"/>
          </a:solidFill>
          <a:ln/>
        </p:spPr>
      </p:sp>
      <p:sp>
        <p:nvSpPr>
          <p:cNvPr id="15" name="Text 13"/>
          <p:cNvSpPr txBox="1"/>
          <p:nvPr/>
        </p:nvSpPr>
        <p:spPr>
          <a:xfrm>
            <a:off x="6429604"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5 min</a:t>
            </a:r>
            <a:endParaRPr lang="en-US" sz="1800" dirty="0"/>
          </a:p>
        </p:txBody>
      </p:sp>
      <p:sp>
        <p:nvSpPr>
          <p:cNvPr id="16" name="Text 14"/>
          <p:cNvSpPr txBox="1"/>
          <p:nvPr/>
        </p:nvSpPr>
        <p:spPr>
          <a:xfrm>
            <a:off x="6429604"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Droits, confidentialité, réglages à faire ensemble</a:t>
            </a:r>
            <a:endParaRPr lang="en-US" sz="1150" dirty="0"/>
          </a:p>
        </p:txBody>
      </p:sp>
      <p:sp>
        <p:nvSpPr>
          <p:cNvPr id="17" name="Shape 15"/>
          <p:cNvSpPr/>
          <p:nvPr/>
        </p:nvSpPr>
        <p:spPr>
          <a:xfrm>
            <a:off x="9031757" y="3310128"/>
            <a:ext cx="2593010" cy="1444752"/>
          </a:xfrm>
          <a:prstGeom prst="roundRect">
            <a:avLst>
              <a:gd name="adj" fmla="val 5063"/>
            </a:avLst>
          </a:prstGeom>
          <a:solidFill>
            <a:srgbClr val="23292E"/>
          </a:solidFill>
          <a:ln/>
        </p:spPr>
      </p:sp>
      <p:sp>
        <p:nvSpPr>
          <p:cNvPr id="18" name="Text 16"/>
          <p:cNvSpPr txBox="1"/>
          <p:nvPr/>
        </p:nvSpPr>
        <p:spPr>
          <a:xfrm>
            <a:off x="9251213"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2 min</a:t>
            </a:r>
            <a:endParaRPr lang="en-US" sz="1800" dirty="0"/>
          </a:p>
        </p:txBody>
      </p:sp>
      <p:sp>
        <p:nvSpPr>
          <p:cNvPr id="19" name="Text 17"/>
          <p:cNvSpPr txBox="1"/>
          <p:nvPr/>
        </p:nvSpPr>
        <p:spPr>
          <a:xfrm>
            <a:off x="9251213"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Poser la limite de l'outil dès la première minute</a:t>
            </a:r>
            <a:endParaRPr lang="en-US" sz="1150" dirty="0"/>
          </a:p>
        </p:txBody>
      </p:sp>
      <p:sp>
        <p:nvSpPr>
          <p:cNvPr id="20" name="Shape 18"/>
          <p:cNvSpPr/>
          <p:nvPr/>
        </p:nvSpPr>
        <p:spPr>
          <a:xfrm>
            <a:off x="566928" y="5632704"/>
            <a:ext cx="11057839" cy="603504"/>
          </a:xfrm>
          <a:prstGeom prst="roundRect">
            <a:avLst>
              <a:gd name="adj" fmla="val 12121"/>
            </a:avLst>
          </a:prstGeom>
          <a:solidFill>
            <a:srgbClr val="23292E"/>
          </a:solidFill>
          <a:ln/>
        </p:spPr>
      </p:sp>
      <p:sp>
        <p:nvSpPr>
          <p:cNvPr id="21" name="Shape 19"/>
          <p:cNvSpPr/>
          <p:nvPr/>
        </p:nvSpPr>
        <p:spPr>
          <a:xfrm>
            <a:off x="786384" y="5788152"/>
            <a:ext cx="603504" cy="292608"/>
          </a:xfrm>
          <a:prstGeom prst="roundRect">
            <a:avLst>
              <a:gd name="adj" fmla="val 21875"/>
            </a:avLst>
          </a:prstGeom>
          <a:solidFill>
            <a:srgbClr val="C0542A"/>
          </a:solidFill>
          <a:ln/>
        </p:spPr>
      </p:sp>
      <p:sp>
        <p:nvSpPr>
          <p:cNvPr id="22" name="Text 20"/>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3" name="Text 21"/>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C8D0D4"/>
                </a:solidFill>
                <a:latin typeface="Calibri" pitchFamily="34" charset="0"/>
                <a:ea typeface="Calibri" pitchFamily="34" charset="-122"/>
                <a:cs typeface="Calibri" pitchFamily="34" charset="-120"/>
              </a:rPr>
              <a:t>Le tour de table sert à calibrer : s'ils connaissent déjà Midjourney, accélérez sur le prompt. S'ils n'ont jamais rien fait, ralentissez sur la structure.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00:03</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LE PAYSAGE RÉEL</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Trois outils, trois rôles</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5</a:t>
            </a:r>
            <a:endParaRPr lang="en-US" sz="900" dirty="0"/>
          </a:p>
        </p:txBody>
      </p:sp>
      <p:sp>
        <p:nvSpPr>
          <p:cNvPr id="8" name="Shape 6"/>
          <p:cNvSpPr/>
          <p:nvPr/>
        </p:nvSpPr>
        <p:spPr>
          <a:xfrm>
            <a:off x="566928" y="1389888"/>
            <a:ext cx="3533546" cy="2971800"/>
          </a:xfrm>
          <a:prstGeom prst="roundRect">
            <a:avLst>
              <a:gd name="adj" fmla="val 2462"/>
            </a:avLst>
          </a:prstGeom>
          <a:solidFill>
            <a:srgbClr val="EFF1F2"/>
          </a:solidFill>
          <a:ln/>
        </p:spPr>
      </p:sp>
      <p:sp>
        <p:nvSpPr>
          <p:cNvPr id="9" name="Text 7"/>
          <p:cNvSpPr txBox="1"/>
          <p:nvPr/>
        </p:nvSpPr>
        <p:spPr>
          <a:xfrm>
            <a:off x="822960" y="1554480"/>
            <a:ext cx="3021482" cy="384048"/>
          </a:xfrm>
          <a:prstGeom prst="rect">
            <a:avLst/>
          </a:prstGeom>
          <a:noFill/>
          <a:ln/>
        </p:spPr>
        <p:txBody>
          <a:bodyPr wrap="square" lIns="0" tIns="0" rIns="0" bIns="0" rtlCol="0" anchor="ctr"/>
          <a:lstStyle/>
          <a:p>
            <a:pPr indent="0" marL="0">
              <a:buNone/>
            </a:pPr>
            <a:r>
              <a:rPr lang="en-US" sz="2300" b="1" dirty="0">
                <a:solidFill>
                  <a:srgbClr val="14171A"/>
                </a:solidFill>
                <a:latin typeface="Cambria" pitchFamily="34" charset="0"/>
                <a:ea typeface="Cambria" pitchFamily="34" charset="-122"/>
                <a:cs typeface="Cambria" pitchFamily="34" charset="-120"/>
              </a:rPr>
              <a:t>ChatGPT</a:t>
            </a:r>
            <a:endParaRPr lang="en-US" sz="2300" dirty="0"/>
          </a:p>
        </p:txBody>
      </p:sp>
      <p:sp>
        <p:nvSpPr>
          <p:cNvPr id="10" name="Text 8"/>
          <p:cNvSpPr txBox="1"/>
          <p:nvPr/>
        </p:nvSpPr>
        <p:spPr>
          <a:xfrm>
            <a:off x="822960" y="1947672"/>
            <a:ext cx="3021482" cy="237744"/>
          </a:xfrm>
          <a:prstGeom prst="rect">
            <a:avLst/>
          </a:prstGeom>
          <a:noFill/>
          <a:ln/>
        </p:spPr>
        <p:txBody>
          <a:bodyPr wrap="square" lIns="0" tIns="0" rIns="0" bIns="0" rtlCol="0" anchor="ctr"/>
          <a:lstStyle/>
          <a:p>
            <a:pPr indent="0" marL="0">
              <a:buNone/>
            </a:pPr>
            <a:r>
              <a:rPr lang="en-US" sz="1050" dirty="0">
                <a:solidFill>
                  <a:srgbClr val="78868D"/>
                </a:solidFill>
                <a:latin typeface="Calibri" pitchFamily="34" charset="0"/>
                <a:ea typeface="Calibri" pitchFamily="34" charset="-122"/>
                <a:cs typeface="Calibri" pitchFamily="34" charset="-120"/>
              </a:rPr>
              <a:t>Images 2.0</a:t>
            </a:r>
            <a:endParaRPr lang="en-US" sz="1050" dirty="0"/>
          </a:p>
        </p:txBody>
      </p:sp>
      <p:sp>
        <p:nvSpPr>
          <p:cNvPr id="11" name="Text 9"/>
          <p:cNvSpPr txBox="1"/>
          <p:nvPr/>
        </p:nvSpPr>
        <p:spPr>
          <a:xfrm>
            <a:off x="822960" y="2240280"/>
            <a:ext cx="3021482" cy="274320"/>
          </a:xfrm>
          <a:prstGeom prst="rect">
            <a:avLst/>
          </a:prstGeom>
          <a:noFill/>
          <a:ln/>
        </p:spPr>
        <p:txBody>
          <a:bodyPr wrap="square" lIns="0" tIns="0" rIns="0" bIns="0" rtlCol="0" anchor="ctr"/>
          <a:lstStyle/>
          <a:p>
            <a:pPr indent="0" marL="0">
              <a:buNone/>
            </a:pPr>
            <a:r>
              <a:rPr lang="en-US" sz="1300" b="1" i="1" dirty="0">
                <a:solidFill>
                  <a:srgbClr val="C0542A"/>
                </a:solidFill>
                <a:latin typeface="Calibri" pitchFamily="34" charset="0"/>
                <a:ea typeface="Calibri" pitchFamily="34" charset="-122"/>
                <a:cs typeface="Calibri" pitchFamily="34" charset="-120"/>
              </a:rPr>
              <a:t>Le cheval de trait</a:t>
            </a:r>
            <a:endParaRPr lang="en-US" sz="1300" dirty="0"/>
          </a:p>
        </p:txBody>
      </p:sp>
      <p:sp>
        <p:nvSpPr>
          <p:cNvPr id="12" name="Text 10"/>
          <p:cNvSpPr txBox="1"/>
          <p:nvPr/>
        </p:nvSpPr>
        <p:spPr>
          <a:xfrm>
            <a:off x="822960" y="2606040"/>
            <a:ext cx="3021482" cy="12801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Génère et surtout ÉDITE une image existante</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La conversation garde la mémoire du projet</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C'est là que se joue l'itération</a:t>
            </a:r>
            <a:endParaRPr lang="en-US" sz="1150" dirty="0"/>
          </a:p>
        </p:txBody>
      </p:sp>
      <p:sp>
        <p:nvSpPr>
          <p:cNvPr id="13" name="Text 11"/>
          <p:cNvSpPr txBox="1"/>
          <p:nvPr/>
        </p:nvSpPr>
        <p:spPr>
          <a:xfrm>
            <a:off x="822960" y="4023360"/>
            <a:ext cx="3021482" cy="274320"/>
          </a:xfrm>
          <a:prstGeom prst="rect">
            <a:avLst/>
          </a:prstGeom>
          <a:noFill/>
          <a:ln/>
        </p:spPr>
        <p:txBody>
          <a:bodyPr wrap="square" lIns="0" tIns="0" rIns="0" bIns="0" rtlCol="0" anchor="ctr"/>
          <a:lstStyle/>
          <a:p>
            <a:pPr indent="0" marL="0">
              <a:buNone/>
            </a:pPr>
            <a:r>
              <a:rPr lang="en-US" sz="1050" b="1" spc="80" kern="0" dirty="0">
                <a:solidFill>
                  <a:srgbClr val="C0542A"/>
                </a:solidFill>
                <a:latin typeface="Calibri" pitchFamily="34" charset="0"/>
                <a:ea typeface="Calibri" pitchFamily="34" charset="-122"/>
                <a:cs typeface="Calibri" pitchFamily="34" charset="-120"/>
              </a:rPr>
              <a:t>70 % de la session</a:t>
            </a:r>
            <a:endParaRPr lang="en-US" sz="1050" dirty="0"/>
          </a:p>
        </p:txBody>
      </p:sp>
      <p:sp>
        <p:nvSpPr>
          <p:cNvPr id="14" name="Shape 12"/>
          <p:cNvSpPr/>
          <p:nvPr/>
        </p:nvSpPr>
        <p:spPr>
          <a:xfrm>
            <a:off x="4329074" y="1389888"/>
            <a:ext cx="3533546" cy="2971800"/>
          </a:xfrm>
          <a:prstGeom prst="roundRect">
            <a:avLst>
              <a:gd name="adj" fmla="val 2462"/>
            </a:avLst>
          </a:prstGeom>
          <a:solidFill>
            <a:srgbClr val="EFF1F2"/>
          </a:solidFill>
          <a:ln/>
        </p:spPr>
      </p:sp>
      <p:sp>
        <p:nvSpPr>
          <p:cNvPr id="15" name="Text 13"/>
          <p:cNvSpPr txBox="1"/>
          <p:nvPr/>
        </p:nvSpPr>
        <p:spPr>
          <a:xfrm>
            <a:off x="4585106" y="1554480"/>
            <a:ext cx="3021482" cy="384048"/>
          </a:xfrm>
          <a:prstGeom prst="rect">
            <a:avLst/>
          </a:prstGeom>
          <a:noFill/>
          <a:ln/>
        </p:spPr>
        <p:txBody>
          <a:bodyPr wrap="square" lIns="0" tIns="0" rIns="0" bIns="0" rtlCol="0" anchor="ctr"/>
          <a:lstStyle/>
          <a:p>
            <a:pPr indent="0" marL="0">
              <a:buNone/>
            </a:pPr>
            <a:r>
              <a:rPr lang="en-US" sz="2300" b="1" dirty="0">
                <a:solidFill>
                  <a:srgbClr val="14171A"/>
                </a:solidFill>
                <a:latin typeface="Cambria" pitchFamily="34" charset="0"/>
                <a:ea typeface="Cambria" pitchFamily="34" charset="-122"/>
                <a:cs typeface="Cambria" pitchFamily="34" charset="-120"/>
              </a:rPr>
              <a:t>Seedance 2.0</a:t>
            </a:r>
            <a:endParaRPr lang="en-US" sz="2300" dirty="0"/>
          </a:p>
        </p:txBody>
      </p:sp>
      <p:sp>
        <p:nvSpPr>
          <p:cNvPr id="16" name="Text 14"/>
          <p:cNvSpPr txBox="1"/>
          <p:nvPr/>
        </p:nvSpPr>
        <p:spPr>
          <a:xfrm>
            <a:off x="4585106" y="1947672"/>
            <a:ext cx="3021482" cy="237744"/>
          </a:xfrm>
          <a:prstGeom prst="rect">
            <a:avLst/>
          </a:prstGeom>
          <a:noFill/>
          <a:ln/>
        </p:spPr>
        <p:txBody>
          <a:bodyPr wrap="square" lIns="0" tIns="0" rIns="0" bIns="0" rtlCol="0" anchor="ctr"/>
          <a:lstStyle/>
          <a:p>
            <a:pPr indent="0" marL="0">
              <a:buNone/>
            </a:pPr>
            <a:r>
              <a:rPr lang="en-US" sz="1050" dirty="0">
                <a:solidFill>
                  <a:srgbClr val="78868D"/>
                </a:solidFill>
                <a:latin typeface="Calibri" pitchFamily="34" charset="0"/>
                <a:ea typeface="Calibri" pitchFamily="34" charset="-122"/>
                <a:cs typeface="Calibri" pitchFamily="34" charset="-120"/>
              </a:rPr>
              <a:t>ByteDance · via Dreamina</a:t>
            </a:r>
            <a:endParaRPr lang="en-US" sz="1050" dirty="0"/>
          </a:p>
        </p:txBody>
      </p:sp>
      <p:sp>
        <p:nvSpPr>
          <p:cNvPr id="17" name="Text 15"/>
          <p:cNvSpPr txBox="1"/>
          <p:nvPr/>
        </p:nvSpPr>
        <p:spPr>
          <a:xfrm>
            <a:off x="4585106" y="2240280"/>
            <a:ext cx="3021482" cy="274320"/>
          </a:xfrm>
          <a:prstGeom prst="rect">
            <a:avLst/>
          </a:prstGeom>
          <a:noFill/>
          <a:ln/>
        </p:spPr>
        <p:txBody>
          <a:bodyPr wrap="square" lIns="0" tIns="0" rIns="0" bIns="0" rtlCol="0" anchor="ctr"/>
          <a:lstStyle/>
          <a:p>
            <a:pPr indent="0" marL="0">
              <a:buNone/>
            </a:pPr>
            <a:r>
              <a:rPr lang="en-US" sz="1300" b="1" i="1" dirty="0">
                <a:solidFill>
                  <a:srgbClr val="44555E"/>
                </a:solidFill>
                <a:latin typeface="Calibri" pitchFamily="34" charset="0"/>
                <a:ea typeface="Calibri" pitchFamily="34" charset="-122"/>
                <a:cs typeface="Calibri" pitchFamily="34" charset="-120"/>
              </a:rPr>
              <a:t>L'image qui bouge</a:t>
            </a:r>
            <a:endParaRPr lang="en-US" sz="1300" dirty="0"/>
          </a:p>
        </p:txBody>
      </p:sp>
      <p:sp>
        <p:nvSpPr>
          <p:cNvPr id="18" name="Text 16"/>
          <p:cNvSpPr txBox="1"/>
          <p:nvPr/>
        </p:nvSpPr>
        <p:spPr>
          <a:xfrm>
            <a:off x="4585106" y="2606040"/>
            <a:ext cx="3021482" cy="12801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Transforme un rendu fixe en séquence vidéo</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Contrôle réel du mouvement de caméra</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Premier des classements image vers vidéo</a:t>
            </a:r>
            <a:endParaRPr lang="en-US" sz="1150" dirty="0"/>
          </a:p>
        </p:txBody>
      </p:sp>
      <p:sp>
        <p:nvSpPr>
          <p:cNvPr id="19" name="Text 17"/>
          <p:cNvSpPr txBox="1"/>
          <p:nvPr/>
        </p:nvSpPr>
        <p:spPr>
          <a:xfrm>
            <a:off x="4585106" y="4023360"/>
            <a:ext cx="3021482" cy="274320"/>
          </a:xfrm>
          <a:prstGeom prst="rect">
            <a:avLst/>
          </a:prstGeom>
          <a:noFill/>
          <a:ln/>
        </p:spPr>
        <p:txBody>
          <a:bodyPr wrap="square" lIns="0" tIns="0" rIns="0" bIns="0" rtlCol="0" anchor="ctr"/>
          <a:lstStyle/>
          <a:p>
            <a:pPr indent="0" marL="0">
              <a:buNone/>
            </a:pPr>
            <a:r>
              <a:rPr lang="en-US" sz="1050" b="1" spc="80" kern="0" dirty="0">
                <a:solidFill>
                  <a:srgbClr val="44555E"/>
                </a:solidFill>
                <a:latin typeface="Calibri" pitchFamily="34" charset="0"/>
                <a:ea typeface="Calibri" pitchFamily="34" charset="-122"/>
                <a:cs typeface="Calibri" pitchFamily="34" charset="-120"/>
              </a:rPr>
              <a:t>Module vidéo · 35 min</a:t>
            </a:r>
            <a:endParaRPr lang="en-US" sz="1050" dirty="0"/>
          </a:p>
        </p:txBody>
      </p:sp>
      <p:sp>
        <p:nvSpPr>
          <p:cNvPr id="20" name="Shape 18"/>
          <p:cNvSpPr/>
          <p:nvPr/>
        </p:nvSpPr>
        <p:spPr>
          <a:xfrm>
            <a:off x="8091221" y="1389888"/>
            <a:ext cx="3533546" cy="2971800"/>
          </a:xfrm>
          <a:prstGeom prst="roundRect">
            <a:avLst>
              <a:gd name="adj" fmla="val 2462"/>
            </a:avLst>
          </a:prstGeom>
          <a:solidFill>
            <a:srgbClr val="EFF1F2"/>
          </a:solidFill>
          <a:ln/>
        </p:spPr>
      </p:sp>
      <p:sp>
        <p:nvSpPr>
          <p:cNvPr id="21" name="Text 19"/>
          <p:cNvSpPr txBox="1"/>
          <p:nvPr/>
        </p:nvSpPr>
        <p:spPr>
          <a:xfrm>
            <a:off x="8347253" y="1554480"/>
            <a:ext cx="3021482" cy="384048"/>
          </a:xfrm>
          <a:prstGeom prst="rect">
            <a:avLst/>
          </a:prstGeom>
          <a:noFill/>
          <a:ln/>
        </p:spPr>
        <p:txBody>
          <a:bodyPr wrap="square" lIns="0" tIns="0" rIns="0" bIns="0" rtlCol="0" anchor="ctr"/>
          <a:lstStyle/>
          <a:p>
            <a:pPr indent="0" marL="0">
              <a:buNone/>
            </a:pPr>
            <a:r>
              <a:rPr lang="en-US" sz="2300" b="1" dirty="0">
                <a:solidFill>
                  <a:srgbClr val="14171A"/>
                </a:solidFill>
                <a:latin typeface="Cambria" pitchFamily="34" charset="0"/>
                <a:ea typeface="Cambria" pitchFamily="34" charset="-122"/>
                <a:cs typeface="Cambria" pitchFamily="34" charset="-120"/>
              </a:rPr>
              <a:t>Claude</a:t>
            </a:r>
            <a:endParaRPr lang="en-US" sz="2300" dirty="0"/>
          </a:p>
        </p:txBody>
      </p:sp>
      <p:sp>
        <p:nvSpPr>
          <p:cNvPr id="22" name="Text 20"/>
          <p:cNvSpPr txBox="1"/>
          <p:nvPr/>
        </p:nvSpPr>
        <p:spPr>
          <a:xfrm>
            <a:off x="8347253" y="1947672"/>
            <a:ext cx="3021482" cy="237744"/>
          </a:xfrm>
          <a:prstGeom prst="rect">
            <a:avLst/>
          </a:prstGeom>
          <a:noFill/>
          <a:ln/>
        </p:spPr>
        <p:txBody>
          <a:bodyPr wrap="square" lIns="0" tIns="0" rIns="0" bIns="0" rtlCol="0" anchor="ctr"/>
          <a:lstStyle/>
          <a:p>
            <a:pPr indent="0" marL="0">
              <a:buNone/>
            </a:pPr>
            <a:r>
              <a:rPr lang="en-US" sz="1050" dirty="0">
                <a:solidFill>
                  <a:srgbClr val="78868D"/>
                </a:solidFill>
                <a:latin typeface="Calibri" pitchFamily="34" charset="0"/>
                <a:ea typeface="Calibri" pitchFamily="34" charset="-122"/>
                <a:cs typeface="Calibri" pitchFamily="34" charset="-120"/>
              </a:rPr>
              <a:t>Projects</a:t>
            </a:r>
            <a:endParaRPr lang="en-US" sz="1050" dirty="0"/>
          </a:p>
        </p:txBody>
      </p:sp>
      <p:sp>
        <p:nvSpPr>
          <p:cNvPr id="23" name="Text 21"/>
          <p:cNvSpPr txBox="1"/>
          <p:nvPr/>
        </p:nvSpPr>
        <p:spPr>
          <a:xfrm>
            <a:off x="8347253" y="2240280"/>
            <a:ext cx="3021482" cy="274320"/>
          </a:xfrm>
          <a:prstGeom prst="rect">
            <a:avLst/>
          </a:prstGeom>
          <a:noFill/>
          <a:ln/>
        </p:spPr>
        <p:txBody>
          <a:bodyPr wrap="square" lIns="0" tIns="0" rIns="0" bIns="0" rtlCol="0" anchor="ctr"/>
          <a:lstStyle/>
          <a:p>
            <a:pPr indent="0" marL="0">
              <a:buNone/>
            </a:pPr>
            <a:r>
              <a:rPr lang="en-US" sz="1300" b="1" i="1" dirty="0">
                <a:solidFill>
                  <a:srgbClr val="44555E"/>
                </a:solidFill>
                <a:latin typeface="Calibri" pitchFamily="34" charset="0"/>
                <a:ea typeface="Calibri" pitchFamily="34" charset="-122"/>
                <a:cs typeface="Calibri" pitchFamily="34" charset="-120"/>
              </a:rPr>
              <a:t>Le texte et la méthode</a:t>
            </a:r>
            <a:endParaRPr lang="en-US" sz="1300" dirty="0"/>
          </a:p>
        </p:txBody>
      </p:sp>
      <p:sp>
        <p:nvSpPr>
          <p:cNvPr id="24" name="Text 22"/>
          <p:cNvSpPr txBox="1"/>
          <p:nvPr/>
        </p:nvSpPr>
        <p:spPr>
          <a:xfrm>
            <a:off x="8347253" y="2606040"/>
            <a:ext cx="3021482" cy="12801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Documents longs, programmes, descriptifs</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Restitue un ton d'écriture avec justesse</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Ne génère pas d'image</a:t>
            </a:r>
            <a:endParaRPr lang="en-US" sz="1150" dirty="0"/>
          </a:p>
        </p:txBody>
      </p:sp>
      <p:sp>
        <p:nvSpPr>
          <p:cNvPr id="25" name="Text 23"/>
          <p:cNvSpPr txBox="1"/>
          <p:nvPr/>
        </p:nvSpPr>
        <p:spPr>
          <a:xfrm>
            <a:off x="8347253" y="4023360"/>
            <a:ext cx="3021482" cy="274320"/>
          </a:xfrm>
          <a:prstGeom prst="rect">
            <a:avLst/>
          </a:prstGeom>
          <a:noFill/>
          <a:ln/>
        </p:spPr>
        <p:txBody>
          <a:bodyPr wrap="square" lIns="0" tIns="0" rIns="0" bIns="0" rtlCol="0" anchor="ctr"/>
          <a:lstStyle/>
          <a:p>
            <a:pPr indent="0" marL="0">
              <a:buNone/>
            </a:pPr>
            <a:r>
              <a:rPr lang="en-US" sz="1050" b="1" spc="80" kern="0" dirty="0">
                <a:solidFill>
                  <a:srgbClr val="44555E"/>
                </a:solidFill>
                <a:latin typeface="Calibri" pitchFamily="34" charset="0"/>
                <a:ea typeface="Calibri" pitchFamily="34" charset="-122"/>
                <a:cs typeface="Calibri" pitchFamily="34" charset="-120"/>
              </a:rPr>
              <a:t>Module agent · 10 min</a:t>
            </a:r>
            <a:endParaRPr lang="en-US" sz="1050" dirty="0"/>
          </a:p>
        </p:txBody>
      </p:sp>
      <p:sp>
        <p:nvSpPr>
          <p:cNvPr id="26" name="Shape 24"/>
          <p:cNvSpPr/>
          <p:nvPr/>
        </p:nvSpPr>
        <p:spPr>
          <a:xfrm>
            <a:off x="566928" y="4590288"/>
            <a:ext cx="11057839" cy="713232"/>
          </a:xfrm>
          <a:prstGeom prst="roundRect">
            <a:avLst>
              <a:gd name="adj" fmla="val 10256"/>
            </a:avLst>
          </a:prstGeom>
          <a:solidFill>
            <a:srgbClr val="14171A"/>
          </a:solidFill>
          <a:ln/>
        </p:spPr>
      </p:sp>
      <p:sp>
        <p:nvSpPr>
          <p:cNvPr id="27" name="Text 25"/>
          <p:cNvSpPr txBox="1"/>
          <p:nvPr/>
        </p:nvSpPr>
        <p:spPr>
          <a:xfrm>
            <a:off x="841248" y="4590288"/>
            <a:ext cx="10509199" cy="713232"/>
          </a:xfrm>
          <a:prstGeom prst="rect">
            <a:avLst/>
          </a:prstGeom>
          <a:noFill/>
          <a:ln/>
        </p:spPr>
        <p:txBody>
          <a:bodyPr wrap="square" lIns="0" tIns="0" rIns="0" bIns="0" rtlCol="0" anchor="ctr"/>
          <a:lstStyle/>
          <a:p>
            <a:pPr indent="0" marL="0">
              <a:buNone/>
            </a:pPr>
            <a:r>
              <a:rPr lang="en-US" sz="1200" dirty="0">
                <a:solidFill>
                  <a:srgbClr val="C8D0D4"/>
                </a:solidFill>
                <a:latin typeface="Calibri" pitchFamily="34" charset="0"/>
                <a:ea typeface="Calibri" pitchFamily="34" charset="-122"/>
                <a:cs typeface="Calibri" pitchFamily="34" charset="-120"/>
              </a:rPr>
              <a:t>Ce qu'on ne fera pas : Midjourney, Veo, Runway, les greffons de rendu dans SketchUp. On les cite, on ne les installe pas. Trois outils maîtrisés valent mieux que dix survolés.</a:t>
            </a:r>
            <a:endParaRPr lang="en-US" sz="1200" dirty="0"/>
          </a:p>
        </p:txBody>
      </p:sp>
      <p:sp>
        <p:nvSpPr>
          <p:cNvPr id="28" name="Shape 26"/>
          <p:cNvSpPr/>
          <p:nvPr/>
        </p:nvSpPr>
        <p:spPr>
          <a:xfrm>
            <a:off x="566928" y="5632704"/>
            <a:ext cx="11057839" cy="603504"/>
          </a:xfrm>
          <a:prstGeom prst="roundRect">
            <a:avLst>
              <a:gd name="adj" fmla="val 12121"/>
            </a:avLst>
          </a:prstGeom>
          <a:solidFill>
            <a:srgbClr val="F6E7E0"/>
          </a:solidFill>
          <a:ln/>
        </p:spPr>
      </p:sp>
      <p:sp>
        <p:nvSpPr>
          <p:cNvPr id="29" name="Shape 27"/>
          <p:cNvSpPr/>
          <p:nvPr/>
        </p:nvSpPr>
        <p:spPr>
          <a:xfrm>
            <a:off x="786384" y="5788152"/>
            <a:ext cx="603504" cy="292608"/>
          </a:xfrm>
          <a:prstGeom prst="roundRect">
            <a:avLst>
              <a:gd name="adj" fmla="val 21875"/>
            </a:avLst>
          </a:prstGeom>
          <a:solidFill>
            <a:srgbClr val="C0542A"/>
          </a:solidFill>
          <a:ln/>
        </p:spPr>
      </p:sp>
      <p:sp>
        <p:nvSpPr>
          <p:cNvPr id="30" name="Text 28"/>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1" name="Text 29"/>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Un onglet par module, pas trois outils ouverts en même temps. La dispersion entre interfaces est la première cause de perte de temps en agence.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00:08</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DROITS ET CONFIDENTIALITÉ</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Ce qu'on ne met jamais dans une IA</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6</a:t>
            </a:r>
            <a:endParaRPr lang="en-US" sz="900" dirty="0"/>
          </a:p>
        </p:txBody>
      </p:sp>
      <p:sp>
        <p:nvSpPr>
          <p:cNvPr id="8" name="Shape 6"/>
          <p:cNvSpPr/>
          <p:nvPr/>
        </p:nvSpPr>
        <p:spPr>
          <a:xfrm>
            <a:off x="566928" y="1417320"/>
            <a:ext cx="5368900" cy="1874520"/>
          </a:xfrm>
          <a:prstGeom prst="roundRect">
            <a:avLst>
              <a:gd name="adj" fmla="val 3902"/>
            </a:avLst>
          </a:prstGeom>
          <a:solidFill>
            <a:srgbClr val="F7E9E4"/>
          </a:solidFill>
          <a:ln/>
        </p:spPr>
      </p:sp>
      <p:sp>
        <p:nvSpPr>
          <p:cNvPr id="9" name="Text 7"/>
          <p:cNvSpPr txBox="1"/>
          <p:nvPr/>
        </p:nvSpPr>
        <p:spPr>
          <a:xfrm>
            <a:off x="841248" y="1609344"/>
            <a:ext cx="4820260" cy="237744"/>
          </a:xfrm>
          <a:prstGeom prst="rect">
            <a:avLst/>
          </a:prstGeom>
          <a:noFill/>
          <a:ln/>
        </p:spPr>
        <p:txBody>
          <a:bodyPr wrap="square" lIns="0" tIns="0" rIns="0" bIns="0" rtlCol="0" anchor="ctr"/>
          <a:lstStyle/>
          <a:p>
            <a:pPr indent="0" marL="0">
              <a:buNone/>
            </a:pPr>
            <a:r>
              <a:rPr lang="en-US" sz="1000" b="1" spc="120" kern="0" dirty="0">
                <a:solidFill>
                  <a:srgbClr val="C0542A"/>
                </a:solidFill>
                <a:latin typeface="Calibri" pitchFamily="34" charset="0"/>
                <a:ea typeface="Calibri" pitchFamily="34" charset="-122"/>
                <a:cs typeface="Calibri" pitchFamily="34" charset="-120"/>
              </a:rPr>
              <a:t>JAMAIS</a:t>
            </a:r>
            <a:endParaRPr lang="en-US" sz="1000" dirty="0"/>
          </a:p>
        </p:txBody>
      </p:sp>
      <p:sp>
        <p:nvSpPr>
          <p:cNvPr id="10" name="Text 8"/>
          <p:cNvSpPr txBox="1"/>
          <p:nvPr/>
        </p:nvSpPr>
        <p:spPr>
          <a:xfrm>
            <a:off x="841248" y="1901952"/>
            <a:ext cx="4820260" cy="1280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8A4A34"/>
                </a:solidFill>
                <a:latin typeface="Calibri" pitchFamily="34" charset="0"/>
                <a:ea typeface="Calibri" pitchFamily="34" charset="-122"/>
                <a:cs typeface="Calibri" pitchFamily="34" charset="-120"/>
              </a:rPr>
              <a:t>Les pièces d'un concours en cours — anonymat, règlement</a:t>
            </a:r>
            <a:endParaRPr lang="en-US" sz="1150" dirty="0"/>
          </a:p>
          <a:p>
            <a:pPr marL="342900" indent="-342900">
              <a:spcAft>
                <a:spcPts val="600"/>
              </a:spcAft>
              <a:buSzPct val="100000"/>
              <a:buChar char="–"/>
            </a:pPr>
            <a:r>
              <a:rPr lang="en-US" sz="1150" dirty="0">
                <a:solidFill>
                  <a:srgbClr val="8A4A34"/>
                </a:solidFill>
                <a:latin typeface="Calibri" pitchFamily="34" charset="0"/>
                <a:ea typeface="Calibri" pitchFamily="34" charset="-122"/>
                <a:cs typeface="Calibri" pitchFamily="34" charset="-120"/>
              </a:rPr>
              <a:t>Les données nominatives d'un client ou d'une MOA — RGPD</a:t>
            </a:r>
            <a:endParaRPr lang="en-US" sz="1150" dirty="0"/>
          </a:p>
          <a:p>
            <a:pPr marL="342900" indent="-342900">
              <a:spcAft>
                <a:spcPts val="600"/>
              </a:spcAft>
              <a:buSzPct val="100000"/>
              <a:buChar char="–"/>
            </a:pPr>
            <a:r>
              <a:rPr lang="en-US" sz="1150" dirty="0">
                <a:solidFill>
                  <a:srgbClr val="8A4A34"/>
                </a:solidFill>
                <a:latin typeface="Calibri" pitchFamily="34" charset="0"/>
                <a:ea typeface="Calibri" pitchFamily="34" charset="-122"/>
                <a:cs typeface="Calibri" pitchFamily="34" charset="-120"/>
              </a:rPr>
              <a:t>Tout document couvert par un accord de confidentialité</a:t>
            </a:r>
            <a:endParaRPr lang="en-US" sz="1150" dirty="0"/>
          </a:p>
          <a:p>
            <a:pPr marL="342900" indent="-342900">
              <a:spcAft>
                <a:spcPts val="600"/>
              </a:spcAft>
              <a:buSzPct val="100000"/>
              <a:buChar char="–"/>
            </a:pPr>
            <a:r>
              <a:rPr lang="en-US" sz="1150" dirty="0">
                <a:solidFill>
                  <a:srgbClr val="8A4A34"/>
                </a:solidFill>
                <a:latin typeface="Calibri" pitchFamily="34" charset="0"/>
                <a:ea typeface="Calibri" pitchFamily="34" charset="-122"/>
                <a:cs typeface="Calibri" pitchFamily="34" charset="-120"/>
              </a:rPr>
              <a:t>Le DCE d'un tiers : BET, entreprise, bureau de contrôle</a:t>
            </a:r>
            <a:endParaRPr lang="en-US" sz="1150" dirty="0"/>
          </a:p>
        </p:txBody>
      </p:sp>
      <p:sp>
        <p:nvSpPr>
          <p:cNvPr id="11" name="Shape 9"/>
          <p:cNvSpPr/>
          <p:nvPr/>
        </p:nvSpPr>
        <p:spPr>
          <a:xfrm>
            <a:off x="6255868" y="1417320"/>
            <a:ext cx="5368900" cy="1874520"/>
          </a:xfrm>
          <a:prstGeom prst="roundRect">
            <a:avLst>
              <a:gd name="adj" fmla="val 3902"/>
            </a:avLst>
          </a:prstGeom>
          <a:solidFill>
            <a:srgbClr val="EFF1F2"/>
          </a:solidFill>
          <a:ln/>
        </p:spPr>
      </p:sp>
      <p:sp>
        <p:nvSpPr>
          <p:cNvPr id="12" name="Text 10"/>
          <p:cNvSpPr txBox="1"/>
          <p:nvPr/>
        </p:nvSpPr>
        <p:spPr>
          <a:xfrm>
            <a:off x="6530188" y="1609344"/>
            <a:ext cx="482026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SANS RISQUE</a:t>
            </a:r>
            <a:endParaRPr lang="en-US" sz="1000" dirty="0"/>
          </a:p>
        </p:txBody>
      </p:sp>
      <p:sp>
        <p:nvSpPr>
          <p:cNvPr id="13" name="Text 11"/>
          <p:cNvSpPr txBox="1"/>
          <p:nvPr/>
        </p:nvSpPr>
        <p:spPr>
          <a:xfrm>
            <a:off x="6530188" y="1901952"/>
            <a:ext cx="4820260" cy="1280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4555E"/>
                </a:solidFill>
                <a:latin typeface="Calibri" pitchFamily="34" charset="0"/>
                <a:ea typeface="Calibri" pitchFamily="34" charset="-122"/>
                <a:cs typeface="Calibri" pitchFamily="34" charset="-120"/>
              </a:rPr>
              <a:t>Vos captures 3D, vos esquisses, vos plans de projet interne</a:t>
            </a:r>
            <a:endParaRPr lang="en-US" sz="1150" dirty="0"/>
          </a:p>
          <a:p>
            <a:pPr marL="342900" indent="-342900">
              <a:spcAft>
                <a:spcPts val="600"/>
              </a:spcAft>
              <a:buSzPct val="100000"/>
              <a:buChar char="–"/>
            </a:pPr>
            <a:r>
              <a:rPr lang="en-US" sz="1150" dirty="0">
                <a:solidFill>
                  <a:srgbClr val="44555E"/>
                </a:solidFill>
                <a:latin typeface="Calibri" pitchFamily="34" charset="0"/>
                <a:ea typeface="Calibri" pitchFamily="34" charset="-122"/>
                <a:cs typeface="Calibri" pitchFamily="34" charset="-120"/>
              </a:rPr>
              <a:t>Vos textes : notes d'intention, descriptifs, mails</a:t>
            </a:r>
            <a:endParaRPr lang="en-US" sz="1150" dirty="0"/>
          </a:p>
          <a:p>
            <a:pPr marL="342900" indent="-342900">
              <a:spcAft>
                <a:spcPts val="600"/>
              </a:spcAft>
              <a:buSzPct val="100000"/>
              <a:buChar char="–"/>
            </a:pPr>
            <a:r>
              <a:rPr lang="en-US" sz="1150" dirty="0">
                <a:solidFill>
                  <a:srgbClr val="44555E"/>
                </a:solidFill>
                <a:latin typeface="Calibri" pitchFamily="34" charset="0"/>
                <a:ea typeface="Calibri" pitchFamily="34" charset="-122"/>
                <a:cs typeface="Calibri" pitchFamily="34" charset="-120"/>
              </a:rPr>
              <a:t>Des références publiques : photos de bâtiments publiés</a:t>
            </a:r>
            <a:endParaRPr lang="en-US" sz="1150" dirty="0"/>
          </a:p>
          <a:p>
            <a:pPr marL="342900" indent="-342900">
              <a:spcAft>
                <a:spcPts val="600"/>
              </a:spcAft>
              <a:buSzPct val="100000"/>
              <a:buChar char="–"/>
            </a:pPr>
            <a:r>
              <a:rPr lang="en-US" sz="1150" dirty="0">
                <a:solidFill>
                  <a:srgbClr val="44555E"/>
                </a:solidFill>
                <a:latin typeface="Calibri" pitchFamily="34" charset="0"/>
                <a:ea typeface="Calibri" pitchFamily="34" charset="-122"/>
                <a:cs typeface="Calibri" pitchFamily="34" charset="-120"/>
              </a:rPr>
              <a:t>Un programme déjà rendu public</a:t>
            </a:r>
            <a:endParaRPr lang="en-US" sz="1150" dirty="0"/>
          </a:p>
        </p:txBody>
      </p:sp>
      <p:sp>
        <p:nvSpPr>
          <p:cNvPr id="14" name="Shape 12"/>
          <p:cNvSpPr/>
          <p:nvPr/>
        </p:nvSpPr>
        <p:spPr>
          <a:xfrm>
            <a:off x="566928" y="3401568"/>
            <a:ext cx="11057839" cy="713232"/>
          </a:xfrm>
          <a:prstGeom prst="roundRect">
            <a:avLst>
              <a:gd name="adj" fmla="val 10256"/>
            </a:avLst>
          </a:prstGeom>
          <a:solidFill>
            <a:srgbClr val="E3E7E9"/>
          </a:solidFill>
          <a:ln/>
        </p:spPr>
      </p:sp>
      <p:sp>
        <p:nvSpPr>
          <p:cNvPr id="15" name="Text 13"/>
          <p:cNvSpPr txBox="1"/>
          <p:nvPr/>
        </p:nvSpPr>
        <p:spPr>
          <a:xfrm>
            <a:off x="841248" y="3401568"/>
            <a:ext cx="10509199" cy="713232"/>
          </a:xfrm>
          <a:prstGeom prst="rect">
            <a:avLst/>
          </a:prstGeom>
          <a:noFill/>
          <a:ln/>
        </p:spPr>
        <p:txBody>
          <a:bodyPr wrap="square" lIns="0" tIns="0" rIns="0" bIns="0" rtlCol="0" anchor="ctr"/>
          <a:lstStyle/>
          <a:p>
            <a:pPr indent="0" marL="0">
              <a:buNone/>
            </a:pPr>
            <a:r>
              <a:rPr lang="en-US" sz="1200" dirty="0">
                <a:solidFill>
                  <a:srgbClr val="44555E"/>
                </a:solidFill>
                <a:latin typeface="Calibri" pitchFamily="34" charset="0"/>
                <a:ea typeface="Calibri" pitchFamily="34" charset="-122"/>
                <a:cs typeface="Calibri" pitchFamily="34" charset="-120"/>
              </a:rPr>
              <a:t>Droits sur l'image produite : une image générée n'ouvre pas de protection au titre du droit d'auteur. Elle ne se dépose pas, elle ne s'oppose pas à un tiers — et elle ne se présente jamais comme un rendu contractuel.</a:t>
            </a:r>
            <a:endParaRPr lang="en-US" sz="1200" dirty="0"/>
          </a:p>
        </p:txBody>
      </p:sp>
      <p:sp>
        <p:nvSpPr>
          <p:cNvPr id="16" name="Shape 14"/>
          <p:cNvSpPr/>
          <p:nvPr/>
        </p:nvSpPr>
        <p:spPr>
          <a:xfrm>
            <a:off x="566928" y="4224528"/>
            <a:ext cx="11057839" cy="1243584"/>
          </a:xfrm>
          <a:prstGeom prst="roundRect">
            <a:avLst>
              <a:gd name="adj" fmla="val 5882"/>
            </a:avLst>
          </a:prstGeom>
          <a:solidFill>
            <a:srgbClr val="C0542A"/>
          </a:solidFill>
          <a:ln/>
        </p:spPr>
      </p:sp>
      <p:sp>
        <p:nvSpPr>
          <p:cNvPr id="17" name="Text 15"/>
          <p:cNvSpPr txBox="1"/>
          <p:nvPr/>
        </p:nvSpPr>
        <p:spPr>
          <a:xfrm>
            <a:off x="886968" y="4389120"/>
            <a:ext cx="10417759" cy="475488"/>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Une image générée est une image d'intention.</a:t>
            </a:r>
            <a:endParaRPr lang="en-US" sz="2500" dirty="0"/>
          </a:p>
        </p:txBody>
      </p:sp>
      <p:sp>
        <p:nvSpPr>
          <p:cNvPr id="18" name="Text 16"/>
          <p:cNvSpPr txBox="1"/>
          <p:nvPr/>
        </p:nvSpPr>
        <p:spPr>
          <a:xfrm>
            <a:off x="886968" y="4919472"/>
            <a:ext cx="10417759" cy="411480"/>
          </a:xfrm>
          <a:prstGeom prst="rect">
            <a:avLst/>
          </a:prstGeom>
          <a:noFill/>
          <a:ln/>
        </p:spPr>
        <p:txBody>
          <a:bodyPr wrap="square" lIns="0" tIns="0" rIns="0" bIns="0" rtlCol="0" anchor="ctr"/>
          <a:lstStyle/>
          <a:p>
            <a:pPr indent="0" marL="0">
              <a:buNone/>
            </a:pPr>
            <a:r>
              <a:rPr lang="en-US" sz="1250" dirty="0">
                <a:solidFill>
                  <a:srgbClr val="F6DCD1"/>
                </a:solidFill>
                <a:latin typeface="Calibri" pitchFamily="34" charset="0"/>
                <a:ea typeface="Calibri" pitchFamily="34" charset="-122"/>
                <a:cs typeface="Calibri" pitchFamily="34" charset="-120"/>
              </a:rPr>
              <a:t>Jamais un rendu conforme au modèle. Jamais une étude d'ensoleillement. À redire trois fois : ici, après le premier « waouh » vers 01:10, et au passage à l'échelle.</a:t>
            </a:r>
            <a:endParaRPr lang="en-US" sz="1250" dirty="0"/>
          </a:p>
        </p:txBody>
      </p:sp>
      <p:sp>
        <p:nvSpPr>
          <p:cNvPr id="19" name="Shape 17"/>
          <p:cNvSpPr/>
          <p:nvPr/>
        </p:nvSpPr>
        <p:spPr>
          <a:xfrm>
            <a:off x="566928" y="5632704"/>
            <a:ext cx="11057839" cy="603504"/>
          </a:xfrm>
          <a:prstGeom prst="roundRect">
            <a:avLst>
              <a:gd name="adj" fmla="val 12121"/>
            </a:avLst>
          </a:prstGeom>
          <a:solidFill>
            <a:srgbClr val="F6E7E0"/>
          </a:solidFill>
          <a:ln/>
        </p:spPr>
      </p:sp>
      <p:sp>
        <p:nvSpPr>
          <p:cNvPr id="20" name="Shape 18"/>
          <p:cNvSpPr/>
          <p:nvPr/>
        </p:nvSpPr>
        <p:spPr>
          <a:xfrm>
            <a:off x="786384" y="5788152"/>
            <a:ext cx="603504" cy="292608"/>
          </a:xfrm>
          <a:prstGeom prst="roundRect">
            <a:avLst>
              <a:gd name="adj" fmla="val 21875"/>
            </a:avLst>
          </a:prstGeom>
          <a:solidFill>
            <a:srgbClr val="C0542A"/>
          </a:solidFill>
          <a:ln/>
        </p:spPr>
      </p:sp>
      <p:sp>
        <p:nvSpPr>
          <p:cNvPr id="21" name="Text 19"/>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2" name="Text 20"/>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Faites le réglage en direct sur les deux machines : ChatGPT → Paramètres → Contrôles des données → désactiver l'amélioration du modèle. Deux minutes, et c'est fait pour de bon.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9418320" y="320040"/>
            <a:ext cx="2377440" cy="2377440"/>
          </a:xfrm>
          <a:prstGeom prst="rect">
            <a:avLst/>
          </a:prstGeom>
          <a:noFill/>
          <a:ln/>
        </p:spPr>
        <p:txBody>
          <a:bodyPr wrap="square" lIns="0" tIns="0" rIns="0" bIns="0" rtlCol="0" anchor="ctr"/>
          <a:lstStyle/>
          <a:p>
            <a:pPr algn="ctr" indent="0" marL="0">
              <a:buNone/>
            </a:pPr>
            <a:r>
              <a:rPr lang="en-US" sz="15000" b="1" dirty="0">
                <a:solidFill>
                  <a:srgbClr val="1F252A"/>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566928" y="713232"/>
            <a:ext cx="8595360" cy="292608"/>
          </a:xfrm>
          <a:prstGeom prst="rect">
            <a:avLst/>
          </a:prstGeom>
          <a:noFill/>
          <a:ln/>
        </p:spPr>
        <p:txBody>
          <a:bodyPr wrap="square" lIns="0" tIns="0" rIns="0" bIns="0" rtlCol="0" anchor="ctr"/>
          <a:lstStyle/>
          <a:p>
            <a:pPr indent="0" marL="0">
              <a:buNone/>
            </a:pPr>
            <a:r>
              <a:rPr lang="en-US" sz="1200" b="1" spc="180" kern="0" dirty="0">
                <a:solidFill>
                  <a:srgbClr val="C0542A"/>
                </a:solidFill>
                <a:latin typeface="Calibri" pitchFamily="34" charset="0"/>
                <a:ea typeface="Calibri" pitchFamily="34" charset="-122"/>
                <a:cs typeface="Calibri" pitchFamily="34" charset="-120"/>
              </a:rPr>
              <a:t>00:15 → 00:45  ·  30 MINUTES</a:t>
            </a:r>
            <a:endParaRPr lang="en-US" sz="1200" dirty="0"/>
          </a:p>
        </p:txBody>
      </p:sp>
      <p:sp>
        <p:nvSpPr>
          <p:cNvPr id="4" name="Text 2"/>
          <p:cNvSpPr txBox="1"/>
          <p:nvPr/>
        </p:nvSpPr>
        <p:spPr>
          <a:xfrm>
            <a:off x="566928" y="1060704"/>
            <a:ext cx="8778240" cy="8686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 prompt, vraiment</a:t>
            </a:r>
            <a:endParaRPr lang="en-US" sz="4000" dirty="0"/>
          </a:p>
        </p:txBody>
      </p:sp>
      <p:sp>
        <p:nvSpPr>
          <p:cNvPr id="5" name="Text 3"/>
          <p:cNvSpPr txBox="1"/>
          <p:nvPr/>
        </p:nvSpPr>
        <p:spPr>
          <a:xfrm>
            <a:off x="566928" y="1956816"/>
            <a:ext cx="9692640" cy="384048"/>
          </a:xfrm>
          <a:prstGeom prst="rect">
            <a:avLst/>
          </a:prstGeom>
          <a:noFill/>
          <a:ln/>
        </p:spPr>
        <p:txBody>
          <a:bodyPr wrap="square" lIns="0" tIns="0" rIns="0" bIns="0" rtlCol="0" anchor="ctr"/>
          <a:lstStyle/>
          <a:p>
            <a:pPr indent="0" marL="0">
              <a:buNone/>
            </a:pPr>
            <a:r>
              <a:rPr lang="en-US" sz="1350" i="1" dirty="0">
                <a:solidFill>
                  <a:srgbClr val="9AA6AC"/>
                </a:solidFill>
                <a:latin typeface="Calibri" pitchFamily="34" charset="0"/>
                <a:ea typeface="Calibri" pitchFamily="34" charset="-122"/>
                <a:cs typeface="Calibri" pitchFamily="34" charset="-120"/>
              </a:rPr>
              <a:t>La structure qui sépare un résultat aléatoire d'un résultat maîtrisé.</a:t>
            </a:r>
            <a:endParaRPr lang="en-US" sz="135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9AA6AC"/>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9AA6AC"/>
                </a:solidFill>
                <a:latin typeface="Calibri" pitchFamily="34" charset="0"/>
                <a:ea typeface="Calibri" pitchFamily="34" charset="-122"/>
                <a:cs typeface="Calibri" pitchFamily="34" charset="-120"/>
              </a:rPr>
              <a:t>7</a:t>
            </a:r>
            <a:endParaRPr lang="en-US" sz="900" dirty="0"/>
          </a:p>
        </p:txBody>
      </p:sp>
      <p:sp>
        <p:nvSpPr>
          <p:cNvPr id="8" name="Shape 6"/>
          <p:cNvSpPr/>
          <p:nvPr/>
        </p:nvSpPr>
        <p:spPr>
          <a:xfrm>
            <a:off x="566928" y="3310128"/>
            <a:ext cx="3533546" cy="1444752"/>
          </a:xfrm>
          <a:prstGeom prst="roundRect">
            <a:avLst>
              <a:gd name="adj" fmla="val 5063"/>
            </a:avLst>
          </a:prstGeom>
          <a:solidFill>
            <a:srgbClr val="23292E"/>
          </a:solidFill>
          <a:ln/>
        </p:spPr>
      </p:sp>
      <p:sp>
        <p:nvSpPr>
          <p:cNvPr id="9" name="Text 7"/>
          <p:cNvSpPr txBox="1"/>
          <p:nvPr/>
        </p:nvSpPr>
        <p:spPr>
          <a:xfrm>
            <a:off x="804672" y="3511296"/>
            <a:ext cx="3058058" cy="329184"/>
          </a:xfrm>
          <a:prstGeom prst="rect">
            <a:avLst/>
          </a:prstGeom>
          <a:noFill/>
          <a:ln/>
        </p:spPr>
        <p:txBody>
          <a:bodyPr wrap="square" lIns="0" tIns="0" rIns="0" bIns="0" rtlCol="0" anchor="ctr"/>
          <a:lstStyle/>
          <a:p>
            <a:pPr indent="0" marL="0">
              <a:buNone/>
            </a:pPr>
            <a:r>
              <a:rPr lang="en-US" sz="1900" b="1" dirty="0">
                <a:solidFill>
                  <a:srgbClr val="C0542A"/>
                </a:solidFill>
                <a:latin typeface="Cambria" pitchFamily="34" charset="0"/>
                <a:ea typeface="Cambria" pitchFamily="34" charset="-122"/>
                <a:cs typeface="Cambria" pitchFamily="34" charset="-120"/>
              </a:rPr>
              <a:t>10 min</a:t>
            </a:r>
            <a:endParaRPr lang="en-US" sz="1900" dirty="0"/>
          </a:p>
        </p:txBody>
      </p:sp>
      <p:sp>
        <p:nvSpPr>
          <p:cNvPr id="10" name="Text 8"/>
          <p:cNvSpPr txBox="1"/>
          <p:nvPr/>
        </p:nvSpPr>
        <p:spPr>
          <a:xfrm>
            <a:off x="804672" y="3895344"/>
            <a:ext cx="3058058" cy="786384"/>
          </a:xfrm>
          <a:prstGeom prst="rect">
            <a:avLst/>
          </a:prstGeom>
          <a:noFill/>
          <a:ln/>
        </p:spPr>
        <p:txBody>
          <a:bodyPr wrap="square" lIns="0" tIns="0" rIns="0" bIns="0" rtlCol="0" anchor="t"/>
          <a:lstStyle/>
          <a:p>
            <a:pPr indent="0" marL="0">
              <a:lnSpc>
                <a:spcPct val="112000"/>
              </a:lnSpc>
              <a:buNone/>
            </a:pPr>
            <a:r>
              <a:rPr lang="en-US" sz="1200" dirty="0">
                <a:solidFill>
                  <a:srgbClr val="9AA6AC"/>
                </a:solidFill>
                <a:latin typeface="Calibri" pitchFamily="34" charset="0"/>
                <a:ea typeface="Calibri" pitchFamily="34" charset="-122"/>
                <a:cs typeface="Calibri" pitchFamily="34" charset="-120"/>
              </a:rPr>
              <a:t>La structure en six blocs, écrite en direct sur un vrai projet</a:t>
            </a:r>
            <a:endParaRPr lang="en-US" sz="1200" dirty="0"/>
          </a:p>
        </p:txBody>
      </p:sp>
      <p:sp>
        <p:nvSpPr>
          <p:cNvPr id="11" name="Shape 9"/>
          <p:cNvSpPr/>
          <p:nvPr/>
        </p:nvSpPr>
        <p:spPr>
          <a:xfrm>
            <a:off x="4329074" y="3310128"/>
            <a:ext cx="3533546" cy="1444752"/>
          </a:xfrm>
          <a:prstGeom prst="roundRect">
            <a:avLst>
              <a:gd name="adj" fmla="val 5063"/>
            </a:avLst>
          </a:prstGeom>
          <a:solidFill>
            <a:srgbClr val="23292E"/>
          </a:solidFill>
          <a:ln/>
        </p:spPr>
      </p:sp>
      <p:sp>
        <p:nvSpPr>
          <p:cNvPr id="12" name="Text 10"/>
          <p:cNvSpPr txBox="1"/>
          <p:nvPr/>
        </p:nvSpPr>
        <p:spPr>
          <a:xfrm>
            <a:off x="4566818" y="3511296"/>
            <a:ext cx="3058058" cy="329184"/>
          </a:xfrm>
          <a:prstGeom prst="rect">
            <a:avLst/>
          </a:prstGeom>
          <a:noFill/>
          <a:ln/>
        </p:spPr>
        <p:txBody>
          <a:bodyPr wrap="square" lIns="0" tIns="0" rIns="0" bIns="0" rtlCol="0" anchor="ctr"/>
          <a:lstStyle/>
          <a:p>
            <a:pPr indent="0" marL="0">
              <a:buNone/>
            </a:pPr>
            <a:r>
              <a:rPr lang="en-US" sz="1900" b="1" dirty="0">
                <a:solidFill>
                  <a:srgbClr val="C0542A"/>
                </a:solidFill>
                <a:latin typeface="Cambria" pitchFamily="34" charset="0"/>
                <a:ea typeface="Cambria" pitchFamily="34" charset="-122"/>
                <a:cs typeface="Cambria" pitchFamily="34" charset="-120"/>
              </a:rPr>
              <a:t>5 min</a:t>
            </a:r>
            <a:endParaRPr lang="en-US" sz="1900" dirty="0"/>
          </a:p>
        </p:txBody>
      </p:sp>
      <p:sp>
        <p:nvSpPr>
          <p:cNvPr id="13" name="Text 11"/>
          <p:cNvSpPr txBox="1"/>
          <p:nvPr/>
        </p:nvSpPr>
        <p:spPr>
          <a:xfrm>
            <a:off x="4566818" y="3895344"/>
            <a:ext cx="3058058" cy="786384"/>
          </a:xfrm>
          <a:prstGeom prst="rect">
            <a:avLst/>
          </a:prstGeom>
          <a:noFill/>
          <a:ln/>
        </p:spPr>
        <p:txBody>
          <a:bodyPr wrap="square" lIns="0" tIns="0" rIns="0" bIns="0" rtlCol="0" anchor="t"/>
          <a:lstStyle/>
          <a:p>
            <a:pPr indent="0" marL="0">
              <a:lnSpc>
                <a:spcPct val="112000"/>
              </a:lnSpc>
              <a:buNone/>
            </a:pPr>
            <a:r>
              <a:rPr lang="en-US" sz="1200" dirty="0">
                <a:solidFill>
                  <a:srgbClr val="9AA6AC"/>
                </a:solidFill>
                <a:latin typeface="Calibri" pitchFamily="34" charset="0"/>
                <a:ea typeface="Calibri" pitchFamily="34" charset="-122"/>
                <a:cs typeface="Calibri" pitchFamily="34" charset="-120"/>
              </a:rPr>
              <a:t>Le vocabulaire d'architecture et de photographie qui change tout</a:t>
            </a:r>
            <a:endParaRPr lang="en-US" sz="1200" dirty="0"/>
          </a:p>
        </p:txBody>
      </p:sp>
      <p:sp>
        <p:nvSpPr>
          <p:cNvPr id="14" name="Shape 12"/>
          <p:cNvSpPr/>
          <p:nvPr/>
        </p:nvSpPr>
        <p:spPr>
          <a:xfrm>
            <a:off x="8091221" y="3310128"/>
            <a:ext cx="3533546" cy="1444752"/>
          </a:xfrm>
          <a:prstGeom prst="roundRect">
            <a:avLst>
              <a:gd name="adj" fmla="val 5063"/>
            </a:avLst>
          </a:prstGeom>
          <a:solidFill>
            <a:srgbClr val="23292E"/>
          </a:solidFill>
          <a:ln/>
        </p:spPr>
      </p:sp>
      <p:sp>
        <p:nvSpPr>
          <p:cNvPr id="15" name="Text 13"/>
          <p:cNvSpPr txBox="1"/>
          <p:nvPr/>
        </p:nvSpPr>
        <p:spPr>
          <a:xfrm>
            <a:off x="8328965" y="3511296"/>
            <a:ext cx="3058058" cy="329184"/>
          </a:xfrm>
          <a:prstGeom prst="rect">
            <a:avLst/>
          </a:prstGeom>
          <a:noFill/>
          <a:ln/>
        </p:spPr>
        <p:txBody>
          <a:bodyPr wrap="square" lIns="0" tIns="0" rIns="0" bIns="0" rtlCol="0" anchor="ctr"/>
          <a:lstStyle/>
          <a:p>
            <a:pPr indent="0" marL="0">
              <a:buNone/>
            </a:pPr>
            <a:r>
              <a:rPr lang="en-US" sz="1900" b="1" dirty="0">
                <a:solidFill>
                  <a:srgbClr val="C0542A"/>
                </a:solidFill>
                <a:latin typeface="Cambria" pitchFamily="34" charset="0"/>
                <a:ea typeface="Cambria" pitchFamily="34" charset="-122"/>
                <a:cs typeface="Cambria" pitchFamily="34" charset="-120"/>
              </a:rPr>
              <a:t>15 min</a:t>
            </a:r>
            <a:endParaRPr lang="en-US" sz="1900" dirty="0"/>
          </a:p>
        </p:txBody>
      </p:sp>
      <p:sp>
        <p:nvSpPr>
          <p:cNvPr id="16" name="Text 14"/>
          <p:cNvSpPr txBox="1"/>
          <p:nvPr/>
        </p:nvSpPr>
        <p:spPr>
          <a:xfrm>
            <a:off x="8328965" y="3895344"/>
            <a:ext cx="3058058" cy="786384"/>
          </a:xfrm>
          <a:prstGeom prst="rect">
            <a:avLst/>
          </a:prstGeom>
          <a:noFill/>
          <a:ln/>
        </p:spPr>
        <p:txBody>
          <a:bodyPr wrap="square" lIns="0" tIns="0" rIns="0" bIns="0" rtlCol="0" anchor="t"/>
          <a:lstStyle/>
          <a:p>
            <a:pPr indent="0" marL="0">
              <a:lnSpc>
                <a:spcPct val="112000"/>
              </a:lnSpc>
              <a:buNone/>
            </a:pPr>
            <a:r>
              <a:rPr lang="en-US" sz="1200" dirty="0">
                <a:solidFill>
                  <a:srgbClr val="9AA6AC"/>
                </a:solidFill>
                <a:latin typeface="Calibri" pitchFamily="34" charset="0"/>
                <a:ea typeface="Calibri" pitchFamily="34" charset="-122"/>
                <a:cs typeface="Calibri" pitchFamily="34" charset="-120"/>
              </a:rPr>
              <a:t>Exercice comparatif : le même projet, deux prompts</a:t>
            </a:r>
            <a:endParaRPr lang="en-US" sz="1200" dirty="0"/>
          </a:p>
        </p:txBody>
      </p:sp>
      <p:sp>
        <p:nvSpPr>
          <p:cNvPr id="17" name="Shape 15"/>
          <p:cNvSpPr/>
          <p:nvPr/>
        </p:nvSpPr>
        <p:spPr>
          <a:xfrm>
            <a:off x="566928" y="5632704"/>
            <a:ext cx="11057839" cy="603504"/>
          </a:xfrm>
          <a:prstGeom prst="roundRect">
            <a:avLst>
              <a:gd name="adj" fmla="val 12121"/>
            </a:avLst>
          </a:prstGeom>
          <a:solidFill>
            <a:srgbClr val="23292E"/>
          </a:solidFill>
          <a:ln/>
        </p:spPr>
      </p:sp>
      <p:sp>
        <p:nvSpPr>
          <p:cNvPr id="18" name="Shape 16"/>
          <p:cNvSpPr/>
          <p:nvPr/>
        </p:nvSpPr>
        <p:spPr>
          <a:xfrm>
            <a:off x="786384" y="5788152"/>
            <a:ext cx="603504" cy="292608"/>
          </a:xfrm>
          <a:prstGeom prst="roundRect">
            <a:avLst>
              <a:gd name="adj" fmla="val 21875"/>
            </a:avLst>
          </a:prstGeom>
          <a:solidFill>
            <a:srgbClr val="C0542A"/>
          </a:solidFill>
          <a:ln/>
        </p:spPr>
      </p:sp>
      <p:sp>
        <p:nvSpPr>
          <p:cNvPr id="19" name="Text 17"/>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0" name="Text 18"/>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C8D0D4"/>
                </a:solidFill>
                <a:latin typeface="Calibri" pitchFamily="34" charset="0"/>
                <a:ea typeface="Calibri" pitchFamily="34" charset="-122"/>
                <a:cs typeface="Calibri" pitchFamily="34" charset="-120"/>
              </a:rPr>
              <a:t>Ne dépassez pas quinze minutes de théorie avant le premier exercice. C'est le seuil au-delà duquel on les perd.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00:17</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LA MÉTHODE</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La structure en six blocs</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8</a:t>
            </a:r>
            <a:endParaRPr lang="en-US" sz="900" dirty="0"/>
          </a:p>
        </p:txBody>
      </p:sp>
      <p:sp>
        <p:nvSpPr>
          <p:cNvPr id="8" name="Shape 6"/>
          <p:cNvSpPr/>
          <p:nvPr/>
        </p:nvSpPr>
        <p:spPr>
          <a:xfrm>
            <a:off x="566928" y="1389888"/>
            <a:ext cx="11057839" cy="658368"/>
          </a:xfrm>
          <a:prstGeom prst="roundRect">
            <a:avLst>
              <a:gd name="adj" fmla="val 11111"/>
            </a:avLst>
          </a:prstGeom>
          <a:solidFill>
            <a:srgbClr val="EFF1F2"/>
          </a:solidFill>
          <a:ln/>
        </p:spPr>
      </p:sp>
      <p:sp>
        <p:nvSpPr>
          <p:cNvPr id="9" name="Shape 7"/>
          <p:cNvSpPr/>
          <p:nvPr/>
        </p:nvSpPr>
        <p:spPr>
          <a:xfrm>
            <a:off x="795528" y="1527048"/>
            <a:ext cx="384048" cy="384048"/>
          </a:xfrm>
          <a:prstGeom prst="ellipse">
            <a:avLst/>
          </a:prstGeom>
          <a:solidFill>
            <a:srgbClr val="44555E"/>
          </a:solidFill>
          <a:ln/>
        </p:spPr>
      </p:sp>
      <p:sp>
        <p:nvSpPr>
          <p:cNvPr id="10" name="Text 8"/>
          <p:cNvSpPr txBox="1"/>
          <p:nvPr/>
        </p:nvSpPr>
        <p:spPr>
          <a:xfrm>
            <a:off x="795528" y="1527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316736" y="1453896"/>
            <a:ext cx="228600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Sujet &amp; typologie</a:t>
            </a:r>
            <a:endParaRPr lang="en-US" sz="1500" dirty="0"/>
          </a:p>
        </p:txBody>
      </p:sp>
      <p:sp>
        <p:nvSpPr>
          <p:cNvPr id="12" name="Text 10"/>
          <p:cNvSpPr txBox="1"/>
          <p:nvPr/>
        </p:nvSpPr>
        <p:spPr>
          <a:xfrm>
            <a:off x="1316736" y="1737360"/>
            <a:ext cx="2286000" cy="256032"/>
          </a:xfrm>
          <a:prstGeom prst="rect">
            <a:avLst/>
          </a:prstGeom>
          <a:noFill/>
          <a:ln/>
        </p:spPr>
        <p:txBody>
          <a:bodyPr wrap="square" lIns="0" tIns="0" rIns="0" bIns="0" rtlCol="0" anchor="ctr"/>
          <a:lstStyle/>
          <a:p>
            <a:pPr indent="0" marL="0">
              <a:buNone/>
            </a:pPr>
            <a:r>
              <a:rPr lang="en-US" sz="950" i="1" dirty="0">
                <a:solidFill>
                  <a:srgbClr val="78868D"/>
                </a:solidFill>
                <a:latin typeface="Calibri" pitchFamily="34" charset="0"/>
                <a:ea typeface="Calibri" pitchFamily="34" charset="-122"/>
                <a:cs typeface="Calibri" pitchFamily="34" charset="-120"/>
              </a:rPr>
              <a:t>Ce que c'est, en langage d'architecte.</a:t>
            </a:r>
            <a:endParaRPr lang="en-US" sz="950" dirty="0"/>
          </a:p>
        </p:txBody>
      </p:sp>
      <p:sp>
        <p:nvSpPr>
          <p:cNvPr id="13" name="Text 11"/>
          <p:cNvSpPr txBox="1"/>
          <p:nvPr/>
        </p:nvSpPr>
        <p:spPr>
          <a:xfrm>
            <a:off x="3767328" y="1389888"/>
            <a:ext cx="7583119" cy="658368"/>
          </a:xfrm>
          <a:prstGeom prst="rect">
            <a:avLst/>
          </a:prstGeom>
          <a:noFill/>
          <a:ln/>
        </p:spPr>
        <p:txBody>
          <a:bodyPr wrap="square" lIns="0" tIns="0" rIns="0" bIns="0" rtlCol="0" anchor="ctr"/>
          <a:lstStyle/>
          <a:p>
            <a:pPr indent="0" marL="0">
              <a:lnSpc>
                <a:spcPct val="108000"/>
              </a:lnSpc>
              <a:buNone/>
            </a:pPr>
            <a:r>
              <a:rPr lang="en-US" sz="1150" dirty="0">
                <a:solidFill>
                  <a:srgbClr val="44555E"/>
                </a:solidFill>
                <a:latin typeface="Calibri" pitchFamily="34" charset="0"/>
                <a:ea typeface="Calibri" pitchFamily="34" charset="-122"/>
                <a:cs typeface="Calibri" pitchFamily="34" charset="-120"/>
              </a:rPr>
              <a:t>« Maison individuelle contemporaine, R+1, toiture à deux pans asymétriques »</a:t>
            </a:r>
            <a:endParaRPr lang="en-US" sz="1150" dirty="0"/>
          </a:p>
        </p:txBody>
      </p:sp>
      <p:sp>
        <p:nvSpPr>
          <p:cNvPr id="14" name="Shape 12"/>
          <p:cNvSpPr/>
          <p:nvPr/>
        </p:nvSpPr>
        <p:spPr>
          <a:xfrm>
            <a:off x="566928" y="2103120"/>
            <a:ext cx="11057839" cy="658368"/>
          </a:xfrm>
          <a:prstGeom prst="roundRect">
            <a:avLst>
              <a:gd name="adj" fmla="val 11111"/>
            </a:avLst>
          </a:prstGeom>
          <a:solidFill>
            <a:srgbClr val="F6E7E0"/>
          </a:solidFill>
          <a:ln/>
        </p:spPr>
      </p:sp>
      <p:sp>
        <p:nvSpPr>
          <p:cNvPr id="15" name="Shape 13"/>
          <p:cNvSpPr/>
          <p:nvPr/>
        </p:nvSpPr>
        <p:spPr>
          <a:xfrm>
            <a:off x="795528" y="2240280"/>
            <a:ext cx="384048" cy="384048"/>
          </a:xfrm>
          <a:prstGeom prst="ellipse">
            <a:avLst/>
          </a:prstGeom>
          <a:solidFill>
            <a:srgbClr val="C0542A"/>
          </a:solidFill>
          <a:ln/>
        </p:spPr>
      </p:sp>
      <p:sp>
        <p:nvSpPr>
          <p:cNvPr id="16" name="Text 14"/>
          <p:cNvSpPr txBox="1"/>
          <p:nvPr/>
        </p:nvSpPr>
        <p:spPr>
          <a:xfrm>
            <a:off x="795528"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1316736" y="2167128"/>
            <a:ext cx="228600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Cadrage</a:t>
            </a:r>
            <a:endParaRPr lang="en-US" sz="1500" dirty="0"/>
          </a:p>
        </p:txBody>
      </p:sp>
      <p:sp>
        <p:nvSpPr>
          <p:cNvPr id="18" name="Text 16"/>
          <p:cNvSpPr txBox="1"/>
          <p:nvPr/>
        </p:nvSpPr>
        <p:spPr>
          <a:xfrm>
            <a:off x="1316736" y="2450592"/>
            <a:ext cx="2286000" cy="256032"/>
          </a:xfrm>
          <a:prstGeom prst="rect">
            <a:avLst/>
          </a:prstGeom>
          <a:noFill/>
          <a:ln/>
        </p:spPr>
        <p:txBody>
          <a:bodyPr wrap="square" lIns="0" tIns="0" rIns="0" bIns="0" rtlCol="0" anchor="ctr"/>
          <a:lstStyle/>
          <a:p>
            <a:pPr indent="0" marL="0">
              <a:buNone/>
            </a:pPr>
            <a:r>
              <a:rPr lang="en-US" sz="950" i="1" dirty="0">
                <a:solidFill>
                  <a:srgbClr val="78868D"/>
                </a:solidFill>
                <a:latin typeface="Calibri" pitchFamily="34" charset="0"/>
                <a:ea typeface="Calibri" pitchFamily="34" charset="-122"/>
                <a:cs typeface="Calibri" pitchFamily="34" charset="-120"/>
              </a:rPr>
              <a:t>Où est l'appareil photo. Le bloc le plus négligé.</a:t>
            </a:r>
            <a:endParaRPr lang="en-US" sz="950" dirty="0"/>
          </a:p>
        </p:txBody>
      </p:sp>
      <p:sp>
        <p:nvSpPr>
          <p:cNvPr id="19" name="Text 17"/>
          <p:cNvSpPr txBox="1"/>
          <p:nvPr/>
        </p:nvSpPr>
        <p:spPr>
          <a:xfrm>
            <a:off x="3767328" y="2103120"/>
            <a:ext cx="7583119" cy="658368"/>
          </a:xfrm>
          <a:prstGeom prst="rect">
            <a:avLst/>
          </a:prstGeom>
          <a:noFill/>
          <a:ln/>
        </p:spPr>
        <p:txBody>
          <a:bodyPr wrap="square" lIns="0" tIns="0" rIns="0" bIns="0" rtlCol="0" anchor="ctr"/>
          <a:lstStyle/>
          <a:p>
            <a:pPr indent="0" marL="0">
              <a:lnSpc>
                <a:spcPct val="108000"/>
              </a:lnSpc>
              <a:buNone/>
            </a:pPr>
            <a:r>
              <a:rPr lang="en-US" sz="1150" dirty="0">
                <a:solidFill>
                  <a:srgbClr val="8A4A34"/>
                </a:solidFill>
                <a:latin typeface="Calibri" pitchFamily="34" charset="0"/>
                <a:ea typeface="Calibri" pitchFamily="34" charset="-122"/>
                <a:cs typeface="Calibri" pitchFamily="34" charset="-120"/>
              </a:rPr>
              <a:t>« Vue depuis l'angle sud-ouest, objectif 24 mm, hauteur d'œil 1,60 m, verticales redressées »</a:t>
            </a:r>
            <a:endParaRPr lang="en-US" sz="1150" dirty="0"/>
          </a:p>
        </p:txBody>
      </p:sp>
      <p:sp>
        <p:nvSpPr>
          <p:cNvPr id="20" name="Shape 18"/>
          <p:cNvSpPr/>
          <p:nvPr/>
        </p:nvSpPr>
        <p:spPr>
          <a:xfrm>
            <a:off x="566928" y="2816352"/>
            <a:ext cx="11057839" cy="658368"/>
          </a:xfrm>
          <a:prstGeom prst="roundRect">
            <a:avLst>
              <a:gd name="adj" fmla="val 11111"/>
            </a:avLst>
          </a:prstGeom>
          <a:solidFill>
            <a:srgbClr val="EFF1F2"/>
          </a:solidFill>
          <a:ln/>
        </p:spPr>
      </p:sp>
      <p:sp>
        <p:nvSpPr>
          <p:cNvPr id="21" name="Shape 19"/>
          <p:cNvSpPr/>
          <p:nvPr/>
        </p:nvSpPr>
        <p:spPr>
          <a:xfrm>
            <a:off x="795528" y="2953512"/>
            <a:ext cx="384048" cy="384048"/>
          </a:xfrm>
          <a:prstGeom prst="ellipse">
            <a:avLst/>
          </a:prstGeom>
          <a:solidFill>
            <a:srgbClr val="44555E"/>
          </a:solidFill>
          <a:ln/>
        </p:spPr>
      </p:sp>
      <p:sp>
        <p:nvSpPr>
          <p:cNvPr id="22" name="Text 20"/>
          <p:cNvSpPr txBox="1"/>
          <p:nvPr/>
        </p:nvSpPr>
        <p:spPr>
          <a:xfrm>
            <a:off x="795528" y="2953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1316736" y="2880360"/>
            <a:ext cx="228600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Matériaux</a:t>
            </a:r>
            <a:endParaRPr lang="en-US" sz="1500" dirty="0"/>
          </a:p>
        </p:txBody>
      </p:sp>
      <p:sp>
        <p:nvSpPr>
          <p:cNvPr id="24" name="Text 22"/>
          <p:cNvSpPr txBox="1"/>
          <p:nvPr/>
        </p:nvSpPr>
        <p:spPr>
          <a:xfrm>
            <a:off x="1316736" y="3163824"/>
            <a:ext cx="2286000" cy="256032"/>
          </a:xfrm>
          <a:prstGeom prst="rect">
            <a:avLst/>
          </a:prstGeom>
          <a:noFill/>
          <a:ln/>
        </p:spPr>
        <p:txBody>
          <a:bodyPr wrap="square" lIns="0" tIns="0" rIns="0" bIns="0" rtlCol="0" anchor="ctr"/>
          <a:lstStyle/>
          <a:p>
            <a:pPr indent="0" marL="0">
              <a:buNone/>
            </a:pPr>
            <a:r>
              <a:rPr lang="en-US" sz="950" i="1" dirty="0">
                <a:solidFill>
                  <a:srgbClr val="78868D"/>
                </a:solidFill>
                <a:latin typeface="Calibri" pitchFamily="34" charset="0"/>
                <a:ea typeface="Calibri" pitchFamily="34" charset="-122"/>
                <a:cs typeface="Calibri" pitchFamily="34" charset="-120"/>
              </a:rPr>
              <a:t>Nommés précisément, pas par famille.</a:t>
            </a:r>
            <a:endParaRPr lang="en-US" sz="950" dirty="0"/>
          </a:p>
        </p:txBody>
      </p:sp>
      <p:sp>
        <p:nvSpPr>
          <p:cNvPr id="25" name="Text 23"/>
          <p:cNvSpPr txBox="1"/>
          <p:nvPr/>
        </p:nvSpPr>
        <p:spPr>
          <a:xfrm>
            <a:off x="3767328" y="2816352"/>
            <a:ext cx="7583119" cy="658368"/>
          </a:xfrm>
          <a:prstGeom prst="rect">
            <a:avLst/>
          </a:prstGeom>
          <a:noFill/>
          <a:ln/>
        </p:spPr>
        <p:txBody>
          <a:bodyPr wrap="square" lIns="0" tIns="0" rIns="0" bIns="0" rtlCol="0" anchor="ctr"/>
          <a:lstStyle/>
          <a:p>
            <a:pPr indent="0" marL="0">
              <a:lnSpc>
                <a:spcPct val="108000"/>
              </a:lnSpc>
              <a:buNone/>
            </a:pPr>
            <a:r>
              <a:rPr lang="en-US" sz="1150" dirty="0">
                <a:solidFill>
                  <a:srgbClr val="44555E"/>
                </a:solidFill>
                <a:latin typeface="Calibri" pitchFamily="34" charset="0"/>
                <a:ea typeface="Calibri" pitchFamily="34" charset="-122"/>
                <a:cs typeface="Calibri" pitchFamily="34" charset="-120"/>
              </a:rPr>
              <a:t>« Bardage mélèze vertical non traité, lames de 12 cm, soubassement béton brut lisse, menuiseries aluminium anthracite »</a:t>
            </a:r>
            <a:endParaRPr lang="en-US" sz="1150" dirty="0"/>
          </a:p>
        </p:txBody>
      </p:sp>
      <p:sp>
        <p:nvSpPr>
          <p:cNvPr id="26" name="Shape 24"/>
          <p:cNvSpPr/>
          <p:nvPr/>
        </p:nvSpPr>
        <p:spPr>
          <a:xfrm>
            <a:off x="566928" y="3529584"/>
            <a:ext cx="11057839" cy="658368"/>
          </a:xfrm>
          <a:prstGeom prst="roundRect">
            <a:avLst>
              <a:gd name="adj" fmla="val 11111"/>
            </a:avLst>
          </a:prstGeom>
          <a:solidFill>
            <a:srgbClr val="F6F7F8"/>
          </a:solidFill>
          <a:ln/>
        </p:spPr>
      </p:sp>
      <p:sp>
        <p:nvSpPr>
          <p:cNvPr id="27" name="Shape 25"/>
          <p:cNvSpPr/>
          <p:nvPr/>
        </p:nvSpPr>
        <p:spPr>
          <a:xfrm>
            <a:off x="795528" y="3666744"/>
            <a:ext cx="384048" cy="384048"/>
          </a:xfrm>
          <a:prstGeom prst="ellipse">
            <a:avLst/>
          </a:prstGeom>
          <a:solidFill>
            <a:srgbClr val="44555E"/>
          </a:solidFill>
          <a:ln/>
        </p:spPr>
      </p:sp>
      <p:sp>
        <p:nvSpPr>
          <p:cNvPr id="28" name="Text 26"/>
          <p:cNvSpPr txBox="1"/>
          <p:nvPr/>
        </p:nvSpPr>
        <p:spPr>
          <a:xfrm>
            <a:off x="795528" y="3666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txBox="1"/>
          <p:nvPr/>
        </p:nvSpPr>
        <p:spPr>
          <a:xfrm>
            <a:off x="1316736" y="3593592"/>
            <a:ext cx="228600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Lumière &amp; ciel</a:t>
            </a:r>
            <a:endParaRPr lang="en-US" sz="1500" dirty="0"/>
          </a:p>
        </p:txBody>
      </p:sp>
      <p:sp>
        <p:nvSpPr>
          <p:cNvPr id="30" name="Text 28"/>
          <p:cNvSpPr txBox="1"/>
          <p:nvPr/>
        </p:nvSpPr>
        <p:spPr>
          <a:xfrm>
            <a:off x="1316736" y="3877056"/>
            <a:ext cx="2286000" cy="256032"/>
          </a:xfrm>
          <a:prstGeom prst="rect">
            <a:avLst/>
          </a:prstGeom>
          <a:noFill/>
          <a:ln/>
        </p:spPr>
        <p:txBody>
          <a:bodyPr wrap="square" lIns="0" tIns="0" rIns="0" bIns="0" rtlCol="0" anchor="ctr"/>
          <a:lstStyle/>
          <a:p>
            <a:pPr indent="0" marL="0">
              <a:buNone/>
            </a:pPr>
            <a:r>
              <a:rPr lang="en-US" sz="950" i="1" dirty="0">
                <a:solidFill>
                  <a:srgbClr val="78868D"/>
                </a:solidFill>
                <a:latin typeface="Calibri" pitchFamily="34" charset="0"/>
                <a:ea typeface="Calibri" pitchFamily="34" charset="-122"/>
                <a:cs typeface="Calibri" pitchFamily="34" charset="-120"/>
              </a:rPr>
              <a:t>L'heure, la météo, la direction des ombres.</a:t>
            </a:r>
            <a:endParaRPr lang="en-US" sz="950" dirty="0"/>
          </a:p>
        </p:txBody>
      </p:sp>
      <p:sp>
        <p:nvSpPr>
          <p:cNvPr id="31" name="Text 29"/>
          <p:cNvSpPr txBox="1"/>
          <p:nvPr/>
        </p:nvSpPr>
        <p:spPr>
          <a:xfrm>
            <a:off x="3767328" y="3529584"/>
            <a:ext cx="7583119" cy="658368"/>
          </a:xfrm>
          <a:prstGeom prst="rect">
            <a:avLst/>
          </a:prstGeom>
          <a:noFill/>
          <a:ln/>
        </p:spPr>
        <p:txBody>
          <a:bodyPr wrap="square" lIns="0" tIns="0" rIns="0" bIns="0" rtlCol="0" anchor="ctr"/>
          <a:lstStyle/>
          <a:p>
            <a:pPr indent="0" marL="0">
              <a:lnSpc>
                <a:spcPct val="108000"/>
              </a:lnSpc>
              <a:buNone/>
            </a:pPr>
            <a:r>
              <a:rPr lang="en-US" sz="1150" dirty="0">
                <a:solidFill>
                  <a:srgbClr val="44555E"/>
                </a:solidFill>
                <a:latin typeface="Calibri" pitchFamily="34" charset="0"/>
                <a:ea typeface="Calibri" pitchFamily="34" charset="-122"/>
                <a:cs typeface="Calibri" pitchFamily="34" charset="-120"/>
              </a:rPr>
              <a:t>« Fin d'après-midi, ciel légèrement voilé, ombres longues portées vers l'est »</a:t>
            </a:r>
            <a:endParaRPr lang="en-US" sz="1150" dirty="0"/>
          </a:p>
        </p:txBody>
      </p:sp>
      <p:sp>
        <p:nvSpPr>
          <p:cNvPr id="32" name="Shape 30"/>
          <p:cNvSpPr/>
          <p:nvPr/>
        </p:nvSpPr>
        <p:spPr>
          <a:xfrm>
            <a:off x="566928" y="4242816"/>
            <a:ext cx="11057839" cy="658368"/>
          </a:xfrm>
          <a:prstGeom prst="roundRect">
            <a:avLst>
              <a:gd name="adj" fmla="val 11111"/>
            </a:avLst>
          </a:prstGeom>
          <a:solidFill>
            <a:srgbClr val="EFF1F2"/>
          </a:solidFill>
          <a:ln/>
        </p:spPr>
      </p:sp>
      <p:sp>
        <p:nvSpPr>
          <p:cNvPr id="33" name="Shape 31"/>
          <p:cNvSpPr/>
          <p:nvPr/>
        </p:nvSpPr>
        <p:spPr>
          <a:xfrm>
            <a:off x="795528" y="4379976"/>
            <a:ext cx="384048" cy="384048"/>
          </a:xfrm>
          <a:prstGeom prst="ellipse">
            <a:avLst/>
          </a:prstGeom>
          <a:solidFill>
            <a:srgbClr val="44555E"/>
          </a:solidFill>
          <a:ln/>
        </p:spPr>
      </p:sp>
      <p:sp>
        <p:nvSpPr>
          <p:cNvPr id="34" name="Text 32"/>
          <p:cNvSpPr txBox="1"/>
          <p:nvPr/>
        </p:nvSpPr>
        <p:spPr>
          <a:xfrm>
            <a:off x="795528" y="4379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5" name="Text 33"/>
          <p:cNvSpPr txBox="1"/>
          <p:nvPr/>
        </p:nvSpPr>
        <p:spPr>
          <a:xfrm>
            <a:off x="1316736" y="4306824"/>
            <a:ext cx="228600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Contexte &amp; staffage</a:t>
            </a:r>
            <a:endParaRPr lang="en-US" sz="1500" dirty="0"/>
          </a:p>
        </p:txBody>
      </p:sp>
      <p:sp>
        <p:nvSpPr>
          <p:cNvPr id="36" name="Text 34"/>
          <p:cNvSpPr txBox="1"/>
          <p:nvPr/>
        </p:nvSpPr>
        <p:spPr>
          <a:xfrm>
            <a:off x="1316736" y="4590288"/>
            <a:ext cx="2286000" cy="256032"/>
          </a:xfrm>
          <a:prstGeom prst="rect">
            <a:avLst/>
          </a:prstGeom>
          <a:noFill/>
          <a:ln/>
        </p:spPr>
        <p:txBody>
          <a:bodyPr wrap="square" lIns="0" tIns="0" rIns="0" bIns="0" rtlCol="0" anchor="ctr"/>
          <a:lstStyle/>
          <a:p>
            <a:pPr indent="0" marL="0">
              <a:buNone/>
            </a:pPr>
            <a:r>
              <a:rPr lang="en-US" sz="950" i="1" dirty="0">
                <a:solidFill>
                  <a:srgbClr val="78868D"/>
                </a:solidFill>
                <a:latin typeface="Calibri" pitchFamily="34" charset="0"/>
                <a:ea typeface="Calibri" pitchFamily="34" charset="-122"/>
                <a:cs typeface="Calibri" pitchFamily="34" charset="-120"/>
              </a:rPr>
              <a:t>Ce qui donne l'échelle et la vraisemblance.</a:t>
            </a:r>
            <a:endParaRPr lang="en-US" sz="950" dirty="0"/>
          </a:p>
        </p:txBody>
      </p:sp>
      <p:sp>
        <p:nvSpPr>
          <p:cNvPr id="37" name="Text 35"/>
          <p:cNvSpPr txBox="1"/>
          <p:nvPr/>
        </p:nvSpPr>
        <p:spPr>
          <a:xfrm>
            <a:off x="3767328" y="4242816"/>
            <a:ext cx="7583119" cy="658368"/>
          </a:xfrm>
          <a:prstGeom prst="rect">
            <a:avLst/>
          </a:prstGeom>
          <a:noFill/>
          <a:ln/>
        </p:spPr>
        <p:txBody>
          <a:bodyPr wrap="square" lIns="0" tIns="0" rIns="0" bIns="0" rtlCol="0" anchor="ctr"/>
          <a:lstStyle/>
          <a:p>
            <a:pPr indent="0" marL="0">
              <a:lnSpc>
                <a:spcPct val="108000"/>
              </a:lnSpc>
              <a:buNone/>
            </a:pPr>
            <a:r>
              <a:rPr lang="en-US" sz="1150" dirty="0">
                <a:solidFill>
                  <a:srgbClr val="44555E"/>
                </a:solidFill>
                <a:latin typeface="Calibri" pitchFamily="34" charset="0"/>
                <a:ea typeface="Calibri" pitchFamily="34" charset="-122"/>
                <a:cs typeface="Calibri" pitchFamily="34" charset="-120"/>
              </a:rPr>
              <a:t>« Jardin en cours de plantation, allée en graviers, deux personnes de dos à l'échelle »</a:t>
            </a:r>
            <a:endParaRPr lang="en-US" sz="1150" dirty="0"/>
          </a:p>
        </p:txBody>
      </p:sp>
      <p:sp>
        <p:nvSpPr>
          <p:cNvPr id="38" name="Shape 36"/>
          <p:cNvSpPr/>
          <p:nvPr/>
        </p:nvSpPr>
        <p:spPr>
          <a:xfrm>
            <a:off x="566928" y="4956048"/>
            <a:ext cx="11057839" cy="658368"/>
          </a:xfrm>
          <a:prstGeom prst="roundRect">
            <a:avLst>
              <a:gd name="adj" fmla="val 11111"/>
            </a:avLst>
          </a:prstGeom>
          <a:solidFill>
            <a:srgbClr val="F6F7F8"/>
          </a:solidFill>
          <a:ln/>
        </p:spPr>
      </p:sp>
      <p:sp>
        <p:nvSpPr>
          <p:cNvPr id="39" name="Shape 37"/>
          <p:cNvSpPr/>
          <p:nvPr/>
        </p:nvSpPr>
        <p:spPr>
          <a:xfrm>
            <a:off x="795528" y="5093208"/>
            <a:ext cx="384048" cy="384048"/>
          </a:xfrm>
          <a:prstGeom prst="ellipse">
            <a:avLst/>
          </a:prstGeom>
          <a:solidFill>
            <a:srgbClr val="44555E"/>
          </a:solidFill>
          <a:ln/>
        </p:spPr>
      </p:sp>
      <p:sp>
        <p:nvSpPr>
          <p:cNvPr id="40" name="Text 38"/>
          <p:cNvSpPr txBox="1"/>
          <p:nvPr/>
        </p:nvSpPr>
        <p:spPr>
          <a:xfrm>
            <a:off x="795528" y="5093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1" name="Text 39"/>
          <p:cNvSpPr txBox="1"/>
          <p:nvPr/>
        </p:nvSpPr>
        <p:spPr>
          <a:xfrm>
            <a:off x="1316736" y="5020056"/>
            <a:ext cx="228600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Rendu</a:t>
            </a:r>
            <a:endParaRPr lang="en-US" sz="1500" dirty="0"/>
          </a:p>
        </p:txBody>
      </p:sp>
      <p:sp>
        <p:nvSpPr>
          <p:cNvPr id="42" name="Text 40"/>
          <p:cNvSpPr txBox="1"/>
          <p:nvPr/>
        </p:nvSpPr>
        <p:spPr>
          <a:xfrm>
            <a:off x="1316736" y="5303520"/>
            <a:ext cx="2286000" cy="256032"/>
          </a:xfrm>
          <a:prstGeom prst="rect">
            <a:avLst/>
          </a:prstGeom>
          <a:noFill/>
          <a:ln/>
        </p:spPr>
        <p:txBody>
          <a:bodyPr wrap="square" lIns="0" tIns="0" rIns="0" bIns="0" rtlCol="0" anchor="ctr"/>
          <a:lstStyle/>
          <a:p>
            <a:pPr indent="0" marL="0">
              <a:buNone/>
            </a:pPr>
            <a:r>
              <a:rPr lang="en-US" sz="950" i="1" dirty="0">
                <a:solidFill>
                  <a:srgbClr val="78868D"/>
                </a:solidFill>
                <a:latin typeface="Calibri" pitchFamily="34" charset="0"/>
                <a:ea typeface="Calibri" pitchFamily="34" charset="-122"/>
                <a:cs typeface="Calibri" pitchFamily="34" charset="-120"/>
              </a:rPr>
              <a:t>La nature de l'image, pas sa qualité.</a:t>
            </a:r>
            <a:endParaRPr lang="en-US" sz="950" dirty="0"/>
          </a:p>
        </p:txBody>
      </p:sp>
      <p:sp>
        <p:nvSpPr>
          <p:cNvPr id="43" name="Text 41"/>
          <p:cNvSpPr txBox="1"/>
          <p:nvPr/>
        </p:nvSpPr>
        <p:spPr>
          <a:xfrm>
            <a:off x="3767328" y="4956048"/>
            <a:ext cx="7583119" cy="658368"/>
          </a:xfrm>
          <a:prstGeom prst="rect">
            <a:avLst/>
          </a:prstGeom>
          <a:noFill/>
          <a:ln/>
        </p:spPr>
        <p:txBody>
          <a:bodyPr wrap="square" lIns="0" tIns="0" rIns="0" bIns="0" rtlCol="0" anchor="ctr"/>
          <a:lstStyle/>
          <a:p>
            <a:pPr indent="0" marL="0">
              <a:lnSpc>
                <a:spcPct val="108000"/>
              </a:lnSpc>
              <a:buNone/>
            </a:pPr>
            <a:r>
              <a:rPr lang="en-US" sz="1150" dirty="0">
                <a:solidFill>
                  <a:srgbClr val="44555E"/>
                </a:solidFill>
                <a:latin typeface="Calibri" pitchFamily="34" charset="0"/>
                <a:ea typeface="Calibri" pitchFamily="34" charset="-122"/>
                <a:cs typeface="Calibri" pitchFamily="34" charset="-120"/>
              </a:rPr>
              <a:t>« Photographie d'architecture, netteté d'ensemble, colorimétrie neutre, aucune distorsion »</a:t>
            </a:r>
            <a:endParaRPr lang="en-US" sz="1150" dirty="0"/>
          </a:p>
        </p:txBody>
      </p:sp>
      <p:sp>
        <p:nvSpPr>
          <p:cNvPr id="44" name="Shape 42"/>
          <p:cNvSpPr/>
          <p:nvPr/>
        </p:nvSpPr>
        <p:spPr>
          <a:xfrm>
            <a:off x="566928" y="5632704"/>
            <a:ext cx="11057839" cy="603504"/>
          </a:xfrm>
          <a:prstGeom prst="roundRect">
            <a:avLst>
              <a:gd name="adj" fmla="val 12121"/>
            </a:avLst>
          </a:prstGeom>
          <a:solidFill>
            <a:srgbClr val="F6E7E0"/>
          </a:solidFill>
          <a:ln/>
        </p:spPr>
      </p:sp>
      <p:sp>
        <p:nvSpPr>
          <p:cNvPr id="45" name="Shape 43"/>
          <p:cNvSpPr/>
          <p:nvPr/>
        </p:nvSpPr>
        <p:spPr>
          <a:xfrm>
            <a:off x="786384" y="5788152"/>
            <a:ext cx="603504" cy="292608"/>
          </a:xfrm>
          <a:prstGeom prst="roundRect">
            <a:avLst>
              <a:gd name="adj" fmla="val 21875"/>
            </a:avLst>
          </a:prstGeom>
          <a:solidFill>
            <a:srgbClr val="C0542A"/>
          </a:solidFill>
          <a:ln/>
        </p:spPr>
      </p:sp>
      <p:sp>
        <p:nvSpPr>
          <p:cNvPr id="46" name="Text 44"/>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47" name="Text 45"/>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L'ordre compte : le modèle lit du général au particulier. Un matériau annoncé avant le cadrage se retrouve appliqué à toute l'image.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00:23</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LE VOCABULAIRE</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Ce qui compte, et ce qui ne sert à rien</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9</a:t>
            </a:r>
            <a:endParaRPr lang="en-US" sz="900" dirty="0"/>
          </a:p>
        </p:txBody>
      </p:sp>
      <p:sp>
        <p:nvSpPr>
          <p:cNvPr id="8" name="Shape 6"/>
          <p:cNvSpPr/>
          <p:nvPr/>
        </p:nvSpPr>
        <p:spPr>
          <a:xfrm>
            <a:off x="566928" y="1389888"/>
            <a:ext cx="5346040" cy="4114800"/>
          </a:xfrm>
          <a:prstGeom prst="roundRect">
            <a:avLst>
              <a:gd name="adj" fmla="val 1778"/>
            </a:avLst>
          </a:prstGeom>
          <a:solidFill>
            <a:srgbClr val="EFF1F2"/>
          </a:solidFill>
          <a:ln/>
        </p:spPr>
      </p:sp>
      <p:sp>
        <p:nvSpPr>
          <p:cNvPr id="9" name="Text 7"/>
          <p:cNvSpPr txBox="1"/>
          <p:nvPr/>
        </p:nvSpPr>
        <p:spPr>
          <a:xfrm>
            <a:off x="8412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CE QUI CHANGE LE RÉSULTAT</a:t>
            </a:r>
            <a:endParaRPr lang="en-US" sz="1000" dirty="0"/>
          </a:p>
        </p:txBody>
      </p:sp>
      <p:sp>
        <p:nvSpPr>
          <p:cNvPr id="10" name="Text 8"/>
          <p:cNvSpPr txBox="1"/>
          <p:nvPr/>
        </p:nvSpPr>
        <p:spPr>
          <a:xfrm>
            <a:off x="841248" y="1883664"/>
            <a:ext cx="4797400" cy="219456"/>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Typologie &amp; volumétrie</a:t>
            </a:r>
            <a:endParaRPr lang="en-US" sz="1150" dirty="0"/>
          </a:p>
        </p:txBody>
      </p:sp>
      <p:sp>
        <p:nvSpPr>
          <p:cNvPr id="11" name="Text 9"/>
          <p:cNvSpPr txBox="1"/>
          <p:nvPr/>
        </p:nvSpPr>
        <p:spPr>
          <a:xfrm>
            <a:off x="841248" y="2112264"/>
            <a:ext cx="4797400" cy="457200"/>
          </a:xfrm>
          <a:prstGeom prst="rect">
            <a:avLst/>
          </a:prstGeom>
          <a:noFill/>
          <a:ln/>
        </p:spPr>
        <p:txBody>
          <a:bodyPr wrap="square" lIns="0" tIns="0" rIns="0" bIns="0" rtlCol="0" anchor="ctr"/>
          <a:lstStyle/>
          <a:p>
            <a:pPr indent="0" marL="0">
              <a:lnSpc>
                <a:spcPct val="110000"/>
              </a:lnSpc>
              <a:buNone/>
            </a:pPr>
            <a:r>
              <a:rPr lang="en-US" sz="1150" i="1" dirty="0">
                <a:solidFill>
                  <a:srgbClr val="44555E"/>
                </a:solidFill>
                <a:latin typeface="Calibri" pitchFamily="34" charset="0"/>
                <a:ea typeface="Calibri" pitchFamily="34" charset="-122"/>
                <a:cs typeface="Calibri" pitchFamily="34" charset="-120"/>
              </a:rPr>
              <a:t>R+1, attique, redent, faille, porte-à-faux, émergence</a:t>
            </a:r>
            <a:endParaRPr lang="en-US" sz="1150" dirty="0"/>
          </a:p>
        </p:txBody>
      </p:sp>
      <p:sp>
        <p:nvSpPr>
          <p:cNvPr id="12" name="Text 10"/>
          <p:cNvSpPr txBox="1"/>
          <p:nvPr/>
        </p:nvSpPr>
        <p:spPr>
          <a:xfrm>
            <a:off x="841248" y="2596896"/>
            <a:ext cx="4797400" cy="219456"/>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Matières nommées</a:t>
            </a:r>
            <a:endParaRPr lang="en-US" sz="1150" dirty="0"/>
          </a:p>
        </p:txBody>
      </p:sp>
      <p:sp>
        <p:nvSpPr>
          <p:cNvPr id="13" name="Text 11"/>
          <p:cNvSpPr txBox="1"/>
          <p:nvPr/>
        </p:nvSpPr>
        <p:spPr>
          <a:xfrm>
            <a:off x="841248" y="2825496"/>
            <a:ext cx="4797400" cy="457200"/>
          </a:xfrm>
          <a:prstGeom prst="rect">
            <a:avLst/>
          </a:prstGeom>
          <a:noFill/>
          <a:ln/>
        </p:spPr>
        <p:txBody>
          <a:bodyPr wrap="square" lIns="0" tIns="0" rIns="0" bIns="0" rtlCol="0" anchor="ctr"/>
          <a:lstStyle/>
          <a:p>
            <a:pPr indent="0" marL="0">
              <a:lnSpc>
                <a:spcPct val="110000"/>
              </a:lnSpc>
              <a:buNone/>
            </a:pPr>
            <a:r>
              <a:rPr lang="en-US" sz="1150" i="1" dirty="0">
                <a:solidFill>
                  <a:srgbClr val="44555E"/>
                </a:solidFill>
                <a:latin typeface="Calibri" pitchFamily="34" charset="0"/>
                <a:ea typeface="Calibri" pitchFamily="34" charset="-122"/>
                <a:cs typeface="Calibri" pitchFamily="34" charset="-120"/>
              </a:rPr>
              <a:t>mélèze, zinc à joint debout, béton matricé, brique de parement, enduit taloché</a:t>
            </a:r>
            <a:endParaRPr lang="en-US" sz="1150" dirty="0"/>
          </a:p>
        </p:txBody>
      </p:sp>
      <p:sp>
        <p:nvSpPr>
          <p:cNvPr id="14" name="Text 12"/>
          <p:cNvSpPr txBox="1"/>
          <p:nvPr/>
        </p:nvSpPr>
        <p:spPr>
          <a:xfrm>
            <a:off x="841248" y="3310128"/>
            <a:ext cx="4797400" cy="219456"/>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Mise en œuvre</a:t>
            </a:r>
            <a:endParaRPr lang="en-US" sz="1150" dirty="0"/>
          </a:p>
        </p:txBody>
      </p:sp>
      <p:sp>
        <p:nvSpPr>
          <p:cNvPr id="15" name="Text 13"/>
          <p:cNvSpPr txBox="1"/>
          <p:nvPr/>
        </p:nvSpPr>
        <p:spPr>
          <a:xfrm>
            <a:off x="841248" y="3538728"/>
            <a:ext cx="4797400" cy="457200"/>
          </a:xfrm>
          <a:prstGeom prst="rect">
            <a:avLst/>
          </a:prstGeom>
          <a:noFill/>
          <a:ln/>
        </p:spPr>
        <p:txBody>
          <a:bodyPr wrap="square" lIns="0" tIns="0" rIns="0" bIns="0" rtlCol="0" anchor="ctr"/>
          <a:lstStyle/>
          <a:p>
            <a:pPr indent="0" marL="0">
              <a:lnSpc>
                <a:spcPct val="110000"/>
              </a:lnSpc>
              <a:buNone/>
            </a:pPr>
            <a:r>
              <a:rPr lang="en-US" sz="1150" i="1" dirty="0">
                <a:solidFill>
                  <a:srgbClr val="44555E"/>
                </a:solidFill>
                <a:latin typeface="Calibri" pitchFamily="34" charset="0"/>
                <a:ea typeface="Calibri" pitchFamily="34" charset="-122"/>
                <a:cs typeface="Calibri" pitchFamily="34" charset="-120"/>
              </a:rPr>
              <a:t>joint creux, calepinage, tableau, acrotère, casquette, brise-soleil</a:t>
            </a:r>
            <a:endParaRPr lang="en-US" sz="1150" dirty="0"/>
          </a:p>
        </p:txBody>
      </p:sp>
      <p:sp>
        <p:nvSpPr>
          <p:cNvPr id="16" name="Text 14"/>
          <p:cNvSpPr txBox="1"/>
          <p:nvPr/>
        </p:nvSpPr>
        <p:spPr>
          <a:xfrm>
            <a:off x="841248" y="4023360"/>
            <a:ext cx="4797400" cy="219456"/>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Focale &amp; point de vue</a:t>
            </a:r>
            <a:endParaRPr lang="en-US" sz="1150" dirty="0"/>
          </a:p>
        </p:txBody>
      </p:sp>
      <p:sp>
        <p:nvSpPr>
          <p:cNvPr id="17" name="Text 15"/>
          <p:cNvSpPr txBox="1"/>
          <p:nvPr/>
        </p:nvSpPr>
        <p:spPr>
          <a:xfrm>
            <a:off x="841248" y="4251960"/>
            <a:ext cx="4797400" cy="457200"/>
          </a:xfrm>
          <a:prstGeom prst="rect">
            <a:avLst/>
          </a:prstGeom>
          <a:noFill/>
          <a:ln/>
        </p:spPr>
        <p:txBody>
          <a:bodyPr wrap="square" lIns="0" tIns="0" rIns="0" bIns="0" rtlCol="0" anchor="ctr"/>
          <a:lstStyle/>
          <a:p>
            <a:pPr indent="0" marL="0">
              <a:lnSpc>
                <a:spcPct val="110000"/>
              </a:lnSpc>
              <a:buNone/>
            </a:pPr>
            <a:r>
              <a:rPr lang="en-US" sz="1150" i="1" dirty="0">
                <a:solidFill>
                  <a:srgbClr val="44555E"/>
                </a:solidFill>
                <a:latin typeface="Calibri" pitchFamily="34" charset="0"/>
                <a:ea typeface="Calibri" pitchFamily="34" charset="-122"/>
                <a:cs typeface="Calibri" pitchFamily="34" charset="-120"/>
              </a:rPr>
              <a:t>24 mm pour le contexte · 35 mm naturel · 50 mm le détail · hauteur d'œil 1,60 m</a:t>
            </a:r>
            <a:endParaRPr lang="en-US" sz="1150" dirty="0"/>
          </a:p>
        </p:txBody>
      </p:sp>
      <p:sp>
        <p:nvSpPr>
          <p:cNvPr id="18" name="Text 16"/>
          <p:cNvSpPr txBox="1"/>
          <p:nvPr/>
        </p:nvSpPr>
        <p:spPr>
          <a:xfrm>
            <a:off x="841248" y="4736592"/>
            <a:ext cx="4797400" cy="219456"/>
          </a:xfrm>
          <a:prstGeom prst="rect">
            <a:avLst/>
          </a:prstGeom>
          <a:noFill/>
          <a:ln/>
        </p:spPr>
        <p:txBody>
          <a:bodyPr wrap="square" lIns="0" tIns="0" rIns="0" bIns="0" rtlCol="0" anchor="ctr"/>
          <a:lstStyle/>
          <a:p>
            <a:pPr indent="0" marL="0">
              <a:buNone/>
            </a:pPr>
            <a:r>
              <a:rPr lang="en-US" sz="1150" b="1" dirty="0">
                <a:solidFill>
                  <a:srgbClr val="14171A"/>
                </a:solidFill>
                <a:latin typeface="Calibri" pitchFamily="34" charset="0"/>
                <a:ea typeface="Calibri" pitchFamily="34" charset="-122"/>
                <a:cs typeface="Calibri" pitchFamily="34" charset="-120"/>
              </a:rPr>
              <a:t>Lumière &amp; correction</a:t>
            </a:r>
            <a:endParaRPr lang="en-US" sz="1150" dirty="0"/>
          </a:p>
        </p:txBody>
      </p:sp>
      <p:sp>
        <p:nvSpPr>
          <p:cNvPr id="19" name="Text 17"/>
          <p:cNvSpPr txBox="1"/>
          <p:nvPr/>
        </p:nvSpPr>
        <p:spPr>
          <a:xfrm>
            <a:off x="841248" y="4965192"/>
            <a:ext cx="4797400" cy="457200"/>
          </a:xfrm>
          <a:prstGeom prst="rect">
            <a:avLst/>
          </a:prstGeom>
          <a:noFill/>
          <a:ln/>
        </p:spPr>
        <p:txBody>
          <a:bodyPr wrap="square" lIns="0" tIns="0" rIns="0" bIns="0" rtlCol="0" anchor="ctr"/>
          <a:lstStyle/>
          <a:p>
            <a:pPr indent="0" marL="0">
              <a:lnSpc>
                <a:spcPct val="110000"/>
              </a:lnSpc>
              <a:buNone/>
            </a:pPr>
            <a:r>
              <a:rPr lang="en-US" sz="1150" i="1" dirty="0">
                <a:solidFill>
                  <a:srgbClr val="44555E"/>
                </a:solidFill>
                <a:latin typeface="Calibri" pitchFamily="34" charset="0"/>
                <a:ea typeface="Calibri" pitchFamily="34" charset="-122"/>
                <a:cs typeface="Calibri" pitchFamily="34" charset="-120"/>
              </a:rPr>
              <a:t>heure dorée · ciel couvert uniforme · verticales redressées, sans distorsion</a:t>
            </a:r>
            <a:endParaRPr lang="en-US" sz="1150" dirty="0"/>
          </a:p>
        </p:txBody>
      </p:sp>
      <p:sp>
        <p:nvSpPr>
          <p:cNvPr id="20" name="Shape 18"/>
          <p:cNvSpPr/>
          <p:nvPr/>
        </p:nvSpPr>
        <p:spPr>
          <a:xfrm>
            <a:off x="6278728" y="1389888"/>
            <a:ext cx="5346040" cy="1481328"/>
          </a:xfrm>
          <a:prstGeom prst="roundRect">
            <a:avLst>
              <a:gd name="adj" fmla="val 4938"/>
            </a:avLst>
          </a:prstGeom>
          <a:solidFill>
            <a:srgbClr val="F7E9E4"/>
          </a:solidFill>
          <a:ln/>
        </p:spPr>
      </p:sp>
      <p:sp>
        <p:nvSpPr>
          <p:cNvPr id="21" name="Text 19"/>
          <p:cNvSpPr txBox="1"/>
          <p:nvPr/>
        </p:nvSpPr>
        <p:spPr>
          <a:xfrm>
            <a:off x="65530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C0542A"/>
                </a:solidFill>
                <a:latin typeface="Calibri" pitchFamily="34" charset="0"/>
                <a:ea typeface="Calibri" pitchFamily="34" charset="-122"/>
                <a:cs typeface="Calibri" pitchFamily="34" charset="-120"/>
              </a:rPr>
              <a:t>À SUPPRIMER DE VOS PROMPTS</a:t>
            </a:r>
            <a:endParaRPr lang="en-US" sz="1000" dirty="0"/>
          </a:p>
        </p:txBody>
      </p:sp>
      <p:sp>
        <p:nvSpPr>
          <p:cNvPr id="22" name="Text 20"/>
          <p:cNvSpPr txBox="1"/>
          <p:nvPr/>
        </p:nvSpPr>
        <p:spPr>
          <a:xfrm>
            <a:off x="6553048" y="1865376"/>
            <a:ext cx="4797400" cy="914400"/>
          </a:xfrm>
          <a:prstGeom prst="rect">
            <a:avLst/>
          </a:prstGeom>
          <a:noFill/>
          <a:ln/>
        </p:spPr>
        <p:txBody>
          <a:bodyPr wrap="square" lIns="0" tIns="0" rIns="0" bIns="0" rtlCol="0" anchor="t"/>
          <a:lstStyle/>
          <a:p>
            <a:pPr indent="0" marL="0">
              <a:lnSpc>
                <a:spcPct val="130000"/>
              </a:lnSpc>
              <a:buNone/>
            </a:pPr>
            <a:r>
              <a:rPr lang="en-US" sz="1300" strike="sngStrike" dirty="0">
                <a:solidFill>
                  <a:srgbClr val="9A5340"/>
                </a:solidFill>
                <a:latin typeface="Calibri" pitchFamily="34" charset="0"/>
                <a:ea typeface="Calibri" pitchFamily="34" charset="-122"/>
                <a:cs typeface="Calibri" pitchFamily="34" charset="-120"/>
              </a:rPr>
              <a:t>8K · ultra realistic · masterpiece · best quality · award winning · unreal engine 5 · octane render · --ar 16:9 --v 6 · « magnifique »</a:t>
            </a:r>
            <a:endParaRPr lang="en-US" sz="1300" dirty="0"/>
          </a:p>
        </p:txBody>
      </p:sp>
      <p:sp>
        <p:nvSpPr>
          <p:cNvPr id="23" name="Shape 21"/>
          <p:cNvSpPr/>
          <p:nvPr/>
        </p:nvSpPr>
        <p:spPr>
          <a:xfrm>
            <a:off x="6278728" y="2980944"/>
            <a:ext cx="5346040" cy="2523744"/>
          </a:xfrm>
          <a:prstGeom prst="roundRect">
            <a:avLst>
              <a:gd name="adj" fmla="val 2899"/>
            </a:avLst>
          </a:prstGeom>
          <a:solidFill>
            <a:srgbClr val="14171A"/>
          </a:solidFill>
          <a:ln/>
        </p:spPr>
      </p:sp>
      <p:sp>
        <p:nvSpPr>
          <p:cNvPr id="24" name="Text 22"/>
          <p:cNvSpPr txBox="1"/>
          <p:nvPr/>
        </p:nvSpPr>
        <p:spPr>
          <a:xfrm>
            <a:off x="6553048" y="3163824"/>
            <a:ext cx="4797400" cy="237744"/>
          </a:xfrm>
          <a:prstGeom prst="rect">
            <a:avLst/>
          </a:prstGeom>
          <a:noFill/>
          <a:ln/>
        </p:spPr>
        <p:txBody>
          <a:bodyPr wrap="square" lIns="0" tIns="0" rIns="0" bIns="0" rtlCol="0" anchor="ctr"/>
          <a:lstStyle/>
          <a:p>
            <a:pPr indent="0" marL="0">
              <a:buNone/>
            </a:pPr>
            <a:r>
              <a:rPr lang="en-US" sz="1000" b="1" spc="120" kern="0" dirty="0">
                <a:solidFill>
                  <a:srgbClr val="C0542A"/>
                </a:solidFill>
                <a:latin typeface="Calibri" pitchFamily="34" charset="0"/>
                <a:ea typeface="Calibri" pitchFamily="34" charset="-122"/>
                <a:cs typeface="Calibri" pitchFamily="34" charset="-120"/>
              </a:rPr>
              <a:t>CE QU'ON ÉCRIT À LA PLACE</a:t>
            </a:r>
            <a:endParaRPr lang="en-US" sz="1000" dirty="0"/>
          </a:p>
        </p:txBody>
      </p:sp>
      <p:sp>
        <p:nvSpPr>
          <p:cNvPr id="25" name="Text 23"/>
          <p:cNvSpPr txBox="1"/>
          <p:nvPr/>
        </p:nvSpPr>
        <p:spPr>
          <a:xfrm>
            <a:off x="6553048" y="3493008"/>
            <a:ext cx="4797400" cy="219456"/>
          </a:xfrm>
          <a:prstGeom prst="rect">
            <a:avLst/>
          </a:prstGeom>
          <a:noFill/>
          <a:ln/>
        </p:spPr>
        <p:txBody>
          <a:bodyPr wrap="square" lIns="0" tIns="0" rIns="0" bIns="0" rtlCol="0" anchor="ctr"/>
          <a:lstStyle/>
          <a:p>
            <a:pPr indent="0" marL="0">
              <a:buNone/>
            </a:pPr>
            <a:r>
              <a:rPr lang="en-US" sz="1100" strike="sngStrike" dirty="0">
                <a:solidFill>
                  <a:srgbClr val="8A959B"/>
                </a:solidFill>
                <a:latin typeface="Calibri" pitchFamily="34" charset="0"/>
                <a:ea typeface="Calibri" pitchFamily="34" charset="-122"/>
                <a:cs typeface="Calibri" pitchFamily="34" charset="-120"/>
              </a:rPr>
              <a:t>« professional photo »</a:t>
            </a:r>
            <a:endParaRPr lang="en-US" sz="1100" dirty="0"/>
          </a:p>
        </p:txBody>
      </p:sp>
      <p:sp>
        <p:nvSpPr>
          <p:cNvPr id="26" name="Text 24"/>
          <p:cNvSpPr txBox="1"/>
          <p:nvPr/>
        </p:nvSpPr>
        <p:spPr>
          <a:xfrm>
            <a:off x="6553048" y="3703320"/>
            <a:ext cx="47974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verticales redressées, objectif 24 mm »</a:t>
            </a:r>
            <a:endParaRPr lang="en-US" sz="1150" dirty="0"/>
          </a:p>
        </p:txBody>
      </p:sp>
      <p:sp>
        <p:nvSpPr>
          <p:cNvPr id="27" name="Text 25"/>
          <p:cNvSpPr txBox="1"/>
          <p:nvPr/>
        </p:nvSpPr>
        <p:spPr>
          <a:xfrm>
            <a:off x="6553048" y="4005072"/>
            <a:ext cx="4797400" cy="219456"/>
          </a:xfrm>
          <a:prstGeom prst="rect">
            <a:avLst/>
          </a:prstGeom>
          <a:noFill/>
          <a:ln/>
        </p:spPr>
        <p:txBody>
          <a:bodyPr wrap="square" lIns="0" tIns="0" rIns="0" bIns="0" rtlCol="0" anchor="ctr"/>
          <a:lstStyle/>
          <a:p>
            <a:pPr indent="0" marL="0">
              <a:buNone/>
            </a:pPr>
            <a:r>
              <a:rPr lang="en-US" sz="1100" strike="sngStrike" dirty="0">
                <a:solidFill>
                  <a:srgbClr val="8A959B"/>
                </a:solidFill>
                <a:latin typeface="Calibri" pitchFamily="34" charset="0"/>
                <a:ea typeface="Calibri" pitchFamily="34" charset="-122"/>
                <a:cs typeface="Calibri" pitchFamily="34" charset="-120"/>
              </a:rPr>
              <a:t>« beautiful lighting »</a:t>
            </a:r>
            <a:endParaRPr lang="en-US" sz="1100" dirty="0"/>
          </a:p>
        </p:txBody>
      </p:sp>
      <p:sp>
        <p:nvSpPr>
          <p:cNvPr id="28" name="Text 26"/>
          <p:cNvSpPr txBox="1"/>
          <p:nvPr/>
        </p:nvSpPr>
        <p:spPr>
          <a:xfrm>
            <a:off x="6553048" y="4215384"/>
            <a:ext cx="47974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ciel couvert uniforme, sans ombre portée »</a:t>
            </a:r>
            <a:endParaRPr lang="en-US" sz="1150" dirty="0"/>
          </a:p>
        </p:txBody>
      </p:sp>
      <p:sp>
        <p:nvSpPr>
          <p:cNvPr id="29" name="Text 27"/>
          <p:cNvSpPr txBox="1"/>
          <p:nvPr/>
        </p:nvSpPr>
        <p:spPr>
          <a:xfrm>
            <a:off x="6553048" y="4517136"/>
            <a:ext cx="4797400" cy="219456"/>
          </a:xfrm>
          <a:prstGeom prst="rect">
            <a:avLst/>
          </a:prstGeom>
          <a:noFill/>
          <a:ln/>
        </p:spPr>
        <p:txBody>
          <a:bodyPr wrap="square" lIns="0" tIns="0" rIns="0" bIns="0" rtlCol="0" anchor="ctr"/>
          <a:lstStyle/>
          <a:p>
            <a:pPr indent="0" marL="0">
              <a:buNone/>
            </a:pPr>
            <a:r>
              <a:rPr lang="en-US" sz="1100" strike="sngStrike" dirty="0">
                <a:solidFill>
                  <a:srgbClr val="8A959B"/>
                </a:solidFill>
                <a:latin typeface="Calibri" pitchFamily="34" charset="0"/>
                <a:ea typeface="Calibri" pitchFamily="34" charset="-122"/>
                <a:cs typeface="Calibri" pitchFamily="34" charset="-120"/>
              </a:rPr>
              <a:t>« wood facade »</a:t>
            </a:r>
            <a:endParaRPr lang="en-US" sz="1100" dirty="0"/>
          </a:p>
        </p:txBody>
      </p:sp>
      <p:sp>
        <p:nvSpPr>
          <p:cNvPr id="30" name="Text 28"/>
          <p:cNvSpPr txBox="1"/>
          <p:nvPr/>
        </p:nvSpPr>
        <p:spPr>
          <a:xfrm>
            <a:off x="6553048" y="4727448"/>
            <a:ext cx="47974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bardage mélèze vertical, lames de 12 cm »</a:t>
            </a:r>
            <a:endParaRPr lang="en-US" sz="1150" dirty="0"/>
          </a:p>
        </p:txBody>
      </p:sp>
      <p:sp>
        <p:nvSpPr>
          <p:cNvPr id="31" name="Text 29"/>
          <p:cNvSpPr txBox="1"/>
          <p:nvPr/>
        </p:nvSpPr>
        <p:spPr>
          <a:xfrm>
            <a:off x="6553048" y="5029200"/>
            <a:ext cx="4797400" cy="219456"/>
          </a:xfrm>
          <a:prstGeom prst="rect">
            <a:avLst/>
          </a:prstGeom>
          <a:noFill/>
          <a:ln/>
        </p:spPr>
        <p:txBody>
          <a:bodyPr wrap="square" lIns="0" tIns="0" rIns="0" bIns="0" rtlCol="0" anchor="ctr"/>
          <a:lstStyle/>
          <a:p>
            <a:pPr indent="0" marL="0">
              <a:buNone/>
            </a:pPr>
            <a:r>
              <a:rPr lang="en-US" sz="1100" strike="sngStrike" dirty="0">
                <a:solidFill>
                  <a:srgbClr val="8A959B"/>
                </a:solidFill>
                <a:latin typeface="Calibri" pitchFamily="34" charset="0"/>
                <a:ea typeface="Calibri" pitchFamily="34" charset="-122"/>
                <a:cs typeface="Calibri" pitchFamily="34" charset="-120"/>
              </a:rPr>
              <a:t>« ultra detailed »</a:t>
            </a:r>
            <a:endParaRPr lang="en-US" sz="1100" dirty="0"/>
          </a:p>
        </p:txBody>
      </p:sp>
      <p:sp>
        <p:nvSpPr>
          <p:cNvPr id="32" name="Text 30"/>
          <p:cNvSpPr txBox="1"/>
          <p:nvPr/>
        </p:nvSpPr>
        <p:spPr>
          <a:xfrm>
            <a:off x="6553048" y="5239512"/>
            <a:ext cx="47974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netteté du premier plan à l'arrière-plan »</a:t>
            </a:r>
            <a:endParaRPr lang="en-US" sz="1150" dirty="0"/>
          </a:p>
        </p:txBody>
      </p:sp>
      <p:sp>
        <p:nvSpPr>
          <p:cNvPr id="33" name="Shape 31"/>
          <p:cNvSpPr/>
          <p:nvPr/>
        </p:nvSpPr>
        <p:spPr>
          <a:xfrm>
            <a:off x="566928" y="5632704"/>
            <a:ext cx="11057839" cy="603504"/>
          </a:xfrm>
          <a:prstGeom prst="roundRect">
            <a:avLst>
              <a:gd name="adj" fmla="val 12121"/>
            </a:avLst>
          </a:prstGeom>
          <a:solidFill>
            <a:srgbClr val="F6E7E0"/>
          </a:solidFill>
          <a:ln/>
        </p:spPr>
      </p:sp>
      <p:sp>
        <p:nvSpPr>
          <p:cNvPr id="34" name="Shape 32"/>
          <p:cNvSpPr/>
          <p:nvPr/>
        </p:nvSpPr>
        <p:spPr>
          <a:xfrm>
            <a:off x="786384" y="5788152"/>
            <a:ext cx="603504" cy="292608"/>
          </a:xfrm>
          <a:prstGeom prst="roundRect">
            <a:avLst>
              <a:gd name="adj" fmla="val 21875"/>
            </a:avLst>
          </a:prstGeom>
          <a:solidFill>
            <a:srgbClr val="C0542A"/>
          </a:solidFill>
          <a:ln/>
        </p:spPr>
      </p:sp>
      <p:sp>
        <p:nvSpPr>
          <p:cNvPr id="35" name="Text 33"/>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6" name="Text 34"/>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Testez « verticales redressées » toute seule sur une image déjà générée. L'écart se voit en un essai — c'est la démonstration la plus rapide de la session.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00:30</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ATELIER · 15 MINUTES</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Le même projet, deux prompts</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10</a:t>
            </a:r>
            <a:endParaRPr lang="en-US" sz="900" dirty="0"/>
          </a:p>
        </p:txBody>
      </p:sp>
      <p:sp>
        <p:nvSpPr>
          <p:cNvPr id="8" name="Shape 6"/>
          <p:cNvSpPr/>
          <p:nvPr/>
        </p:nvSpPr>
        <p:spPr>
          <a:xfrm>
            <a:off x="566928" y="1389888"/>
            <a:ext cx="11057839" cy="749808"/>
          </a:xfrm>
          <a:prstGeom prst="roundRect">
            <a:avLst>
              <a:gd name="adj" fmla="val 9756"/>
            </a:avLst>
          </a:prstGeom>
          <a:solidFill>
            <a:srgbClr val="14171A"/>
          </a:solidFill>
          <a:ln/>
        </p:spPr>
      </p:sp>
      <p:sp>
        <p:nvSpPr>
          <p:cNvPr id="9" name="Text 7"/>
          <p:cNvSpPr txBox="1"/>
          <p:nvPr/>
        </p:nvSpPr>
        <p:spPr>
          <a:xfrm>
            <a:off x="841248" y="1389888"/>
            <a:ext cx="10509199" cy="749808"/>
          </a:xfrm>
          <a:prstGeom prst="rect">
            <a:avLst/>
          </a:prstGeom>
          <a:noFill/>
          <a:ln/>
        </p:spPr>
        <p:txBody>
          <a:bodyPr wrap="square" lIns="0" tIns="0" rIns="0" bIns="0" rtlCol="0" anchor="ctr"/>
          <a:lstStyle/>
          <a:p>
            <a:pPr indent="0" marL="0">
              <a:buNone/>
            </a:pPr>
            <a:r>
              <a:rPr lang="en-US" sz="1300" dirty="0">
                <a:solidFill>
                  <a:srgbClr val="D8DEE1"/>
                </a:solidFill>
                <a:latin typeface="Calibri" pitchFamily="34" charset="0"/>
                <a:ea typeface="Calibri" pitchFamily="34" charset="-122"/>
                <a:cs typeface="Calibri" pitchFamily="34" charset="-120"/>
              </a:rPr>
              <a:t>On ne cherche pas la belle image — on cherche à voir ce que la structure fait gagner. Interdiction de corriger pendant la première manche : c'est le contraste qui fait le cours.</a:t>
            </a:r>
            <a:endParaRPr lang="en-US" sz="1300" dirty="0"/>
          </a:p>
        </p:txBody>
      </p:sp>
      <p:sp>
        <p:nvSpPr>
          <p:cNvPr id="10" name="Shape 8"/>
          <p:cNvSpPr/>
          <p:nvPr/>
        </p:nvSpPr>
        <p:spPr>
          <a:xfrm>
            <a:off x="566928" y="2331720"/>
            <a:ext cx="11057839" cy="1005840"/>
          </a:xfrm>
          <a:prstGeom prst="roundRect">
            <a:avLst>
              <a:gd name="adj" fmla="val 7273"/>
            </a:avLst>
          </a:prstGeom>
          <a:solidFill>
            <a:srgbClr val="EFF1F2"/>
          </a:solidFill>
          <a:ln/>
        </p:spPr>
      </p:sp>
      <p:sp>
        <p:nvSpPr>
          <p:cNvPr id="11" name="Text 9"/>
          <p:cNvSpPr txBox="1"/>
          <p:nvPr/>
        </p:nvSpPr>
        <p:spPr>
          <a:xfrm>
            <a:off x="822960" y="2624328"/>
            <a:ext cx="868680" cy="384048"/>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5 min</a:t>
            </a:r>
            <a:endParaRPr lang="en-US" sz="1700" dirty="0"/>
          </a:p>
        </p:txBody>
      </p:sp>
      <p:sp>
        <p:nvSpPr>
          <p:cNvPr id="12" name="Text 10"/>
          <p:cNvSpPr txBox="1"/>
          <p:nvPr/>
        </p:nvSpPr>
        <p:spPr>
          <a:xfrm>
            <a:off x="1847088" y="2496312"/>
            <a:ext cx="9457639"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Manche 1 — le prompt naïf</a:t>
            </a:r>
            <a:endParaRPr lang="en-US" sz="1500" dirty="0"/>
          </a:p>
        </p:txBody>
      </p:sp>
      <p:sp>
        <p:nvSpPr>
          <p:cNvPr id="13" name="Text 11"/>
          <p:cNvSpPr txBox="1"/>
          <p:nvPr/>
        </p:nvSpPr>
        <p:spPr>
          <a:xfrm>
            <a:off x="1847088" y="2788920"/>
            <a:ext cx="9457639" cy="457200"/>
          </a:xfrm>
          <a:prstGeom prst="rect">
            <a:avLst/>
          </a:prstGeom>
          <a:noFill/>
          <a:ln/>
        </p:spPr>
        <p:txBody>
          <a:bodyPr wrap="square" lIns="0" tIns="0" rIns="0" bIns="0" rtlCol="0" anchor="ctr"/>
          <a:lstStyle/>
          <a:p>
            <a:pPr indent="0" marL="0">
              <a:buNone/>
            </a:pPr>
            <a:r>
              <a:rPr lang="en-US" sz="1150" dirty="0">
                <a:solidFill>
                  <a:srgbClr val="44555E"/>
                </a:solidFill>
                <a:latin typeface="Calibri" pitchFamily="34" charset="0"/>
                <a:ea typeface="Calibri" pitchFamily="34" charset="-122"/>
                <a:cs typeface="Calibri" pitchFamily="34" charset="-120"/>
              </a:rPr>
              <a:t>Tous les deux, exactement le même texte : « Une belle maison contemporaine en bois, rendu photoréaliste 8K. » On génère, on affiche les deux résultats côte à côte.</a:t>
            </a:r>
            <a:endParaRPr lang="en-US" sz="1150" dirty="0"/>
          </a:p>
        </p:txBody>
      </p:sp>
      <p:sp>
        <p:nvSpPr>
          <p:cNvPr id="14" name="Shape 12"/>
          <p:cNvSpPr/>
          <p:nvPr/>
        </p:nvSpPr>
        <p:spPr>
          <a:xfrm>
            <a:off x="566928" y="3410712"/>
            <a:ext cx="11057839" cy="1005840"/>
          </a:xfrm>
          <a:prstGeom prst="roundRect">
            <a:avLst>
              <a:gd name="adj" fmla="val 7273"/>
            </a:avLst>
          </a:prstGeom>
          <a:solidFill>
            <a:srgbClr val="F6E7E0"/>
          </a:solidFill>
          <a:ln/>
        </p:spPr>
      </p:sp>
      <p:sp>
        <p:nvSpPr>
          <p:cNvPr id="15" name="Text 13"/>
          <p:cNvSpPr txBox="1"/>
          <p:nvPr/>
        </p:nvSpPr>
        <p:spPr>
          <a:xfrm>
            <a:off x="822960" y="3703320"/>
            <a:ext cx="868680" cy="384048"/>
          </a:xfrm>
          <a:prstGeom prst="rect">
            <a:avLst/>
          </a:prstGeom>
          <a:noFill/>
          <a:ln/>
        </p:spPr>
        <p:txBody>
          <a:bodyPr wrap="square" lIns="0" tIns="0" rIns="0" bIns="0" rtlCol="0" anchor="ctr"/>
          <a:lstStyle/>
          <a:p>
            <a:pPr indent="0" marL="0">
              <a:buNone/>
            </a:pPr>
            <a:r>
              <a:rPr lang="en-US" sz="1700" b="1" dirty="0">
                <a:solidFill>
                  <a:srgbClr val="C0542A"/>
                </a:solidFill>
                <a:latin typeface="Cambria" pitchFamily="34" charset="0"/>
                <a:ea typeface="Cambria" pitchFamily="34" charset="-122"/>
                <a:cs typeface="Cambria" pitchFamily="34" charset="-120"/>
              </a:rPr>
              <a:t>8 min</a:t>
            </a:r>
            <a:endParaRPr lang="en-US" sz="1700" dirty="0"/>
          </a:p>
        </p:txBody>
      </p:sp>
      <p:sp>
        <p:nvSpPr>
          <p:cNvPr id="16" name="Text 14"/>
          <p:cNvSpPr txBox="1"/>
          <p:nvPr/>
        </p:nvSpPr>
        <p:spPr>
          <a:xfrm>
            <a:off x="1847088" y="3575304"/>
            <a:ext cx="9457639"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Manche 2 — le prompt structuré</a:t>
            </a:r>
            <a:endParaRPr lang="en-US" sz="1500" dirty="0"/>
          </a:p>
        </p:txBody>
      </p:sp>
      <p:sp>
        <p:nvSpPr>
          <p:cNvPr id="17" name="Text 15"/>
          <p:cNvSpPr txBox="1"/>
          <p:nvPr/>
        </p:nvSpPr>
        <p:spPr>
          <a:xfrm>
            <a:off x="1847088" y="3867912"/>
            <a:ext cx="9457639" cy="457200"/>
          </a:xfrm>
          <a:prstGeom prst="rect">
            <a:avLst/>
          </a:prstGeom>
          <a:noFill/>
          <a:ln/>
        </p:spPr>
        <p:txBody>
          <a:bodyPr wrap="square" lIns="0" tIns="0" rIns="0" bIns="0" rtlCol="0" anchor="ctr"/>
          <a:lstStyle/>
          <a:p>
            <a:pPr indent="0" marL="0">
              <a:buNone/>
            </a:pPr>
            <a:r>
              <a:rPr lang="en-US" sz="1150" dirty="0">
                <a:solidFill>
                  <a:srgbClr val="8A4A34"/>
                </a:solidFill>
                <a:latin typeface="Calibri" pitchFamily="34" charset="0"/>
                <a:ea typeface="Calibri" pitchFamily="34" charset="-122"/>
                <a:cs typeface="Calibri" pitchFamily="34" charset="-120"/>
              </a:rPr>
              <a:t>On réécrit ensemble avec les six blocs, puis chacun l'applique à SON projet, avec ses matériaux et son cadrage.</a:t>
            </a:r>
            <a:endParaRPr lang="en-US" sz="1150" dirty="0"/>
          </a:p>
        </p:txBody>
      </p:sp>
      <p:sp>
        <p:nvSpPr>
          <p:cNvPr id="18" name="Shape 16"/>
          <p:cNvSpPr/>
          <p:nvPr/>
        </p:nvSpPr>
        <p:spPr>
          <a:xfrm>
            <a:off x="566928" y="4489704"/>
            <a:ext cx="11057839" cy="1005840"/>
          </a:xfrm>
          <a:prstGeom prst="roundRect">
            <a:avLst>
              <a:gd name="adj" fmla="val 7273"/>
            </a:avLst>
          </a:prstGeom>
          <a:solidFill>
            <a:srgbClr val="EFF1F2"/>
          </a:solidFill>
          <a:ln/>
        </p:spPr>
      </p:sp>
      <p:sp>
        <p:nvSpPr>
          <p:cNvPr id="19" name="Text 17"/>
          <p:cNvSpPr txBox="1"/>
          <p:nvPr/>
        </p:nvSpPr>
        <p:spPr>
          <a:xfrm>
            <a:off x="822960" y="4782312"/>
            <a:ext cx="868680" cy="384048"/>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2 min</a:t>
            </a:r>
            <a:endParaRPr lang="en-US" sz="1700" dirty="0"/>
          </a:p>
        </p:txBody>
      </p:sp>
      <p:sp>
        <p:nvSpPr>
          <p:cNvPr id="20" name="Text 18"/>
          <p:cNvSpPr txBox="1"/>
          <p:nvPr/>
        </p:nvSpPr>
        <p:spPr>
          <a:xfrm>
            <a:off x="1847088" y="4654296"/>
            <a:ext cx="9457639"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Débrief</a:t>
            </a:r>
            <a:endParaRPr lang="en-US" sz="1500" dirty="0"/>
          </a:p>
        </p:txBody>
      </p:sp>
      <p:sp>
        <p:nvSpPr>
          <p:cNvPr id="21" name="Text 19"/>
          <p:cNvSpPr txBox="1"/>
          <p:nvPr/>
        </p:nvSpPr>
        <p:spPr>
          <a:xfrm>
            <a:off x="1847088" y="4946904"/>
            <a:ext cx="9457639" cy="457200"/>
          </a:xfrm>
          <a:prstGeom prst="rect">
            <a:avLst/>
          </a:prstGeom>
          <a:noFill/>
          <a:ln/>
        </p:spPr>
        <p:txBody>
          <a:bodyPr wrap="square" lIns="0" tIns="0" rIns="0" bIns="0" rtlCol="0" anchor="ctr"/>
          <a:lstStyle/>
          <a:p>
            <a:pPr indent="0" marL="0">
              <a:buNone/>
            </a:pPr>
            <a:r>
              <a:rPr lang="en-US" sz="1150" dirty="0">
                <a:solidFill>
                  <a:srgbClr val="44555E"/>
                </a:solidFill>
                <a:latin typeface="Calibri" pitchFamily="34" charset="0"/>
                <a:ea typeface="Calibri" pitchFamily="34" charset="-122"/>
                <a:cs typeface="Calibri" pitchFamily="34" charset="-120"/>
              </a:rPr>
              <a:t>Deux questions, pas plus : qu'est-ce qui a bougé ? Qu'est-ce qui reste hors de contrôle ?</a:t>
            </a:r>
            <a:endParaRPr lang="en-US" sz="1150" dirty="0"/>
          </a:p>
        </p:txBody>
      </p:sp>
      <p:sp>
        <p:nvSpPr>
          <p:cNvPr id="22" name="Shape 20"/>
          <p:cNvSpPr/>
          <p:nvPr/>
        </p:nvSpPr>
        <p:spPr>
          <a:xfrm>
            <a:off x="566928" y="5632704"/>
            <a:ext cx="11057839" cy="603504"/>
          </a:xfrm>
          <a:prstGeom prst="roundRect">
            <a:avLst>
              <a:gd name="adj" fmla="val 12121"/>
            </a:avLst>
          </a:prstGeom>
          <a:solidFill>
            <a:srgbClr val="F6E7E0"/>
          </a:solidFill>
          <a:ln/>
        </p:spPr>
      </p:sp>
      <p:sp>
        <p:nvSpPr>
          <p:cNvPr id="23" name="Shape 21"/>
          <p:cNvSpPr/>
          <p:nvPr/>
        </p:nvSpPr>
        <p:spPr>
          <a:xfrm>
            <a:off x="786384" y="5788152"/>
            <a:ext cx="603504" cy="292608"/>
          </a:xfrm>
          <a:prstGeom prst="roundRect">
            <a:avLst>
              <a:gd name="adj" fmla="val 21875"/>
            </a:avLst>
          </a:prstGeom>
          <a:solidFill>
            <a:srgbClr val="C0542A"/>
          </a:solidFill>
          <a:ln/>
        </p:spPr>
      </p:sp>
      <p:sp>
        <p:nvSpPr>
          <p:cNvPr id="24" name="Text 22"/>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5" name="Text 23"/>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Ouvrez un fichier partagé maintenant et collez-y le prompt de la manche 2. C'est la première ligne de la bibliothèque que vous emportez.</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9418320" y="320040"/>
            <a:ext cx="2377440" cy="2377440"/>
          </a:xfrm>
          <a:prstGeom prst="rect">
            <a:avLst/>
          </a:prstGeom>
          <a:noFill/>
          <a:ln/>
        </p:spPr>
        <p:txBody>
          <a:bodyPr wrap="square" lIns="0" tIns="0" rIns="0" bIns="0" rtlCol="0" anchor="ctr"/>
          <a:lstStyle/>
          <a:p>
            <a:pPr algn="ctr" indent="0" marL="0">
              <a:buNone/>
            </a:pPr>
            <a:r>
              <a:rPr lang="en-US" sz="15000" b="1" dirty="0">
                <a:solidFill>
                  <a:srgbClr val="1F252A"/>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566928" y="713232"/>
            <a:ext cx="8595360" cy="292608"/>
          </a:xfrm>
          <a:prstGeom prst="rect">
            <a:avLst/>
          </a:prstGeom>
          <a:noFill/>
          <a:ln/>
        </p:spPr>
        <p:txBody>
          <a:bodyPr wrap="square" lIns="0" tIns="0" rIns="0" bIns="0" rtlCol="0" anchor="ctr"/>
          <a:lstStyle/>
          <a:p>
            <a:pPr indent="0" marL="0">
              <a:buNone/>
            </a:pPr>
            <a:r>
              <a:rPr lang="en-US" sz="1200" b="1" spc="180" kern="0" dirty="0">
                <a:solidFill>
                  <a:srgbClr val="C0542A"/>
                </a:solidFill>
                <a:latin typeface="Calibri" pitchFamily="34" charset="0"/>
                <a:ea typeface="Calibri" pitchFamily="34" charset="-122"/>
                <a:cs typeface="Calibri" pitchFamily="34" charset="-120"/>
              </a:rPr>
              <a:t>00:45 → 01:30  ·  45 MINUTES</a:t>
            </a:r>
            <a:endParaRPr lang="en-US" sz="1200" dirty="0"/>
          </a:p>
        </p:txBody>
      </p:sp>
      <p:sp>
        <p:nvSpPr>
          <p:cNvPr id="4" name="Text 2"/>
          <p:cNvSpPr txBox="1"/>
          <p:nvPr/>
        </p:nvSpPr>
        <p:spPr>
          <a:xfrm>
            <a:off x="566928" y="1060704"/>
            <a:ext cx="8778240" cy="8686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L'image photoréaliste</a:t>
            </a:r>
            <a:endParaRPr lang="en-US" sz="4000" dirty="0"/>
          </a:p>
        </p:txBody>
      </p:sp>
      <p:sp>
        <p:nvSpPr>
          <p:cNvPr id="5" name="Text 3"/>
          <p:cNvSpPr txBox="1"/>
          <p:nvPr/>
        </p:nvSpPr>
        <p:spPr>
          <a:xfrm>
            <a:off x="566928" y="1956816"/>
            <a:ext cx="9692640" cy="384048"/>
          </a:xfrm>
          <a:prstGeom prst="rect">
            <a:avLst/>
          </a:prstGeom>
          <a:noFill/>
          <a:ln/>
        </p:spPr>
        <p:txBody>
          <a:bodyPr wrap="square" lIns="0" tIns="0" rIns="0" bIns="0" rtlCol="0" anchor="ctr"/>
          <a:lstStyle/>
          <a:p>
            <a:pPr indent="0" marL="0">
              <a:buNone/>
            </a:pPr>
            <a:r>
              <a:rPr lang="en-US" sz="1350" i="1" dirty="0">
                <a:solidFill>
                  <a:srgbClr val="9AA6AC"/>
                </a:solidFill>
                <a:latin typeface="Calibri" pitchFamily="34" charset="0"/>
                <a:ea typeface="Calibri" pitchFamily="34" charset="-122"/>
                <a:cs typeface="Calibri" pitchFamily="34" charset="-120"/>
              </a:rPr>
              <a:t>Trois portes d'entrée — et une seule qui vous fait partir de votre modèle plutôt que d'une page blanche.</a:t>
            </a:r>
            <a:endParaRPr lang="en-US" sz="135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9AA6AC"/>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9AA6AC"/>
                </a:solidFill>
                <a:latin typeface="Calibri" pitchFamily="34" charset="0"/>
                <a:ea typeface="Calibri" pitchFamily="34" charset="-122"/>
                <a:cs typeface="Calibri" pitchFamily="34" charset="-120"/>
              </a:rPr>
              <a:t>11</a:t>
            </a:r>
            <a:endParaRPr lang="en-US" sz="900" dirty="0"/>
          </a:p>
        </p:txBody>
      </p:sp>
      <p:sp>
        <p:nvSpPr>
          <p:cNvPr id="8" name="Shape 6"/>
          <p:cNvSpPr/>
          <p:nvPr/>
        </p:nvSpPr>
        <p:spPr>
          <a:xfrm>
            <a:off x="566928" y="2578608"/>
            <a:ext cx="3533546" cy="2487168"/>
          </a:xfrm>
          <a:prstGeom prst="roundRect">
            <a:avLst>
              <a:gd name="adj" fmla="val 2941"/>
            </a:avLst>
          </a:prstGeom>
          <a:solidFill>
            <a:srgbClr val="23292E"/>
          </a:solidFill>
          <a:ln/>
        </p:spPr>
      </p:sp>
      <p:sp>
        <p:nvSpPr>
          <p:cNvPr id="9" name="Shape 7"/>
          <p:cNvSpPr/>
          <p:nvPr/>
        </p:nvSpPr>
        <p:spPr>
          <a:xfrm>
            <a:off x="804672" y="2779776"/>
            <a:ext cx="365760" cy="365760"/>
          </a:xfrm>
          <a:prstGeom prst="ellipse">
            <a:avLst/>
          </a:prstGeom>
          <a:solidFill>
            <a:srgbClr val="3C464C"/>
          </a:solidFill>
          <a:ln/>
        </p:spPr>
      </p:sp>
      <p:sp>
        <p:nvSpPr>
          <p:cNvPr id="10" name="Text 8"/>
          <p:cNvSpPr txBox="1"/>
          <p:nvPr/>
        </p:nvSpPr>
        <p:spPr>
          <a:xfrm>
            <a:off x="804672" y="2779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804672" y="3255264"/>
            <a:ext cx="3058058" cy="32918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L'esquisse</a:t>
            </a:r>
            <a:endParaRPr lang="en-US" sz="1900" dirty="0"/>
          </a:p>
        </p:txBody>
      </p:sp>
      <p:sp>
        <p:nvSpPr>
          <p:cNvPr id="12" name="Text 10"/>
          <p:cNvSpPr txBox="1"/>
          <p:nvPr/>
        </p:nvSpPr>
        <p:spPr>
          <a:xfrm>
            <a:off x="804672" y="3639312"/>
            <a:ext cx="3058058" cy="932688"/>
          </a:xfrm>
          <a:prstGeom prst="rect">
            <a:avLst/>
          </a:prstGeom>
          <a:noFill/>
          <a:ln/>
        </p:spPr>
        <p:txBody>
          <a:bodyPr wrap="square" lIns="0" tIns="0" rIns="0" bIns="0" rtlCol="0" anchor="t"/>
          <a:lstStyle/>
          <a:p>
            <a:pPr indent="0" marL="0">
              <a:lnSpc>
                <a:spcPct val="114000"/>
              </a:lnSpc>
              <a:buNone/>
            </a:pPr>
            <a:r>
              <a:rPr lang="en-US" sz="1150" dirty="0">
                <a:solidFill>
                  <a:srgbClr val="9AA6AC"/>
                </a:solidFill>
                <a:latin typeface="Calibri" pitchFamily="34" charset="0"/>
                <a:ea typeface="Calibri" pitchFamily="34" charset="-122"/>
                <a:cs typeface="Calibri" pitchFamily="34" charset="-120"/>
              </a:rPr>
              <a:t>Garde votre parti et votre trait. Mais le modèle invente tout ce que le trait ne dit pas : matières, percements, contexte.</a:t>
            </a:r>
            <a:endParaRPr lang="en-US" sz="1150" dirty="0"/>
          </a:p>
        </p:txBody>
      </p:sp>
      <p:sp>
        <p:nvSpPr>
          <p:cNvPr id="13" name="Text 11"/>
          <p:cNvSpPr txBox="1"/>
          <p:nvPr/>
        </p:nvSpPr>
        <p:spPr>
          <a:xfrm>
            <a:off x="804672" y="4608576"/>
            <a:ext cx="3058058" cy="384048"/>
          </a:xfrm>
          <a:prstGeom prst="rect">
            <a:avLst/>
          </a:prstGeom>
          <a:noFill/>
          <a:ln/>
        </p:spPr>
        <p:txBody>
          <a:bodyPr wrap="square" lIns="0" tIns="0" rIns="0" bIns="0" rtlCol="0" anchor="t"/>
          <a:lstStyle/>
          <a:p>
            <a:pPr indent="0" marL="0">
              <a:buNone/>
            </a:pPr>
            <a:r>
              <a:rPr lang="en-US" sz="1100" i="1" dirty="0">
                <a:solidFill>
                  <a:srgbClr val="8A959B"/>
                </a:solidFill>
                <a:latin typeface="Calibri" pitchFamily="34" charset="0"/>
                <a:ea typeface="Calibri" pitchFamily="34" charset="-122"/>
                <a:cs typeface="Calibri" pitchFamily="34" charset="-120"/>
              </a:rPr>
              <a:t>« Respecte strictement la géométrie du croquis joint. »</a:t>
            </a:r>
            <a:endParaRPr lang="en-US" sz="1100" dirty="0"/>
          </a:p>
        </p:txBody>
      </p:sp>
      <p:sp>
        <p:nvSpPr>
          <p:cNvPr id="14" name="Shape 12"/>
          <p:cNvSpPr/>
          <p:nvPr/>
        </p:nvSpPr>
        <p:spPr>
          <a:xfrm>
            <a:off x="4329074" y="2578608"/>
            <a:ext cx="3533546" cy="2487168"/>
          </a:xfrm>
          <a:prstGeom prst="roundRect">
            <a:avLst>
              <a:gd name="adj" fmla="val 2941"/>
            </a:avLst>
          </a:prstGeom>
          <a:solidFill>
            <a:srgbClr val="3A2A22"/>
          </a:solidFill>
          <a:ln/>
        </p:spPr>
      </p:sp>
      <p:sp>
        <p:nvSpPr>
          <p:cNvPr id="15" name="Shape 13"/>
          <p:cNvSpPr/>
          <p:nvPr/>
        </p:nvSpPr>
        <p:spPr>
          <a:xfrm>
            <a:off x="4566818" y="2779776"/>
            <a:ext cx="365760" cy="365760"/>
          </a:xfrm>
          <a:prstGeom prst="ellipse">
            <a:avLst/>
          </a:prstGeom>
          <a:solidFill>
            <a:srgbClr val="C0542A"/>
          </a:solidFill>
          <a:ln/>
        </p:spPr>
      </p:sp>
      <p:sp>
        <p:nvSpPr>
          <p:cNvPr id="16" name="Text 14"/>
          <p:cNvSpPr txBox="1"/>
          <p:nvPr/>
        </p:nvSpPr>
        <p:spPr>
          <a:xfrm>
            <a:off x="4566818" y="2779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6308141" y="2834640"/>
            <a:ext cx="1325880" cy="237744"/>
          </a:xfrm>
          <a:prstGeom prst="rect">
            <a:avLst/>
          </a:prstGeom>
          <a:noFill/>
          <a:ln/>
        </p:spPr>
        <p:txBody>
          <a:bodyPr wrap="square" lIns="0" tIns="0" rIns="0" bIns="0" rtlCol="0" anchor="ctr"/>
          <a:lstStyle/>
          <a:p>
            <a:pPr algn="r" indent="0" marL="0">
              <a:buNone/>
            </a:pPr>
            <a:r>
              <a:rPr lang="en-US" sz="850" b="1" spc="100" kern="0" dirty="0">
                <a:solidFill>
                  <a:srgbClr val="C0542A"/>
                </a:solidFill>
                <a:latin typeface="Calibri" pitchFamily="34" charset="0"/>
                <a:ea typeface="Calibri" pitchFamily="34" charset="-122"/>
                <a:cs typeface="Calibri" pitchFamily="34" charset="-120"/>
              </a:rPr>
              <a:t>RECOMMANDÉ</a:t>
            </a:r>
            <a:endParaRPr lang="en-US" sz="850" dirty="0"/>
          </a:p>
        </p:txBody>
      </p:sp>
      <p:sp>
        <p:nvSpPr>
          <p:cNvPr id="18" name="Text 16"/>
          <p:cNvSpPr txBox="1"/>
          <p:nvPr/>
        </p:nvSpPr>
        <p:spPr>
          <a:xfrm>
            <a:off x="4566818" y="3255264"/>
            <a:ext cx="3058058" cy="32918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La capture 3D</a:t>
            </a:r>
            <a:endParaRPr lang="en-US" sz="1900" dirty="0"/>
          </a:p>
        </p:txBody>
      </p:sp>
      <p:sp>
        <p:nvSpPr>
          <p:cNvPr id="19" name="Text 17"/>
          <p:cNvSpPr txBox="1"/>
          <p:nvPr/>
        </p:nvSpPr>
        <p:spPr>
          <a:xfrm>
            <a:off x="4566818" y="3639312"/>
            <a:ext cx="3058058" cy="932688"/>
          </a:xfrm>
          <a:prstGeom prst="rect">
            <a:avLst/>
          </a:prstGeom>
          <a:noFill/>
          <a:ln/>
        </p:spPr>
        <p:txBody>
          <a:bodyPr wrap="square" lIns="0" tIns="0" rIns="0" bIns="0" rtlCol="0" anchor="t"/>
          <a:lstStyle/>
          <a:p>
            <a:pPr indent="0" marL="0">
              <a:lnSpc>
                <a:spcPct val="114000"/>
              </a:lnSpc>
              <a:buNone/>
            </a:pPr>
            <a:r>
              <a:rPr lang="en-US" sz="1150" dirty="0">
                <a:solidFill>
                  <a:srgbClr val="9AA6AC"/>
                </a:solidFill>
                <a:latin typeface="Calibri" pitchFamily="34" charset="0"/>
                <a:ea typeface="Calibri" pitchFamily="34" charset="-122"/>
                <a:cs typeface="Calibri" pitchFamily="34" charset="-120"/>
              </a:rPr>
              <a:t>Volumétrie, proportions et cadrage verrouillés. L'IA n'apporte que la matière et la lumière. C'est la porte de la session.</a:t>
            </a:r>
            <a:endParaRPr lang="en-US" sz="1150" dirty="0"/>
          </a:p>
        </p:txBody>
      </p:sp>
      <p:sp>
        <p:nvSpPr>
          <p:cNvPr id="20" name="Text 18"/>
          <p:cNvSpPr txBox="1"/>
          <p:nvPr/>
        </p:nvSpPr>
        <p:spPr>
          <a:xfrm>
            <a:off x="4566818" y="4608576"/>
            <a:ext cx="3058058" cy="384048"/>
          </a:xfrm>
          <a:prstGeom prst="rect">
            <a:avLst/>
          </a:prstGeom>
          <a:noFill/>
          <a:ln/>
        </p:spPr>
        <p:txBody>
          <a:bodyPr wrap="square" lIns="0" tIns="0" rIns="0" bIns="0" rtlCol="0" anchor="t"/>
          <a:lstStyle/>
          <a:p>
            <a:pPr indent="0" marL="0">
              <a:buNone/>
            </a:pPr>
            <a:r>
              <a:rPr lang="en-US" sz="1100" i="1" dirty="0">
                <a:solidFill>
                  <a:srgbClr val="C0542A"/>
                </a:solidFill>
                <a:latin typeface="Calibri" pitchFamily="34" charset="0"/>
                <a:ea typeface="Calibri" pitchFamily="34" charset="-122"/>
                <a:cs typeface="Calibri" pitchFamily="34" charset="-120"/>
              </a:rPr>
              <a:t>« Conserve exactement la géométrie et le point de vue. »</a:t>
            </a:r>
            <a:endParaRPr lang="en-US" sz="1100" dirty="0"/>
          </a:p>
        </p:txBody>
      </p:sp>
      <p:sp>
        <p:nvSpPr>
          <p:cNvPr id="21" name="Shape 19"/>
          <p:cNvSpPr/>
          <p:nvPr/>
        </p:nvSpPr>
        <p:spPr>
          <a:xfrm>
            <a:off x="8091221" y="2578608"/>
            <a:ext cx="3533546" cy="2487168"/>
          </a:xfrm>
          <a:prstGeom prst="roundRect">
            <a:avLst>
              <a:gd name="adj" fmla="val 2941"/>
            </a:avLst>
          </a:prstGeom>
          <a:solidFill>
            <a:srgbClr val="23292E"/>
          </a:solidFill>
          <a:ln/>
        </p:spPr>
      </p:sp>
      <p:sp>
        <p:nvSpPr>
          <p:cNvPr id="22" name="Shape 20"/>
          <p:cNvSpPr/>
          <p:nvPr/>
        </p:nvSpPr>
        <p:spPr>
          <a:xfrm>
            <a:off x="8328965" y="2779776"/>
            <a:ext cx="365760" cy="365760"/>
          </a:xfrm>
          <a:prstGeom prst="ellipse">
            <a:avLst/>
          </a:prstGeom>
          <a:solidFill>
            <a:srgbClr val="3C464C"/>
          </a:solidFill>
          <a:ln/>
        </p:spPr>
      </p:sp>
      <p:sp>
        <p:nvSpPr>
          <p:cNvPr id="23" name="Text 21"/>
          <p:cNvSpPr txBox="1"/>
          <p:nvPr/>
        </p:nvSpPr>
        <p:spPr>
          <a:xfrm>
            <a:off x="8328965" y="2779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txBox="1"/>
          <p:nvPr/>
        </p:nvSpPr>
        <p:spPr>
          <a:xfrm>
            <a:off x="8328965" y="3255264"/>
            <a:ext cx="3058058" cy="32918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L'intention écrite</a:t>
            </a:r>
            <a:endParaRPr lang="en-US" sz="1900" dirty="0"/>
          </a:p>
        </p:txBody>
      </p:sp>
      <p:sp>
        <p:nvSpPr>
          <p:cNvPr id="25" name="Text 23"/>
          <p:cNvSpPr txBox="1"/>
          <p:nvPr/>
        </p:nvSpPr>
        <p:spPr>
          <a:xfrm>
            <a:off x="8328965" y="3639312"/>
            <a:ext cx="3058058" cy="932688"/>
          </a:xfrm>
          <a:prstGeom prst="rect">
            <a:avLst/>
          </a:prstGeom>
          <a:noFill/>
          <a:ln/>
        </p:spPr>
        <p:txBody>
          <a:bodyPr wrap="square" lIns="0" tIns="0" rIns="0" bIns="0" rtlCol="0" anchor="t"/>
          <a:lstStyle/>
          <a:p>
            <a:pPr indent="0" marL="0">
              <a:lnSpc>
                <a:spcPct val="114000"/>
              </a:lnSpc>
              <a:buNone/>
            </a:pPr>
            <a:r>
              <a:rPr lang="en-US" sz="1150" dirty="0">
                <a:solidFill>
                  <a:srgbClr val="9AA6AC"/>
                </a:solidFill>
                <a:latin typeface="Calibri" pitchFamily="34" charset="0"/>
                <a:ea typeface="Calibri" pitchFamily="34" charset="-122"/>
                <a:cs typeface="Calibri" pitchFamily="34" charset="-120"/>
              </a:rPr>
              <a:t>Rapide, utile en recherche d'ambiance très amont. Le moins contrôlable : deux essais ne donnent jamais le même bâtiment.</a:t>
            </a:r>
            <a:endParaRPr lang="en-US" sz="1150" dirty="0"/>
          </a:p>
        </p:txBody>
      </p:sp>
      <p:sp>
        <p:nvSpPr>
          <p:cNvPr id="26" name="Text 24"/>
          <p:cNvSpPr txBox="1"/>
          <p:nvPr/>
        </p:nvSpPr>
        <p:spPr>
          <a:xfrm>
            <a:off x="8328965" y="4608576"/>
            <a:ext cx="3058058" cy="384048"/>
          </a:xfrm>
          <a:prstGeom prst="rect">
            <a:avLst/>
          </a:prstGeom>
          <a:noFill/>
          <a:ln/>
        </p:spPr>
        <p:txBody>
          <a:bodyPr wrap="square" lIns="0" tIns="0" rIns="0" bIns="0" rtlCol="0" anchor="t"/>
          <a:lstStyle/>
          <a:p>
            <a:pPr indent="0" marL="0">
              <a:buNone/>
            </a:pPr>
            <a:r>
              <a:rPr lang="en-US" sz="1100" i="1" dirty="0">
                <a:solidFill>
                  <a:srgbClr val="8A959B"/>
                </a:solidFill>
                <a:latin typeface="Calibri" pitchFamily="34" charset="0"/>
                <a:ea typeface="Calibri" pitchFamily="34" charset="-122"/>
                <a:cs typeface="Calibri" pitchFamily="34" charset="-120"/>
              </a:rPr>
              <a:t>À réserver au moodboard, jamais à une présentation.</a:t>
            </a:r>
            <a:endParaRPr lang="en-US" sz="1100" dirty="0"/>
          </a:p>
        </p:txBody>
      </p:sp>
      <p:sp>
        <p:nvSpPr>
          <p:cNvPr id="27" name="Shape 25"/>
          <p:cNvSpPr/>
          <p:nvPr/>
        </p:nvSpPr>
        <p:spPr>
          <a:xfrm>
            <a:off x="566928" y="5632704"/>
            <a:ext cx="11057839" cy="603504"/>
          </a:xfrm>
          <a:prstGeom prst="roundRect">
            <a:avLst>
              <a:gd name="adj" fmla="val 12121"/>
            </a:avLst>
          </a:prstGeom>
          <a:solidFill>
            <a:srgbClr val="23292E"/>
          </a:solidFill>
          <a:ln/>
        </p:spPr>
      </p:sp>
      <p:sp>
        <p:nvSpPr>
          <p:cNvPr id="28" name="Shape 26"/>
          <p:cNvSpPr/>
          <p:nvPr/>
        </p:nvSpPr>
        <p:spPr>
          <a:xfrm>
            <a:off x="786384" y="5788152"/>
            <a:ext cx="603504" cy="292608"/>
          </a:xfrm>
          <a:prstGeom prst="roundRect">
            <a:avLst>
              <a:gd name="adj" fmla="val 21875"/>
            </a:avLst>
          </a:prstGeom>
          <a:solidFill>
            <a:srgbClr val="C0542A"/>
          </a:solidFill>
          <a:ln/>
        </p:spPr>
      </p:sp>
      <p:sp>
        <p:nvSpPr>
          <p:cNvPr id="29" name="Text 27"/>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0" name="Text 28"/>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C8D0D4"/>
                </a:solidFill>
                <a:latin typeface="Calibri" pitchFamily="34" charset="0"/>
                <a:ea typeface="Calibri" pitchFamily="34" charset="-122"/>
                <a:cs typeface="Calibri" pitchFamily="34" charset="-120"/>
              </a:rPr>
              <a:t>Le renversement à leur faire trouver eux-mêmes : ce qu'ils maîtrisent déjà, c'est la géométrie. Ce qui leur coûte cher, c'est la matière et la lumière. Donc on donne la géométrie à l'IA et on lui demande le reste.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00:51</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ATELIER · 12 MINUTES</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De la capture 3D au rendu</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12</a:t>
            </a:r>
            <a:endParaRPr lang="en-US" sz="900" dirty="0"/>
          </a:p>
        </p:txBody>
      </p:sp>
      <p:sp>
        <p:nvSpPr>
          <p:cNvPr id="8" name="Shape 6"/>
          <p:cNvSpPr/>
          <p:nvPr/>
        </p:nvSpPr>
        <p:spPr>
          <a:xfrm>
            <a:off x="566928" y="1389888"/>
            <a:ext cx="5346040" cy="987552"/>
          </a:xfrm>
          <a:prstGeom prst="roundRect">
            <a:avLst>
              <a:gd name="adj" fmla="val 7407"/>
            </a:avLst>
          </a:prstGeom>
          <a:solidFill>
            <a:srgbClr val="EFF1F2"/>
          </a:solidFill>
          <a:ln/>
        </p:spPr>
      </p:sp>
      <p:sp>
        <p:nvSpPr>
          <p:cNvPr id="9" name="Shape 7"/>
          <p:cNvSpPr/>
          <p:nvPr/>
        </p:nvSpPr>
        <p:spPr>
          <a:xfrm>
            <a:off x="804672" y="1572768"/>
            <a:ext cx="384048" cy="384048"/>
          </a:xfrm>
          <a:prstGeom prst="ellipse">
            <a:avLst/>
          </a:prstGeom>
          <a:solidFill>
            <a:srgbClr val="44555E"/>
          </a:solidFill>
          <a:ln/>
        </p:spPr>
      </p:sp>
      <p:sp>
        <p:nvSpPr>
          <p:cNvPr id="10" name="Text 8"/>
          <p:cNvSpPr txBox="1"/>
          <p:nvPr/>
        </p:nvSpPr>
        <p:spPr>
          <a:xfrm>
            <a:off x="804672" y="1572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316736" y="1517904"/>
            <a:ext cx="434020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Préparer la capture</a:t>
            </a:r>
            <a:endParaRPr lang="en-US" sz="1500" dirty="0"/>
          </a:p>
        </p:txBody>
      </p:sp>
      <p:sp>
        <p:nvSpPr>
          <p:cNvPr id="12" name="Text 10"/>
          <p:cNvSpPr txBox="1"/>
          <p:nvPr/>
        </p:nvSpPr>
        <p:spPr>
          <a:xfrm>
            <a:off x="1316736" y="1801368"/>
            <a:ext cx="4340200" cy="512064"/>
          </a:xfrm>
          <a:prstGeom prst="rect">
            <a:avLst/>
          </a:prstGeom>
          <a:noFill/>
          <a:ln/>
        </p:spPr>
        <p:txBody>
          <a:bodyPr wrap="square" lIns="0" tIns="0" rIns="0" bIns="0" rtlCol="0" anchor="t"/>
          <a:lstStyle/>
          <a:p>
            <a:pPr indent="0" marL="0">
              <a:lnSpc>
                <a:spcPct val="110000"/>
              </a:lnSpc>
              <a:buNone/>
            </a:pPr>
            <a:r>
              <a:rPr lang="en-US" sz="1100" dirty="0">
                <a:solidFill>
                  <a:srgbClr val="44555E"/>
                </a:solidFill>
                <a:latin typeface="Calibri" pitchFamily="34" charset="0"/>
                <a:ea typeface="Calibri" pitchFamily="34" charset="-122"/>
                <a:cs typeface="Calibri" pitchFamily="34" charset="-120"/>
              </a:rPr>
              <a:t>Vue perspective, pas axonométrie. Verticales droites. Format 16:9. Ombres activées. Export PNG le plus grand possible.</a:t>
            </a:r>
            <a:endParaRPr lang="en-US" sz="1100" dirty="0"/>
          </a:p>
        </p:txBody>
      </p:sp>
      <p:sp>
        <p:nvSpPr>
          <p:cNvPr id="13" name="Shape 11"/>
          <p:cNvSpPr/>
          <p:nvPr/>
        </p:nvSpPr>
        <p:spPr>
          <a:xfrm>
            <a:off x="566928" y="2432304"/>
            <a:ext cx="5346040" cy="987552"/>
          </a:xfrm>
          <a:prstGeom prst="roundRect">
            <a:avLst>
              <a:gd name="adj" fmla="val 7407"/>
            </a:avLst>
          </a:prstGeom>
          <a:solidFill>
            <a:srgbClr val="F6E7E0"/>
          </a:solidFill>
          <a:ln/>
        </p:spPr>
      </p:sp>
      <p:sp>
        <p:nvSpPr>
          <p:cNvPr id="14" name="Shape 12"/>
          <p:cNvSpPr/>
          <p:nvPr/>
        </p:nvSpPr>
        <p:spPr>
          <a:xfrm>
            <a:off x="804672" y="2615184"/>
            <a:ext cx="384048" cy="384048"/>
          </a:xfrm>
          <a:prstGeom prst="ellipse">
            <a:avLst/>
          </a:prstGeom>
          <a:solidFill>
            <a:srgbClr val="C0542A"/>
          </a:solidFill>
          <a:ln/>
        </p:spPr>
      </p:sp>
      <p:sp>
        <p:nvSpPr>
          <p:cNvPr id="15" name="Text 13"/>
          <p:cNvSpPr txBox="1"/>
          <p:nvPr/>
        </p:nvSpPr>
        <p:spPr>
          <a:xfrm>
            <a:off x="804672" y="26151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1316736" y="2560320"/>
            <a:ext cx="434020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Verrouiller la géométrie</a:t>
            </a:r>
            <a:endParaRPr lang="en-US" sz="1500" dirty="0"/>
          </a:p>
        </p:txBody>
      </p:sp>
      <p:sp>
        <p:nvSpPr>
          <p:cNvPr id="17" name="Text 15"/>
          <p:cNvSpPr txBox="1"/>
          <p:nvPr/>
        </p:nvSpPr>
        <p:spPr>
          <a:xfrm>
            <a:off x="1316736" y="2843784"/>
            <a:ext cx="4340200" cy="512064"/>
          </a:xfrm>
          <a:prstGeom prst="rect">
            <a:avLst/>
          </a:prstGeom>
          <a:noFill/>
          <a:ln/>
        </p:spPr>
        <p:txBody>
          <a:bodyPr wrap="square" lIns="0" tIns="0" rIns="0" bIns="0" rtlCol="0" anchor="t"/>
          <a:lstStyle/>
          <a:p>
            <a:pPr indent="0" marL="0">
              <a:lnSpc>
                <a:spcPct val="110000"/>
              </a:lnSpc>
              <a:buNone/>
            </a:pPr>
            <a:r>
              <a:rPr lang="en-US" sz="1100" dirty="0">
                <a:solidFill>
                  <a:srgbClr val="8A4A34"/>
                </a:solidFill>
                <a:latin typeface="Calibri" pitchFamily="34" charset="0"/>
                <a:ea typeface="Calibri" pitchFamily="34" charset="-122"/>
                <a:cs typeface="Calibri" pitchFamily="34" charset="-120"/>
              </a:rPr>
              <a:t>La contrainte se pose AVANT toute description d'ambiance. C'est la phrase la plus importante du module.</a:t>
            </a:r>
            <a:endParaRPr lang="en-US" sz="1100" dirty="0"/>
          </a:p>
        </p:txBody>
      </p:sp>
      <p:sp>
        <p:nvSpPr>
          <p:cNvPr id="18" name="Shape 16"/>
          <p:cNvSpPr/>
          <p:nvPr/>
        </p:nvSpPr>
        <p:spPr>
          <a:xfrm>
            <a:off x="566928" y="3474720"/>
            <a:ext cx="5346040" cy="987552"/>
          </a:xfrm>
          <a:prstGeom prst="roundRect">
            <a:avLst>
              <a:gd name="adj" fmla="val 7407"/>
            </a:avLst>
          </a:prstGeom>
          <a:solidFill>
            <a:srgbClr val="EFF1F2"/>
          </a:solidFill>
          <a:ln/>
        </p:spPr>
      </p:sp>
      <p:sp>
        <p:nvSpPr>
          <p:cNvPr id="19" name="Shape 17"/>
          <p:cNvSpPr/>
          <p:nvPr/>
        </p:nvSpPr>
        <p:spPr>
          <a:xfrm>
            <a:off x="804672" y="3657600"/>
            <a:ext cx="384048" cy="384048"/>
          </a:xfrm>
          <a:prstGeom prst="ellipse">
            <a:avLst/>
          </a:prstGeom>
          <a:solidFill>
            <a:srgbClr val="44555E"/>
          </a:solidFill>
          <a:ln/>
        </p:spPr>
      </p:sp>
      <p:sp>
        <p:nvSpPr>
          <p:cNvPr id="20" name="Text 18"/>
          <p:cNvSpPr txBox="1"/>
          <p:nvPr/>
        </p:nvSpPr>
        <p:spPr>
          <a:xfrm>
            <a:off x="804672"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1316736" y="3602736"/>
            <a:ext cx="434020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Apporter matière et lumière</a:t>
            </a:r>
            <a:endParaRPr lang="en-US" sz="1500" dirty="0"/>
          </a:p>
        </p:txBody>
      </p:sp>
      <p:sp>
        <p:nvSpPr>
          <p:cNvPr id="22" name="Text 20"/>
          <p:cNvSpPr txBox="1"/>
          <p:nvPr/>
        </p:nvSpPr>
        <p:spPr>
          <a:xfrm>
            <a:off x="1316736" y="3886200"/>
            <a:ext cx="4340200" cy="512064"/>
          </a:xfrm>
          <a:prstGeom prst="rect">
            <a:avLst/>
          </a:prstGeom>
          <a:noFill/>
          <a:ln/>
        </p:spPr>
        <p:txBody>
          <a:bodyPr wrap="square" lIns="0" tIns="0" rIns="0" bIns="0" rtlCol="0" anchor="t"/>
          <a:lstStyle/>
          <a:p>
            <a:pPr indent="0" marL="0">
              <a:lnSpc>
                <a:spcPct val="110000"/>
              </a:lnSpc>
              <a:buNone/>
            </a:pPr>
            <a:r>
              <a:rPr lang="en-US" sz="1100" dirty="0">
                <a:solidFill>
                  <a:srgbClr val="44555E"/>
                </a:solidFill>
                <a:latin typeface="Calibri" pitchFamily="34" charset="0"/>
                <a:ea typeface="Calibri" pitchFamily="34" charset="-122"/>
                <a:cs typeface="Calibri" pitchFamily="34" charset="-120"/>
              </a:rPr>
              <a:t>Les blocs 3 et 4 de la structure. Un matériau par élément, nommé précisément.</a:t>
            </a:r>
            <a:endParaRPr lang="en-US" sz="1100" dirty="0"/>
          </a:p>
        </p:txBody>
      </p:sp>
      <p:sp>
        <p:nvSpPr>
          <p:cNvPr id="23" name="Shape 21"/>
          <p:cNvSpPr/>
          <p:nvPr/>
        </p:nvSpPr>
        <p:spPr>
          <a:xfrm>
            <a:off x="566928" y="4517136"/>
            <a:ext cx="5346040" cy="987552"/>
          </a:xfrm>
          <a:prstGeom prst="roundRect">
            <a:avLst>
              <a:gd name="adj" fmla="val 7407"/>
            </a:avLst>
          </a:prstGeom>
          <a:solidFill>
            <a:srgbClr val="EFF1F2"/>
          </a:solidFill>
          <a:ln/>
        </p:spPr>
      </p:sp>
      <p:sp>
        <p:nvSpPr>
          <p:cNvPr id="24" name="Shape 22"/>
          <p:cNvSpPr/>
          <p:nvPr/>
        </p:nvSpPr>
        <p:spPr>
          <a:xfrm>
            <a:off x="804672" y="4700016"/>
            <a:ext cx="384048" cy="384048"/>
          </a:xfrm>
          <a:prstGeom prst="ellipse">
            <a:avLst/>
          </a:prstGeom>
          <a:solidFill>
            <a:srgbClr val="44555E"/>
          </a:solidFill>
          <a:ln/>
        </p:spPr>
      </p:sp>
      <p:sp>
        <p:nvSpPr>
          <p:cNvPr id="25" name="Text 23"/>
          <p:cNvSpPr txBox="1"/>
          <p:nvPr/>
        </p:nvSpPr>
        <p:spPr>
          <a:xfrm>
            <a:off x="804672" y="4700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1316736" y="4645152"/>
            <a:ext cx="434020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Dire ce qui peut bouger</a:t>
            </a:r>
            <a:endParaRPr lang="en-US" sz="1500" dirty="0"/>
          </a:p>
        </p:txBody>
      </p:sp>
      <p:sp>
        <p:nvSpPr>
          <p:cNvPr id="27" name="Text 25"/>
          <p:cNvSpPr txBox="1"/>
          <p:nvPr/>
        </p:nvSpPr>
        <p:spPr>
          <a:xfrm>
            <a:off x="1316736" y="4928616"/>
            <a:ext cx="4340200" cy="512064"/>
          </a:xfrm>
          <a:prstGeom prst="rect">
            <a:avLst/>
          </a:prstGeom>
          <a:noFill/>
          <a:ln/>
        </p:spPr>
        <p:txBody>
          <a:bodyPr wrap="square" lIns="0" tIns="0" rIns="0" bIns="0" rtlCol="0" anchor="t"/>
          <a:lstStyle/>
          <a:p>
            <a:pPr indent="0" marL="0">
              <a:lnSpc>
                <a:spcPct val="110000"/>
              </a:lnSpc>
              <a:buNone/>
            </a:pPr>
            <a:r>
              <a:rPr lang="en-US" sz="1100" dirty="0">
                <a:solidFill>
                  <a:srgbClr val="44555E"/>
                </a:solidFill>
                <a:latin typeface="Calibri" pitchFamily="34" charset="0"/>
                <a:ea typeface="Calibri" pitchFamily="34" charset="-122"/>
                <a:cs typeface="Calibri" pitchFamily="34" charset="-120"/>
              </a:rPr>
              <a:t>Le sol, le ciel, la végétation peuvent être réinterprétés. La façade, non. Le dire explicitement.</a:t>
            </a:r>
            <a:endParaRPr lang="en-US" sz="1100" dirty="0"/>
          </a:p>
        </p:txBody>
      </p:sp>
      <p:sp>
        <p:nvSpPr>
          <p:cNvPr id="28" name="Shape 26"/>
          <p:cNvSpPr/>
          <p:nvPr/>
        </p:nvSpPr>
        <p:spPr>
          <a:xfrm>
            <a:off x="6278728" y="1389888"/>
            <a:ext cx="5346040" cy="4114800"/>
          </a:xfrm>
          <a:prstGeom prst="roundRect">
            <a:avLst>
              <a:gd name="adj" fmla="val 1778"/>
            </a:avLst>
          </a:prstGeom>
          <a:solidFill>
            <a:srgbClr val="1B2126"/>
          </a:solidFill>
          <a:ln/>
        </p:spPr>
      </p:sp>
      <p:sp>
        <p:nvSpPr>
          <p:cNvPr id="29" name="Text 27"/>
          <p:cNvSpPr txBox="1"/>
          <p:nvPr/>
        </p:nvSpPr>
        <p:spPr>
          <a:xfrm>
            <a:off x="6461608" y="1517904"/>
            <a:ext cx="4980280" cy="219456"/>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LE PROMPT TYPE — À COPIER DANS LA BIBLIOTHÈQUE</a:t>
            </a:r>
            <a:endParaRPr lang="en-US" sz="900" dirty="0"/>
          </a:p>
        </p:txBody>
      </p:sp>
      <p:sp>
        <p:nvSpPr>
          <p:cNvPr id="30" name="Text 28"/>
          <p:cNvSpPr txBox="1"/>
          <p:nvPr/>
        </p:nvSpPr>
        <p:spPr>
          <a:xfrm>
            <a:off x="6461608" y="1773936"/>
            <a:ext cx="4980280" cy="3584448"/>
          </a:xfrm>
          <a:prstGeom prst="rect">
            <a:avLst/>
          </a:prstGeom>
          <a:noFill/>
          <a:ln/>
        </p:spPr>
        <p:txBody>
          <a:bodyPr wrap="square" lIns="0" tIns="0" rIns="0" bIns="0" rtlCol="0" anchor="t"/>
          <a:lstStyle/>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Voici une capture de ma maquette 3D.</a:t>
            </a:r>
            <a:endParaRPr lang="en-US" sz="1050" dirty="0"/>
          </a:p>
          <a:p>
            <a:pPr indent="0" marL="0">
              <a:lnSpc>
                <a:spcPct val="100000"/>
              </a:lnSpc>
              <a:buNone/>
            </a:pP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Conserve exactement la géométrie, les</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proportions, le cadrage et le point de vue.</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N'ajoute ni ne supprime aucun volume,</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aucune ouverture, aucun niveau.</a:t>
            </a:r>
            <a:endParaRPr lang="en-US" sz="1050" dirty="0"/>
          </a:p>
          <a:p>
            <a:pPr indent="0" marL="0">
              <a:lnSpc>
                <a:spcPct val="100000"/>
              </a:lnSpc>
              <a:buNone/>
            </a:pP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Transforme-la en photographie d'architecture :</a:t>
            </a:r>
            <a:endParaRPr lang="en-US" sz="1050" dirty="0"/>
          </a:p>
          <a:p>
            <a:pPr indent="0" marL="0">
              <a:lnSpc>
                <a:spcPct val="100000"/>
              </a:lnSpc>
              <a:buNone/>
            </a:pP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 Bardage mélèze vertical non traité,</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  lames de 12 cm, joint creux</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 Soubassement béton brut lisse</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 Menuiseries aluminium anthracite</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 Fin d'après-midi, ciel voilé, ombres</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  longues portées vers l'est</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 Deux personnes de dos, à l'échelle</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 Objectif 24 mm, verticales redressées</a:t>
            </a:r>
            <a:endParaRPr lang="en-US" sz="1050" dirty="0"/>
          </a:p>
          <a:p>
            <a:pPr indent="0" marL="0">
              <a:lnSpc>
                <a:spcPct val="100000"/>
              </a:lnSpc>
              <a:buNone/>
            </a:pP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Le sol, le ciel et la végétation : libres.</a:t>
            </a:r>
            <a:endParaRPr lang="en-US" sz="1050" dirty="0"/>
          </a:p>
          <a:p>
            <a:pPr indent="0" marL="0">
              <a:lnSpc>
                <a:spcPct val="100000"/>
              </a:lnSpc>
              <a:buNone/>
            </a:pPr>
            <a:r>
              <a:rPr lang="en-US" sz="1050" dirty="0">
                <a:solidFill>
                  <a:srgbClr val="DFE5E8"/>
                </a:solidFill>
                <a:latin typeface="Consolas" pitchFamily="34" charset="0"/>
                <a:ea typeface="Consolas" pitchFamily="34" charset="-122"/>
                <a:cs typeface="Consolas" pitchFamily="34" charset="-120"/>
              </a:rPr>
              <a:t>La façade, non.</a:t>
            </a:r>
            <a:endParaRPr lang="en-US" sz="1050" dirty="0"/>
          </a:p>
        </p:txBody>
      </p:sp>
      <p:sp>
        <p:nvSpPr>
          <p:cNvPr id="31" name="Shape 29"/>
          <p:cNvSpPr/>
          <p:nvPr/>
        </p:nvSpPr>
        <p:spPr>
          <a:xfrm>
            <a:off x="566928" y="5632704"/>
            <a:ext cx="11057839" cy="603504"/>
          </a:xfrm>
          <a:prstGeom prst="roundRect">
            <a:avLst>
              <a:gd name="adj" fmla="val 12121"/>
            </a:avLst>
          </a:prstGeom>
          <a:solidFill>
            <a:srgbClr val="F6E7E0"/>
          </a:solidFill>
          <a:ln/>
        </p:spPr>
      </p:sp>
      <p:sp>
        <p:nvSpPr>
          <p:cNvPr id="32" name="Shape 30"/>
          <p:cNvSpPr/>
          <p:nvPr/>
        </p:nvSpPr>
        <p:spPr>
          <a:xfrm>
            <a:off x="786384" y="5788152"/>
            <a:ext cx="603504" cy="292608"/>
          </a:xfrm>
          <a:prstGeom prst="roundRect">
            <a:avLst>
              <a:gd name="adj" fmla="val 21875"/>
            </a:avLst>
          </a:prstGeom>
          <a:solidFill>
            <a:srgbClr val="C0542A"/>
          </a:solidFill>
          <a:ln/>
        </p:spPr>
      </p:sp>
      <p:sp>
        <p:nvSpPr>
          <p:cNvPr id="33" name="Text 31"/>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4" name="Text 32"/>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Vue perspective, jamais axonométrie : l'IA traite une axo comme la photo d'une maquette physique et le résultat est décevant. Vérifiez leurs captures avant de lancer.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01:03</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OBJECTIF B</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Apporter la matière et régler la lumière</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13</a:t>
            </a:r>
            <a:endParaRPr lang="en-US" sz="900" dirty="0"/>
          </a:p>
        </p:txBody>
      </p:sp>
      <p:sp>
        <p:nvSpPr>
          <p:cNvPr id="8" name="Shape 6"/>
          <p:cNvSpPr/>
          <p:nvPr/>
        </p:nvSpPr>
        <p:spPr>
          <a:xfrm>
            <a:off x="566928" y="1389888"/>
            <a:ext cx="5346040" cy="2011680"/>
          </a:xfrm>
          <a:prstGeom prst="roundRect">
            <a:avLst>
              <a:gd name="adj" fmla="val 3636"/>
            </a:avLst>
          </a:prstGeom>
          <a:solidFill>
            <a:srgbClr val="EFF1F2"/>
          </a:solidFill>
          <a:ln/>
        </p:spPr>
      </p:sp>
      <p:sp>
        <p:nvSpPr>
          <p:cNvPr id="9" name="Text 7"/>
          <p:cNvSpPr txBox="1"/>
          <p:nvPr/>
        </p:nvSpPr>
        <p:spPr>
          <a:xfrm>
            <a:off x="8412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LES MATÉRIAUX PAR IMAGE DE RÉFÉRENCE</a:t>
            </a:r>
            <a:endParaRPr lang="en-US" sz="1000" dirty="0"/>
          </a:p>
        </p:txBody>
      </p:sp>
      <p:sp>
        <p:nvSpPr>
          <p:cNvPr id="10" name="Text 8"/>
          <p:cNvSpPr txBox="1"/>
          <p:nvPr/>
        </p:nvSpPr>
        <p:spPr>
          <a:xfrm>
            <a:off x="841248" y="1865376"/>
            <a:ext cx="4797400" cy="141732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Une à trois images jointes, jamais plus : au-delà, le modèle mélange les intentions.</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Nommer le rôle de chaque image dans le texte : « Image 2 = le bardage voulu, matière et teinte uniquement. »</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Une bonne référence est un gros plan de matière, pas la photo d'un bâtiment entier.</a:t>
            </a:r>
            <a:endParaRPr lang="en-US" sz="1150" dirty="0"/>
          </a:p>
        </p:txBody>
      </p:sp>
      <p:sp>
        <p:nvSpPr>
          <p:cNvPr id="11" name="Shape 9"/>
          <p:cNvSpPr/>
          <p:nvPr/>
        </p:nvSpPr>
        <p:spPr>
          <a:xfrm>
            <a:off x="566928" y="3511296"/>
            <a:ext cx="5346040" cy="1993392"/>
          </a:xfrm>
          <a:prstGeom prst="roundRect">
            <a:avLst>
              <a:gd name="adj" fmla="val 3670"/>
            </a:avLst>
          </a:prstGeom>
          <a:solidFill>
            <a:srgbClr val="F7E9E4"/>
          </a:solidFill>
          <a:ln/>
        </p:spPr>
      </p:sp>
      <p:sp>
        <p:nvSpPr>
          <p:cNvPr id="12" name="Text 10"/>
          <p:cNvSpPr txBox="1"/>
          <p:nvPr/>
        </p:nvSpPr>
        <p:spPr>
          <a:xfrm>
            <a:off x="841248" y="3694176"/>
            <a:ext cx="4797400" cy="237744"/>
          </a:xfrm>
          <a:prstGeom prst="rect">
            <a:avLst/>
          </a:prstGeom>
          <a:noFill/>
          <a:ln/>
        </p:spPr>
        <p:txBody>
          <a:bodyPr wrap="square" lIns="0" tIns="0" rIns="0" bIns="0" rtlCol="0" anchor="ctr"/>
          <a:lstStyle/>
          <a:p>
            <a:pPr indent="0" marL="0">
              <a:buNone/>
            </a:pPr>
            <a:r>
              <a:rPr lang="en-US" sz="1000" b="1" spc="120" kern="0" dirty="0">
                <a:solidFill>
                  <a:srgbClr val="C0542A"/>
                </a:solidFill>
                <a:latin typeface="Calibri" pitchFamily="34" charset="0"/>
                <a:ea typeface="Calibri" pitchFamily="34" charset="-122"/>
                <a:cs typeface="Calibri" pitchFamily="34" charset="-120"/>
              </a:rPr>
              <a:t>LE PIÈGE DU PREMIER JOUR</a:t>
            </a:r>
            <a:endParaRPr lang="en-US" sz="1000" dirty="0"/>
          </a:p>
        </p:txBody>
      </p:sp>
      <p:sp>
        <p:nvSpPr>
          <p:cNvPr id="13" name="Text 11"/>
          <p:cNvSpPr txBox="1"/>
          <p:nvPr/>
        </p:nvSpPr>
        <p:spPr>
          <a:xfrm>
            <a:off x="841248" y="3986784"/>
            <a:ext cx="4797400" cy="1371600"/>
          </a:xfrm>
          <a:prstGeom prst="rect">
            <a:avLst/>
          </a:prstGeom>
          <a:noFill/>
          <a:ln/>
        </p:spPr>
        <p:txBody>
          <a:bodyPr wrap="square" lIns="0" tIns="0" rIns="0" bIns="0" rtlCol="0" anchor="t"/>
          <a:lstStyle/>
          <a:p>
            <a:pPr indent="0" marL="0">
              <a:lnSpc>
                <a:spcPct val="114000"/>
              </a:lnSpc>
              <a:buNone/>
            </a:pPr>
            <a:r>
              <a:rPr lang="en-US" sz="1150" dirty="0">
                <a:solidFill>
                  <a:srgbClr val="8A4A34"/>
                </a:solidFill>
                <a:latin typeface="Calibri" pitchFamily="34" charset="0"/>
                <a:ea typeface="Calibri" pitchFamily="34" charset="-122"/>
                <a:cs typeface="Calibri" pitchFamily="34" charset="-120"/>
              </a:rPr>
              <a:t>Vous joignez la photo d'une maison en zinc pour montrer le matériau — et le modèle vous rend VOTRE projet redessiné avec la forme de CETTE maison.</a:t>
            </a:r>
            <a:endParaRPr lang="en-US" sz="1150" dirty="0"/>
          </a:p>
          <a:p>
            <a:pPr indent="0" marL="0">
              <a:lnSpc>
                <a:spcPct val="114000"/>
              </a:lnSpc>
              <a:buNone/>
            </a:pPr>
            <a:endParaRPr lang="en-US" sz="1150" dirty="0"/>
          </a:p>
          <a:p>
            <a:pPr indent="0" marL="0">
              <a:lnSpc>
                <a:spcPct val="114000"/>
              </a:lnSpc>
              <a:buNone/>
            </a:pPr>
            <a:r>
              <a:rPr lang="en-US" sz="1150" dirty="0">
                <a:solidFill>
                  <a:srgbClr val="8A4A34"/>
                </a:solidFill>
                <a:latin typeface="Calibri" pitchFamily="34" charset="0"/>
                <a:ea typeface="Calibri" pitchFamily="34" charset="-122"/>
                <a:cs typeface="Calibri" pitchFamily="34" charset="-120"/>
              </a:rPr>
              <a:t>Il ne distingue pas spontanément la matière de la forme. Il faut le lui dire : « matière et teinte uniquement ».</a:t>
            </a:r>
            <a:endParaRPr lang="en-US" sz="1150" dirty="0"/>
          </a:p>
        </p:txBody>
      </p:sp>
      <p:sp>
        <p:nvSpPr>
          <p:cNvPr id="14" name="Shape 12"/>
          <p:cNvSpPr/>
          <p:nvPr/>
        </p:nvSpPr>
        <p:spPr>
          <a:xfrm>
            <a:off x="6278728" y="1389888"/>
            <a:ext cx="5346040" cy="4114800"/>
          </a:xfrm>
          <a:prstGeom prst="roundRect">
            <a:avLst>
              <a:gd name="adj" fmla="val 1778"/>
            </a:avLst>
          </a:prstGeom>
          <a:solidFill>
            <a:srgbClr val="EFF1F2"/>
          </a:solidFill>
          <a:ln/>
        </p:spPr>
      </p:sp>
      <p:sp>
        <p:nvSpPr>
          <p:cNvPr id="15" name="Text 13"/>
          <p:cNvSpPr txBox="1"/>
          <p:nvPr/>
        </p:nvSpPr>
        <p:spPr>
          <a:xfrm>
            <a:off x="65530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QUATRE AMBIANCES, QUATRE USAGES</a:t>
            </a:r>
            <a:endParaRPr lang="en-US" sz="1000" dirty="0"/>
          </a:p>
        </p:txBody>
      </p:sp>
      <p:sp>
        <p:nvSpPr>
          <p:cNvPr id="16" name="Text 14"/>
          <p:cNvSpPr txBox="1"/>
          <p:nvPr/>
        </p:nvSpPr>
        <p:spPr>
          <a:xfrm>
            <a:off x="6553048" y="1901952"/>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Milieu de matinée</a:t>
            </a:r>
            <a:endParaRPr lang="en-US" sz="1200" dirty="0"/>
          </a:p>
        </p:txBody>
      </p:sp>
      <p:sp>
        <p:nvSpPr>
          <p:cNvPr id="17" name="Text 15"/>
          <p:cNvSpPr txBox="1"/>
          <p:nvPr/>
        </p:nvSpPr>
        <p:spPr>
          <a:xfrm>
            <a:off x="6553048" y="2139696"/>
            <a:ext cx="4797400" cy="237744"/>
          </a:xfrm>
          <a:prstGeom prst="rect">
            <a:avLst/>
          </a:prstGeom>
          <a:noFill/>
          <a:ln/>
        </p:spPr>
        <p:txBody>
          <a:bodyPr wrap="square" lIns="0" tIns="0" rIns="0" bIns="0" rtlCol="0" anchor="ctr"/>
          <a:lstStyle/>
          <a:p>
            <a:pPr indent="0" marL="0">
              <a:buNone/>
            </a:pPr>
            <a:r>
              <a:rPr lang="en-US" sz="1100" i="1" dirty="0">
                <a:solidFill>
                  <a:srgbClr val="44555E"/>
                </a:solidFill>
                <a:latin typeface="Calibri" pitchFamily="34" charset="0"/>
                <a:ea typeface="Calibri" pitchFamily="34" charset="-122"/>
                <a:cs typeface="Calibri" pitchFamily="34" charset="-120"/>
              </a:rPr>
              <a:t>« 10 h, soleil au sud-est, ombres franches »</a:t>
            </a:r>
            <a:endParaRPr lang="en-US" sz="1100" dirty="0"/>
          </a:p>
        </p:txBody>
      </p:sp>
      <p:sp>
        <p:nvSpPr>
          <p:cNvPr id="18" name="Text 16"/>
          <p:cNvSpPr txBox="1"/>
          <p:nvPr/>
        </p:nvSpPr>
        <p:spPr>
          <a:xfrm>
            <a:off x="6553048" y="2377440"/>
            <a:ext cx="4797400" cy="274320"/>
          </a:xfrm>
          <a:prstGeom prst="rect">
            <a:avLst/>
          </a:prstGeom>
          <a:noFill/>
          <a:ln/>
        </p:spPr>
        <p:txBody>
          <a:bodyPr wrap="square" lIns="0" tIns="0" rIns="0" bIns="0" rtlCol="0" anchor="ctr"/>
          <a:lstStyle/>
          <a:p>
            <a:pPr indent="0" marL="0">
              <a:buNone/>
            </a:pPr>
            <a:r>
              <a:rPr lang="en-US" sz="1100" dirty="0">
                <a:solidFill>
                  <a:srgbClr val="78868D"/>
                </a:solidFill>
                <a:latin typeface="Calibri" pitchFamily="34" charset="0"/>
                <a:ea typeface="Calibri" pitchFamily="34" charset="-122"/>
                <a:cs typeface="Calibri" pitchFamily="34" charset="-120"/>
              </a:rPr>
              <a:t>Lecture des volumes — comité, permis</a:t>
            </a:r>
            <a:endParaRPr lang="en-US" sz="1100" dirty="0"/>
          </a:p>
        </p:txBody>
      </p:sp>
      <p:sp>
        <p:nvSpPr>
          <p:cNvPr id="19" name="Text 17"/>
          <p:cNvSpPr txBox="1"/>
          <p:nvPr/>
        </p:nvSpPr>
        <p:spPr>
          <a:xfrm>
            <a:off x="6553048" y="2779776"/>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Fin d'après-midi</a:t>
            </a:r>
            <a:endParaRPr lang="en-US" sz="1200" dirty="0"/>
          </a:p>
        </p:txBody>
      </p:sp>
      <p:sp>
        <p:nvSpPr>
          <p:cNvPr id="20" name="Text 18"/>
          <p:cNvSpPr txBox="1"/>
          <p:nvPr/>
        </p:nvSpPr>
        <p:spPr>
          <a:xfrm>
            <a:off x="6553048" y="3017520"/>
            <a:ext cx="4797400" cy="237744"/>
          </a:xfrm>
          <a:prstGeom prst="rect">
            <a:avLst/>
          </a:prstGeom>
          <a:noFill/>
          <a:ln/>
        </p:spPr>
        <p:txBody>
          <a:bodyPr wrap="square" lIns="0" tIns="0" rIns="0" bIns="0" rtlCol="0" anchor="ctr"/>
          <a:lstStyle/>
          <a:p>
            <a:pPr indent="0" marL="0">
              <a:buNone/>
            </a:pPr>
            <a:r>
              <a:rPr lang="en-US" sz="1100" i="1" dirty="0">
                <a:solidFill>
                  <a:srgbClr val="44555E"/>
                </a:solidFill>
                <a:latin typeface="Calibri" pitchFamily="34" charset="0"/>
                <a:ea typeface="Calibri" pitchFamily="34" charset="-122"/>
                <a:cs typeface="Calibri" pitchFamily="34" charset="-120"/>
              </a:rPr>
              <a:t>« soleil rasant, ombres longues »</a:t>
            </a:r>
            <a:endParaRPr lang="en-US" sz="1100" dirty="0"/>
          </a:p>
        </p:txBody>
      </p:sp>
      <p:sp>
        <p:nvSpPr>
          <p:cNvPr id="21" name="Text 19"/>
          <p:cNvSpPr txBox="1"/>
          <p:nvPr/>
        </p:nvSpPr>
        <p:spPr>
          <a:xfrm>
            <a:off x="6553048" y="3255264"/>
            <a:ext cx="4797400" cy="274320"/>
          </a:xfrm>
          <a:prstGeom prst="rect">
            <a:avLst/>
          </a:prstGeom>
          <a:noFill/>
          <a:ln/>
        </p:spPr>
        <p:txBody>
          <a:bodyPr wrap="square" lIns="0" tIns="0" rIns="0" bIns="0" rtlCol="0" anchor="ctr"/>
          <a:lstStyle/>
          <a:p>
            <a:pPr indent="0" marL="0">
              <a:buNone/>
            </a:pPr>
            <a:r>
              <a:rPr lang="en-US" sz="1100" dirty="0">
                <a:solidFill>
                  <a:srgbClr val="78868D"/>
                </a:solidFill>
                <a:latin typeface="Calibri" pitchFamily="34" charset="0"/>
                <a:ea typeface="Calibri" pitchFamily="34" charset="-122"/>
                <a:cs typeface="Calibri" pitchFamily="34" charset="-120"/>
              </a:rPr>
              <a:t>Chaleur et relief de la matière — communication</a:t>
            </a:r>
            <a:endParaRPr lang="en-US" sz="1100" dirty="0"/>
          </a:p>
        </p:txBody>
      </p:sp>
      <p:sp>
        <p:nvSpPr>
          <p:cNvPr id="22" name="Text 20"/>
          <p:cNvSpPr txBox="1"/>
          <p:nvPr/>
        </p:nvSpPr>
        <p:spPr>
          <a:xfrm>
            <a:off x="6553048" y="3657600"/>
            <a:ext cx="4797400" cy="237744"/>
          </a:xfrm>
          <a:prstGeom prst="rect">
            <a:avLst/>
          </a:prstGeom>
          <a:noFill/>
          <a:ln/>
        </p:spPr>
        <p:txBody>
          <a:bodyPr wrap="square" lIns="0" tIns="0" rIns="0" bIns="0" rtlCol="0" anchor="ctr"/>
          <a:lstStyle/>
          <a:p>
            <a:pPr indent="0" marL="0">
              <a:buNone/>
            </a:pPr>
            <a:r>
              <a:rPr lang="en-US" sz="1200" b="1" dirty="0">
                <a:solidFill>
                  <a:srgbClr val="C0542A"/>
                </a:solidFill>
                <a:latin typeface="Calibri" pitchFamily="34" charset="0"/>
                <a:ea typeface="Calibri" pitchFamily="34" charset="-122"/>
                <a:cs typeface="Calibri" pitchFamily="34" charset="-120"/>
              </a:rPr>
              <a:t>Ciel couvert uniforme</a:t>
            </a:r>
            <a:endParaRPr lang="en-US" sz="1200" dirty="0"/>
          </a:p>
        </p:txBody>
      </p:sp>
      <p:sp>
        <p:nvSpPr>
          <p:cNvPr id="23" name="Text 21"/>
          <p:cNvSpPr txBox="1"/>
          <p:nvPr/>
        </p:nvSpPr>
        <p:spPr>
          <a:xfrm>
            <a:off x="6553048" y="3895344"/>
            <a:ext cx="4797400" cy="237744"/>
          </a:xfrm>
          <a:prstGeom prst="rect">
            <a:avLst/>
          </a:prstGeom>
          <a:noFill/>
          <a:ln/>
        </p:spPr>
        <p:txBody>
          <a:bodyPr wrap="square" lIns="0" tIns="0" rIns="0" bIns="0" rtlCol="0" anchor="ctr"/>
          <a:lstStyle/>
          <a:p>
            <a:pPr indent="0" marL="0">
              <a:buNone/>
            </a:pPr>
            <a:r>
              <a:rPr lang="en-US" sz="1100" i="1" dirty="0">
                <a:solidFill>
                  <a:srgbClr val="44555E"/>
                </a:solidFill>
                <a:latin typeface="Calibri" pitchFamily="34" charset="0"/>
                <a:ea typeface="Calibri" pitchFamily="34" charset="-122"/>
                <a:cs typeface="Calibri" pitchFamily="34" charset="-120"/>
              </a:rPr>
              <a:t>« ciel couvert uniforme, aucune ombre portée »</a:t>
            </a:r>
            <a:endParaRPr lang="en-US" sz="1100" dirty="0"/>
          </a:p>
        </p:txBody>
      </p:sp>
      <p:sp>
        <p:nvSpPr>
          <p:cNvPr id="24" name="Text 22"/>
          <p:cNvSpPr txBox="1"/>
          <p:nvPr/>
        </p:nvSpPr>
        <p:spPr>
          <a:xfrm>
            <a:off x="6553048" y="4133088"/>
            <a:ext cx="4797400" cy="274320"/>
          </a:xfrm>
          <a:prstGeom prst="rect">
            <a:avLst/>
          </a:prstGeom>
          <a:noFill/>
          <a:ln/>
        </p:spPr>
        <p:txBody>
          <a:bodyPr wrap="square" lIns="0" tIns="0" rIns="0" bIns="0" rtlCol="0" anchor="ctr"/>
          <a:lstStyle/>
          <a:p>
            <a:pPr indent="0" marL="0">
              <a:buNone/>
            </a:pPr>
            <a:r>
              <a:rPr lang="en-US" sz="1100" dirty="0">
                <a:solidFill>
                  <a:srgbClr val="C0542A"/>
                </a:solidFill>
                <a:latin typeface="Calibri" pitchFamily="34" charset="0"/>
                <a:ea typeface="Calibri" pitchFamily="34" charset="-122"/>
                <a:cs typeface="Calibri" pitchFamily="34" charset="-120"/>
              </a:rPr>
              <a:t>Lecture neutre — présentation MOA, le plus honnête</a:t>
            </a:r>
            <a:endParaRPr lang="en-US" sz="1100" dirty="0"/>
          </a:p>
        </p:txBody>
      </p:sp>
      <p:sp>
        <p:nvSpPr>
          <p:cNvPr id="25" name="Text 23"/>
          <p:cNvSpPr txBox="1"/>
          <p:nvPr/>
        </p:nvSpPr>
        <p:spPr>
          <a:xfrm>
            <a:off x="6553048" y="4535424"/>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Heure bleue</a:t>
            </a:r>
            <a:endParaRPr lang="en-US" sz="1200" dirty="0"/>
          </a:p>
        </p:txBody>
      </p:sp>
      <p:sp>
        <p:nvSpPr>
          <p:cNvPr id="26" name="Text 24"/>
          <p:cNvSpPr txBox="1"/>
          <p:nvPr/>
        </p:nvSpPr>
        <p:spPr>
          <a:xfrm>
            <a:off x="6553048" y="4773168"/>
            <a:ext cx="4797400" cy="237744"/>
          </a:xfrm>
          <a:prstGeom prst="rect">
            <a:avLst/>
          </a:prstGeom>
          <a:noFill/>
          <a:ln/>
        </p:spPr>
        <p:txBody>
          <a:bodyPr wrap="square" lIns="0" tIns="0" rIns="0" bIns="0" rtlCol="0" anchor="ctr"/>
          <a:lstStyle/>
          <a:p>
            <a:pPr indent="0" marL="0">
              <a:buNone/>
            </a:pPr>
            <a:r>
              <a:rPr lang="en-US" sz="1100" i="1" dirty="0">
                <a:solidFill>
                  <a:srgbClr val="44555E"/>
                </a:solidFill>
                <a:latin typeface="Calibri" pitchFamily="34" charset="0"/>
                <a:ea typeface="Calibri" pitchFamily="34" charset="-122"/>
                <a:cs typeface="Calibri" pitchFamily="34" charset="-120"/>
              </a:rPr>
              <a:t>« crépuscule, intérieurs allumés »</a:t>
            </a:r>
            <a:endParaRPr lang="en-US" sz="1100" dirty="0"/>
          </a:p>
        </p:txBody>
      </p:sp>
      <p:sp>
        <p:nvSpPr>
          <p:cNvPr id="27" name="Text 25"/>
          <p:cNvSpPr txBox="1"/>
          <p:nvPr/>
        </p:nvSpPr>
        <p:spPr>
          <a:xfrm>
            <a:off x="6553048" y="5010912"/>
            <a:ext cx="4797400" cy="274320"/>
          </a:xfrm>
          <a:prstGeom prst="rect">
            <a:avLst/>
          </a:prstGeom>
          <a:noFill/>
          <a:ln/>
        </p:spPr>
        <p:txBody>
          <a:bodyPr wrap="square" lIns="0" tIns="0" rIns="0" bIns="0" rtlCol="0" anchor="ctr"/>
          <a:lstStyle/>
          <a:p>
            <a:pPr indent="0" marL="0">
              <a:buNone/>
            </a:pPr>
            <a:r>
              <a:rPr lang="en-US" sz="1100" dirty="0">
                <a:solidFill>
                  <a:srgbClr val="78868D"/>
                </a:solidFill>
                <a:latin typeface="Calibri" pitchFamily="34" charset="0"/>
                <a:ea typeface="Calibri" pitchFamily="34" charset="-122"/>
                <a:cs typeface="Calibri" pitchFamily="34" charset="-120"/>
              </a:rPr>
              <a:t>L'image vitrine — réseaux sociaux, et celle qui ment le plus</a:t>
            </a:r>
            <a:endParaRPr lang="en-US" sz="1100" dirty="0"/>
          </a:p>
        </p:txBody>
      </p:sp>
      <p:sp>
        <p:nvSpPr>
          <p:cNvPr id="28" name="Shape 26"/>
          <p:cNvSpPr/>
          <p:nvPr/>
        </p:nvSpPr>
        <p:spPr>
          <a:xfrm>
            <a:off x="566928" y="5632704"/>
            <a:ext cx="11057839" cy="603504"/>
          </a:xfrm>
          <a:prstGeom prst="roundRect">
            <a:avLst>
              <a:gd name="adj" fmla="val 12121"/>
            </a:avLst>
          </a:prstGeom>
          <a:solidFill>
            <a:srgbClr val="F6E7E0"/>
          </a:solidFill>
          <a:ln/>
        </p:spPr>
      </p:sp>
      <p:sp>
        <p:nvSpPr>
          <p:cNvPr id="29" name="Shape 27"/>
          <p:cNvSpPr/>
          <p:nvPr/>
        </p:nvSpPr>
        <p:spPr>
          <a:xfrm>
            <a:off x="786384" y="5788152"/>
            <a:ext cx="603504" cy="292608"/>
          </a:xfrm>
          <a:prstGeom prst="roundRect">
            <a:avLst>
              <a:gd name="adj" fmla="val 21875"/>
            </a:avLst>
          </a:prstGeom>
          <a:solidFill>
            <a:srgbClr val="C0542A"/>
          </a:solidFill>
          <a:ln/>
        </p:spPr>
      </p:sp>
      <p:sp>
        <p:nvSpPr>
          <p:cNvPr id="30" name="Text 28"/>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1" name="Text 29"/>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Constituez dès cette semaine un dossier « Références matières » sur le serveur : quinze gros plans nommés par matériau et finition. C'est ce qui rend la méthode reproductible à l'échelle de l'agence.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01:12</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LE CŒUR DU MODULE · OBJECTIF C</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Passer de 80 % à 100 % sans repartir de zéro</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14</a:t>
            </a:r>
            <a:endParaRPr lang="en-US" sz="900" dirty="0"/>
          </a:p>
        </p:txBody>
      </p:sp>
      <p:sp>
        <p:nvSpPr>
          <p:cNvPr id="8" name="Shape 6"/>
          <p:cNvSpPr/>
          <p:nvPr/>
        </p:nvSpPr>
        <p:spPr>
          <a:xfrm>
            <a:off x="566928" y="1389888"/>
            <a:ext cx="11057839" cy="640080"/>
          </a:xfrm>
          <a:prstGeom prst="roundRect">
            <a:avLst>
              <a:gd name="adj" fmla="val 11429"/>
            </a:avLst>
          </a:prstGeom>
          <a:solidFill>
            <a:srgbClr val="14171A"/>
          </a:solidFill>
          <a:ln/>
        </p:spPr>
      </p:sp>
      <p:sp>
        <p:nvSpPr>
          <p:cNvPr id="9" name="Text 7"/>
          <p:cNvSpPr txBox="1"/>
          <p:nvPr/>
        </p:nvSpPr>
        <p:spPr>
          <a:xfrm>
            <a:off x="841248" y="1389888"/>
            <a:ext cx="10509199"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On ne relance jamais le prompt entier. On corrige dans la même conversation, une seule chose à la fois.</a:t>
            </a:r>
            <a:endParaRPr lang="en-US" sz="1550" dirty="0"/>
          </a:p>
        </p:txBody>
      </p:sp>
      <p:sp>
        <p:nvSpPr>
          <p:cNvPr id="10" name="Shape 8"/>
          <p:cNvSpPr/>
          <p:nvPr/>
        </p:nvSpPr>
        <p:spPr>
          <a:xfrm>
            <a:off x="566928" y="2121408"/>
            <a:ext cx="11057839" cy="512064"/>
          </a:xfrm>
          <a:prstGeom prst="roundRect">
            <a:avLst>
              <a:gd name="adj" fmla="val 14286"/>
            </a:avLst>
          </a:prstGeom>
          <a:solidFill>
            <a:srgbClr val="EFF1F2"/>
          </a:solidFill>
          <a:ln/>
        </p:spPr>
      </p:sp>
      <p:sp>
        <p:nvSpPr>
          <p:cNvPr id="11" name="Text 9"/>
          <p:cNvSpPr txBox="1"/>
          <p:nvPr/>
        </p:nvSpPr>
        <p:spPr>
          <a:xfrm>
            <a:off x="841248" y="2121408"/>
            <a:ext cx="1783080" cy="512064"/>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Une matière</a:t>
            </a:r>
            <a:endParaRPr lang="en-US" sz="1250" dirty="0"/>
          </a:p>
        </p:txBody>
      </p:sp>
      <p:sp>
        <p:nvSpPr>
          <p:cNvPr id="12" name="Text 10"/>
          <p:cNvSpPr txBox="1"/>
          <p:nvPr/>
        </p:nvSpPr>
        <p:spPr>
          <a:xfrm>
            <a:off x="2715768" y="2121408"/>
            <a:ext cx="8634679" cy="512064"/>
          </a:xfrm>
          <a:prstGeom prst="rect">
            <a:avLst/>
          </a:prstGeom>
          <a:noFill/>
          <a:ln/>
        </p:spPr>
        <p:txBody>
          <a:bodyPr wrap="square" lIns="0" tIns="0" rIns="0" bIns="0" rtlCol="0" anchor="ctr"/>
          <a:lstStyle/>
          <a:p>
            <a:pPr indent="0" marL="0">
              <a:buNone/>
            </a:pPr>
            <a:r>
              <a:rPr lang="en-US" sz="1150" i="1" dirty="0">
                <a:solidFill>
                  <a:srgbClr val="44555E"/>
                </a:solidFill>
                <a:latin typeface="Calibri" pitchFamily="34" charset="0"/>
                <a:ea typeface="Calibri" pitchFamily="34" charset="-122"/>
                <a:cs typeface="Calibri" pitchFamily="34" charset="-120"/>
              </a:rPr>
              <a:t>« Garde tout identique. Change uniquement le bardage en zinc à joint debout gris quartz. »</a:t>
            </a:r>
            <a:endParaRPr lang="en-US" sz="1150" dirty="0"/>
          </a:p>
        </p:txBody>
      </p:sp>
      <p:sp>
        <p:nvSpPr>
          <p:cNvPr id="13" name="Shape 11"/>
          <p:cNvSpPr/>
          <p:nvPr/>
        </p:nvSpPr>
        <p:spPr>
          <a:xfrm>
            <a:off x="566928" y="2688336"/>
            <a:ext cx="11057839" cy="512064"/>
          </a:xfrm>
          <a:prstGeom prst="roundRect">
            <a:avLst>
              <a:gd name="adj" fmla="val 14286"/>
            </a:avLst>
          </a:prstGeom>
          <a:solidFill>
            <a:srgbClr val="F6F7F8"/>
          </a:solidFill>
          <a:ln/>
        </p:spPr>
      </p:sp>
      <p:sp>
        <p:nvSpPr>
          <p:cNvPr id="14" name="Text 12"/>
          <p:cNvSpPr txBox="1"/>
          <p:nvPr/>
        </p:nvSpPr>
        <p:spPr>
          <a:xfrm>
            <a:off x="841248" y="2688336"/>
            <a:ext cx="1783080" cy="512064"/>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La lumière</a:t>
            </a:r>
            <a:endParaRPr lang="en-US" sz="1250" dirty="0"/>
          </a:p>
        </p:txBody>
      </p:sp>
      <p:sp>
        <p:nvSpPr>
          <p:cNvPr id="15" name="Text 13"/>
          <p:cNvSpPr txBox="1"/>
          <p:nvPr/>
        </p:nvSpPr>
        <p:spPr>
          <a:xfrm>
            <a:off x="2715768" y="2688336"/>
            <a:ext cx="8634679" cy="512064"/>
          </a:xfrm>
          <a:prstGeom prst="rect">
            <a:avLst/>
          </a:prstGeom>
          <a:noFill/>
          <a:ln/>
        </p:spPr>
        <p:txBody>
          <a:bodyPr wrap="square" lIns="0" tIns="0" rIns="0" bIns="0" rtlCol="0" anchor="ctr"/>
          <a:lstStyle/>
          <a:p>
            <a:pPr indent="0" marL="0">
              <a:buNone/>
            </a:pPr>
            <a:r>
              <a:rPr lang="en-US" sz="1150" i="1" dirty="0">
                <a:solidFill>
                  <a:srgbClr val="44555E"/>
                </a:solidFill>
                <a:latin typeface="Calibri" pitchFamily="34" charset="0"/>
                <a:ea typeface="Calibri" pitchFamily="34" charset="-122"/>
                <a:cs typeface="Calibri" pitchFamily="34" charset="-120"/>
              </a:rPr>
              <a:t>« Même image, même cadrage, mêmes matériaux. Passe en ciel couvert uniforme et supprime les ombres portées. »</a:t>
            </a:r>
            <a:endParaRPr lang="en-US" sz="1150" dirty="0"/>
          </a:p>
        </p:txBody>
      </p:sp>
      <p:sp>
        <p:nvSpPr>
          <p:cNvPr id="16" name="Shape 14"/>
          <p:cNvSpPr/>
          <p:nvPr/>
        </p:nvSpPr>
        <p:spPr>
          <a:xfrm>
            <a:off x="566928" y="3255264"/>
            <a:ext cx="11057839" cy="512064"/>
          </a:xfrm>
          <a:prstGeom prst="roundRect">
            <a:avLst>
              <a:gd name="adj" fmla="val 14286"/>
            </a:avLst>
          </a:prstGeom>
          <a:solidFill>
            <a:srgbClr val="EFF1F2"/>
          </a:solidFill>
          <a:ln/>
        </p:spPr>
      </p:sp>
      <p:sp>
        <p:nvSpPr>
          <p:cNvPr id="17" name="Text 15"/>
          <p:cNvSpPr txBox="1"/>
          <p:nvPr/>
        </p:nvSpPr>
        <p:spPr>
          <a:xfrm>
            <a:off x="841248" y="3255264"/>
            <a:ext cx="1783080" cy="512064"/>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Un détail</a:t>
            </a:r>
            <a:endParaRPr lang="en-US" sz="1250" dirty="0"/>
          </a:p>
        </p:txBody>
      </p:sp>
      <p:sp>
        <p:nvSpPr>
          <p:cNvPr id="18" name="Text 16"/>
          <p:cNvSpPr txBox="1"/>
          <p:nvPr/>
        </p:nvSpPr>
        <p:spPr>
          <a:xfrm>
            <a:off x="2715768" y="3255264"/>
            <a:ext cx="8634679" cy="512064"/>
          </a:xfrm>
          <a:prstGeom prst="rect">
            <a:avLst/>
          </a:prstGeom>
          <a:noFill/>
          <a:ln/>
        </p:spPr>
        <p:txBody>
          <a:bodyPr wrap="square" lIns="0" tIns="0" rIns="0" bIns="0" rtlCol="0" anchor="ctr"/>
          <a:lstStyle/>
          <a:p>
            <a:pPr indent="0" marL="0">
              <a:buNone/>
            </a:pPr>
            <a:r>
              <a:rPr lang="en-US" sz="1150" i="1" dirty="0">
                <a:solidFill>
                  <a:srgbClr val="44555E"/>
                </a:solidFill>
                <a:latin typeface="Calibri" pitchFamily="34" charset="0"/>
                <a:ea typeface="Calibri" pitchFamily="34" charset="-122"/>
                <a:cs typeface="Calibri" pitchFamily="34" charset="-120"/>
              </a:rPr>
              <a:t>« Conserve l'ensemble. Supprime le garde-corps du balcon nord et remplace-le par un mur plein enduit. »</a:t>
            </a:r>
            <a:endParaRPr lang="en-US" sz="1150" dirty="0"/>
          </a:p>
        </p:txBody>
      </p:sp>
      <p:sp>
        <p:nvSpPr>
          <p:cNvPr id="19" name="Shape 17"/>
          <p:cNvSpPr/>
          <p:nvPr/>
        </p:nvSpPr>
        <p:spPr>
          <a:xfrm>
            <a:off x="566928" y="3822192"/>
            <a:ext cx="11057839" cy="512064"/>
          </a:xfrm>
          <a:prstGeom prst="roundRect">
            <a:avLst>
              <a:gd name="adj" fmla="val 14286"/>
            </a:avLst>
          </a:prstGeom>
          <a:solidFill>
            <a:srgbClr val="F6F7F8"/>
          </a:solidFill>
          <a:ln/>
        </p:spPr>
      </p:sp>
      <p:sp>
        <p:nvSpPr>
          <p:cNvPr id="20" name="Text 18"/>
          <p:cNvSpPr txBox="1"/>
          <p:nvPr/>
        </p:nvSpPr>
        <p:spPr>
          <a:xfrm>
            <a:off x="841248" y="3822192"/>
            <a:ext cx="1783080" cy="512064"/>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Le staffage</a:t>
            </a:r>
            <a:endParaRPr lang="en-US" sz="1250" dirty="0"/>
          </a:p>
        </p:txBody>
      </p:sp>
      <p:sp>
        <p:nvSpPr>
          <p:cNvPr id="21" name="Text 19"/>
          <p:cNvSpPr txBox="1"/>
          <p:nvPr/>
        </p:nvSpPr>
        <p:spPr>
          <a:xfrm>
            <a:off x="2715768" y="3822192"/>
            <a:ext cx="8634679" cy="512064"/>
          </a:xfrm>
          <a:prstGeom prst="rect">
            <a:avLst/>
          </a:prstGeom>
          <a:noFill/>
          <a:ln/>
        </p:spPr>
        <p:txBody>
          <a:bodyPr wrap="square" lIns="0" tIns="0" rIns="0" bIns="0" rtlCol="0" anchor="ctr"/>
          <a:lstStyle/>
          <a:p>
            <a:pPr indent="0" marL="0">
              <a:buNone/>
            </a:pPr>
            <a:r>
              <a:rPr lang="en-US" sz="1150" i="1" dirty="0">
                <a:solidFill>
                  <a:srgbClr val="44555E"/>
                </a:solidFill>
                <a:latin typeface="Calibri" pitchFamily="34" charset="0"/>
                <a:ea typeface="Calibri" pitchFamily="34" charset="-122"/>
                <a:cs typeface="Calibri" pitchFamily="34" charset="-120"/>
              </a:rPr>
              <a:t>« Même image. Retire les personnages, garde la voiture, ajoute deux vélos contre le mur. »</a:t>
            </a:r>
            <a:endParaRPr lang="en-US" sz="1150" dirty="0"/>
          </a:p>
        </p:txBody>
      </p:sp>
      <p:sp>
        <p:nvSpPr>
          <p:cNvPr id="22" name="Shape 20"/>
          <p:cNvSpPr/>
          <p:nvPr/>
        </p:nvSpPr>
        <p:spPr>
          <a:xfrm>
            <a:off x="566928" y="4389120"/>
            <a:ext cx="11057839" cy="512064"/>
          </a:xfrm>
          <a:prstGeom prst="roundRect">
            <a:avLst>
              <a:gd name="adj" fmla="val 14286"/>
            </a:avLst>
          </a:prstGeom>
          <a:solidFill>
            <a:srgbClr val="F7E9E4"/>
          </a:solidFill>
          <a:ln/>
        </p:spPr>
      </p:sp>
      <p:sp>
        <p:nvSpPr>
          <p:cNvPr id="23" name="Text 21"/>
          <p:cNvSpPr txBox="1"/>
          <p:nvPr/>
        </p:nvSpPr>
        <p:spPr>
          <a:xfrm>
            <a:off x="841248" y="4389120"/>
            <a:ext cx="1783080" cy="512064"/>
          </a:xfrm>
          <a:prstGeom prst="rect">
            <a:avLst/>
          </a:prstGeom>
          <a:noFill/>
          <a:ln/>
        </p:spPr>
        <p:txBody>
          <a:bodyPr wrap="square" lIns="0" tIns="0" rIns="0" bIns="0" rtlCol="0" anchor="ctr"/>
          <a:lstStyle/>
          <a:p>
            <a:pPr indent="0" marL="0">
              <a:buNone/>
            </a:pPr>
            <a:r>
              <a:rPr lang="en-US" sz="1250" b="1" dirty="0">
                <a:solidFill>
                  <a:srgbClr val="C0542A"/>
                </a:solidFill>
                <a:latin typeface="Calibri" pitchFamily="34" charset="0"/>
                <a:ea typeface="Calibri" pitchFamily="34" charset="-122"/>
                <a:cs typeface="Calibri" pitchFamily="34" charset="-120"/>
              </a:rPr>
              <a:t>Le cadrage</a:t>
            </a:r>
            <a:endParaRPr lang="en-US" sz="1250" dirty="0"/>
          </a:p>
        </p:txBody>
      </p:sp>
      <p:sp>
        <p:nvSpPr>
          <p:cNvPr id="24" name="Text 22"/>
          <p:cNvSpPr txBox="1"/>
          <p:nvPr/>
        </p:nvSpPr>
        <p:spPr>
          <a:xfrm>
            <a:off x="2715768" y="4389120"/>
            <a:ext cx="8634679" cy="512064"/>
          </a:xfrm>
          <a:prstGeom prst="rect">
            <a:avLst/>
          </a:prstGeom>
          <a:noFill/>
          <a:ln/>
        </p:spPr>
        <p:txBody>
          <a:bodyPr wrap="square" lIns="0" tIns="0" rIns="0" bIns="0" rtlCol="0" anchor="ctr"/>
          <a:lstStyle/>
          <a:p>
            <a:pPr indent="0" marL="0">
              <a:buNone/>
            </a:pPr>
            <a:r>
              <a:rPr lang="en-US" sz="1150" dirty="0">
                <a:solidFill>
                  <a:srgbClr val="8A4A34"/>
                </a:solidFill>
                <a:latin typeface="Calibri" pitchFamily="34" charset="0"/>
                <a:ea typeface="Calibri" pitchFamily="34" charset="-122"/>
                <a:cs typeface="Calibri" pitchFamily="34" charset="-120"/>
              </a:rPr>
              <a:t>Exception : un cadrage ne se corrige pas. On repart de la capture 3D avec un nouveau point de vue.</a:t>
            </a:r>
            <a:endParaRPr lang="en-US" sz="1150" dirty="0"/>
          </a:p>
        </p:txBody>
      </p:sp>
      <p:sp>
        <p:nvSpPr>
          <p:cNvPr id="25" name="Shape 23"/>
          <p:cNvSpPr/>
          <p:nvPr/>
        </p:nvSpPr>
        <p:spPr>
          <a:xfrm>
            <a:off x="566928" y="5029200"/>
            <a:ext cx="11057839" cy="420624"/>
          </a:xfrm>
          <a:prstGeom prst="roundRect">
            <a:avLst>
              <a:gd name="adj" fmla="val 17391"/>
            </a:avLst>
          </a:prstGeom>
          <a:solidFill>
            <a:srgbClr val="E3E7E9"/>
          </a:solidFill>
          <a:ln/>
        </p:spPr>
      </p:sp>
      <p:sp>
        <p:nvSpPr>
          <p:cNvPr id="26" name="Text 24"/>
          <p:cNvSpPr txBox="1"/>
          <p:nvPr/>
        </p:nvSpPr>
        <p:spPr>
          <a:xfrm>
            <a:off x="841248" y="5029200"/>
            <a:ext cx="10509199" cy="420624"/>
          </a:xfrm>
          <a:prstGeom prst="rect">
            <a:avLst/>
          </a:prstGeom>
          <a:noFill/>
          <a:ln/>
        </p:spPr>
        <p:txBody>
          <a:bodyPr wrap="square" lIns="0" tIns="0" rIns="0" bIns="0" rtlCol="0" anchor="ctr"/>
          <a:lstStyle/>
          <a:p>
            <a:pPr indent="0" marL="0">
              <a:buNone/>
            </a:pPr>
            <a:r>
              <a:rPr lang="en-US" sz="1200" b="1" dirty="0">
                <a:solidFill>
                  <a:srgbClr val="C0542A"/>
                </a:solidFill>
                <a:latin typeface="Calibri" pitchFamily="34" charset="0"/>
                <a:ea typeface="Calibri" pitchFamily="34" charset="-122"/>
                <a:cs typeface="Calibri" pitchFamily="34" charset="-120"/>
              </a:rPr>
              <a:t>Les trois ancrages :   « Garde tout identique. »   ·   « Change uniquement… »   ·   « Même cadrage, même lumière. »</a:t>
            </a:r>
            <a:endParaRPr lang="en-US" sz="1200" dirty="0"/>
          </a:p>
        </p:txBody>
      </p:sp>
      <p:sp>
        <p:nvSpPr>
          <p:cNvPr id="27" name="Shape 25"/>
          <p:cNvSpPr/>
          <p:nvPr/>
        </p:nvSpPr>
        <p:spPr>
          <a:xfrm>
            <a:off x="566928" y="5632704"/>
            <a:ext cx="11057839" cy="603504"/>
          </a:xfrm>
          <a:prstGeom prst="roundRect">
            <a:avLst>
              <a:gd name="adj" fmla="val 12121"/>
            </a:avLst>
          </a:prstGeom>
          <a:solidFill>
            <a:srgbClr val="F6E7E0"/>
          </a:solidFill>
          <a:ln/>
        </p:spPr>
      </p:sp>
      <p:sp>
        <p:nvSpPr>
          <p:cNvPr id="28" name="Shape 26"/>
          <p:cNvSpPr/>
          <p:nvPr/>
        </p:nvSpPr>
        <p:spPr>
          <a:xfrm>
            <a:off x="786384" y="5788152"/>
            <a:ext cx="603504" cy="292608"/>
          </a:xfrm>
          <a:prstGeom prst="roundRect">
            <a:avLst>
              <a:gd name="adj" fmla="val 21875"/>
            </a:avLst>
          </a:prstGeom>
          <a:solidFill>
            <a:srgbClr val="C0542A"/>
          </a:solidFill>
          <a:ln/>
        </p:spPr>
      </p:sp>
      <p:sp>
        <p:nvSpPr>
          <p:cNvPr id="29" name="Text 27"/>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0" name="Text 28"/>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Une seule modification par message. Deux demandes dans le même message, et le modèle en applique une et demie — c'est l'erreur la plus fréquente.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01:17</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CE QUE LE MODÈLE A REDESSINÉ À SA FAÇON</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Le contrôle de dérive, en trente secondes</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15</a:t>
            </a:r>
            <a:endParaRPr lang="en-US" sz="900" dirty="0"/>
          </a:p>
        </p:txBody>
      </p:sp>
      <p:sp>
        <p:nvSpPr>
          <p:cNvPr id="8" name="Shape 6"/>
          <p:cNvSpPr/>
          <p:nvPr/>
        </p:nvSpPr>
        <p:spPr>
          <a:xfrm>
            <a:off x="566928" y="1389888"/>
            <a:ext cx="5346040" cy="4114800"/>
          </a:xfrm>
          <a:prstGeom prst="roundRect">
            <a:avLst>
              <a:gd name="adj" fmla="val 1778"/>
            </a:avLst>
          </a:prstGeom>
          <a:solidFill>
            <a:srgbClr val="EFF1F2"/>
          </a:solidFill>
          <a:ln/>
        </p:spPr>
      </p:sp>
      <p:sp>
        <p:nvSpPr>
          <p:cNvPr id="9" name="Text 7"/>
          <p:cNvSpPr txBox="1"/>
          <p:nvPr/>
        </p:nvSpPr>
        <p:spPr>
          <a:xfrm>
            <a:off x="8412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LA CHECKLIST, DANS CET ORDRE</a:t>
            </a:r>
            <a:endParaRPr lang="en-US" sz="1000" dirty="0"/>
          </a:p>
        </p:txBody>
      </p:sp>
      <p:sp>
        <p:nvSpPr>
          <p:cNvPr id="10" name="Shape 8"/>
          <p:cNvSpPr/>
          <p:nvPr/>
        </p:nvSpPr>
        <p:spPr>
          <a:xfrm>
            <a:off x="841248" y="1920240"/>
            <a:ext cx="274320" cy="274320"/>
          </a:xfrm>
          <a:prstGeom prst="ellipse">
            <a:avLst/>
          </a:prstGeom>
          <a:solidFill>
            <a:srgbClr val="44555E"/>
          </a:solidFill>
          <a:ln/>
        </p:spPr>
      </p:sp>
      <p:sp>
        <p:nvSpPr>
          <p:cNvPr id="11" name="Text 9"/>
          <p:cNvSpPr txBox="1"/>
          <p:nvPr/>
        </p:nvSpPr>
        <p:spPr>
          <a:xfrm>
            <a:off x="841248" y="1920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txBox="1"/>
          <p:nvPr/>
        </p:nvSpPr>
        <p:spPr>
          <a:xfrm>
            <a:off x="1225296" y="1883664"/>
            <a:ext cx="4395064" cy="402336"/>
          </a:xfrm>
          <a:prstGeom prst="rect">
            <a:avLst/>
          </a:prstGeom>
          <a:noFill/>
          <a:ln/>
        </p:spPr>
        <p:txBody>
          <a:bodyPr wrap="square" lIns="0" tIns="0" rIns="0" bIns="0" rtlCol="0" anchor="t"/>
          <a:lstStyle/>
          <a:p>
            <a:pPr indent="0" marL="0">
              <a:lnSpc>
                <a:spcPct val="106000"/>
              </a:lnSpc>
              <a:buNone/>
            </a:pPr>
            <a:r>
              <a:rPr lang="en-US" sz="1150" dirty="0">
                <a:solidFill>
                  <a:srgbClr val="44555E"/>
                </a:solidFill>
                <a:latin typeface="Calibri" pitchFamily="34" charset="0"/>
                <a:ea typeface="Calibri" pitchFamily="34" charset="-122"/>
                <a:cs typeface="Calibri" pitchFamily="34" charset="-120"/>
              </a:rPr>
              <a:t>Nombre de niveaux et de travées — le modèle en ajoute volontiers un</a:t>
            </a:r>
            <a:endParaRPr lang="en-US" sz="1150" dirty="0"/>
          </a:p>
        </p:txBody>
      </p:sp>
      <p:sp>
        <p:nvSpPr>
          <p:cNvPr id="13" name="Shape 11"/>
          <p:cNvSpPr/>
          <p:nvPr/>
        </p:nvSpPr>
        <p:spPr>
          <a:xfrm>
            <a:off x="841248" y="2404872"/>
            <a:ext cx="274320" cy="274320"/>
          </a:xfrm>
          <a:prstGeom prst="ellipse">
            <a:avLst/>
          </a:prstGeom>
          <a:solidFill>
            <a:srgbClr val="44555E"/>
          </a:solidFill>
          <a:ln/>
        </p:spPr>
      </p:sp>
      <p:sp>
        <p:nvSpPr>
          <p:cNvPr id="14" name="Text 12"/>
          <p:cNvSpPr txBox="1"/>
          <p:nvPr/>
        </p:nvSpPr>
        <p:spPr>
          <a:xfrm>
            <a:off x="841248" y="2404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1225296" y="2368296"/>
            <a:ext cx="4395064" cy="402336"/>
          </a:xfrm>
          <a:prstGeom prst="rect">
            <a:avLst/>
          </a:prstGeom>
          <a:noFill/>
          <a:ln/>
        </p:spPr>
        <p:txBody>
          <a:bodyPr wrap="square" lIns="0" tIns="0" rIns="0" bIns="0" rtlCol="0" anchor="t"/>
          <a:lstStyle/>
          <a:p>
            <a:pPr indent="0" marL="0">
              <a:lnSpc>
                <a:spcPct val="106000"/>
              </a:lnSpc>
              <a:buNone/>
            </a:pPr>
            <a:r>
              <a:rPr lang="en-US" sz="1150" dirty="0">
                <a:solidFill>
                  <a:srgbClr val="44555E"/>
                </a:solidFill>
                <a:latin typeface="Calibri" pitchFamily="34" charset="0"/>
                <a:ea typeface="Calibri" pitchFamily="34" charset="-122"/>
                <a:cs typeface="Calibri" pitchFamily="34" charset="-120"/>
              </a:rPr>
              <a:t>Percements : nombre, proportions, alignements verticaux</a:t>
            </a:r>
            <a:endParaRPr lang="en-US" sz="1150" dirty="0"/>
          </a:p>
        </p:txBody>
      </p:sp>
      <p:sp>
        <p:nvSpPr>
          <p:cNvPr id="16" name="Shape 14"/>
          <p:cNvSpPr/>
          <p:nvPr/>
        </p:nvSpPr>
        <p:spPr>
          <a:xfrm>
            <a:off x="841248" y="2889504"/>
            <a:ext cx="274320" cy="274320"/>
          </a:xfrm>
          <a:prstGeom prst="ellipse">
            <a:avLst/>
          </a:prstGeom>
          <a:solidFill>
            <a:srgbClr val="44555E"/>
          </a:solidFill>
          <a:ln/>
        </p:spPr>
      </p:sp>
      <p:sp>
        <p:nvSpPr>
          <p:cNvPr id="17" name="Text 15"/>
          <p:cNvSpPr txBox="1"/>
          <p:nvPr/>
        </p:nvSpPr>
        <p:spPr>
          <a:xfrm>
            <a:off x="841248" y="28895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1225296" y="2852928"/>
            <a:ext cx="4395064" cy="402336"/>
          </a:xfrm>
          <a:prstGeom prst="rect">
            <a:avLst/>
          </a:prstGeom>
          <a:noFill/>
          <a:ln/>
        </p:spPr>
        <p:txBody>
          <a:bodyPr wrap="square" lIns="0" tIns="0" rIns="0" bIns="0" rtlCol="0" anchor="t"/>
          <a:lstStyle/>
          <a:p>
            <a:pPr indent="0" marL="0">
              <a:lnSpc>
                <a:spcPct val="106000"/>
              </a:lnSpc>
              <a:buNone/>
            </a:pPr>
            <a:r>
              <a:rPr lang="en-US" sz="1150" dirty="0">
                <a:solidFill>
                  <a:srgbClr val="44555E"/>
                </a:solidFill>
                <a:latin typeface="Calibri" pitchFamily="34" charset="0"/>
                <a:ea typeface="Calibri" pitchFamily="34" charset="-122"/>
                <a:cs typeface="Calibri" pitchFamily="34" charset="-120"/>
              </a:rPr>
              <a:t>Débords, acrotères, casquettes — souvent redessinés au jugé</a:t>
            </a:r>
            <a:endParaRPr lang="en-US" sz="1150" dirty="0"/>
          </a:p>
        </p:txBody>
      </p:sp>
      <p:sp>
        <p:nvSpPr>
          <p:cNvPr id="19" name="Shape 17"/>
          <p:cNvSpPr/>
          <p:nvPr/>
        </p:nvSpPr>
        <p:spPr>
          <a:xfrm>
            <a:off x="841248" y="3374136"/>
            <a:ext cx="274320" cy="274320"/>
          </a:xfrm>
          <a:prstGeom prst="ellipse">
            <a:avLst/>
          </a:prstGeom>
          <a:solidFill>
            <a:srgbClr val="44555E"/>
          </a:solidFill>
          <a:ln/>
        </p:spPr>
      </p:sp>
      <p:sp>
        <p:nvSpPr>
          <p:cNvPr id="20" name="Text 18"/>
          <p:cNvSpPr txBox="1"/>
          <p:nvPr/>
        </p:nvSpPr>
        <p:spPr>
          <a:xfrm>
            <a:off x="841248" y="337413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txBox="1"/>
          <p:nvPr/>
        </p:nvSpPr>
        <p:spPr>
          <a:xfrm>
            <a:off x="1225296" y="3337560"/>
            <a:ext cx="4395064" cy="402336"/>
          </a:xfrm>
          <a:prstGeom prst="rect">
            <a:avLst/>
          </a:prstGeom>
          <a:noFill/>
          <a:ln/>
        </p:spPr>
        <p:txBody>
          <a:bodyPr wrap="square" lIns="0" tIns="0" rIns="0" bIns="0" rtlCol="0" anchor="t"/>
          <a:lstStyle/>
          <a:p>
            <a:pPr indent="0" marL="0">
              <a:lnSpc>
                <a:spcPct val="106000"/>
              </a:lnSpc>
              <a:buNone/>
            </a:pPr>
            <a:r>
              <a:rPr lang="en-US" sz="1150" dirty="0">
                <a:solidFill>
                  <a:srgbClr val="44555E"/>
                </a:solidFill>
                <a:latin typeface="Calibri" pitchFamily="34" charset="0"/>
                <a:ea typeface="Calibri" pitchFamily="34" charset="-122"/>
                <a:cs typeface="Calibri" pitchFamily="34" charset="-120"/>
              </a:rPr>
              <a:t>Sens du bardage : vertical devenu horizontal sans prévenir</a:t>
            </a:r>
            <a:endParaRPr lang="en-US" sz="1150" dirty="0"/>
          </a:p>
        </p:txBody>
      </p:sp>
      <p:sp>
        <p:nvSpPr>
          <p:cNvPr id="22" name="Shape 20"/>
          <p:cNvSpPr/>
          <p:nvPr/>
        </p:nvSpPr>
        <p:spPr>
          <a:xfrm>
            <a:off x="841248" y="3858768"/>
            <a:ext cx="274320" cy="274320"/>
          </a:xfrm>
          <a:prstGeom prst="ellipse">
            <a:avLst/>
          </a:prstGeom>
          <a:solidFill>
            <a:srgbClr val="44555E"/>
          </a:solidFill>
          <a:ln/>
        </p:spPr>
      </p:sp>
      <p:sp>
        <p:nvSpPr>
          <p:cNvPr id="23" name="Text 21"/>
          <p:cNvSpPr txBox="1"/>
          <p:nvPr/>
        </p:nvSpPr>
        <p:spPr>
          <a:xfrm>
            <a:off x="841248" y="3858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Text 22"/>
          <p:cNvSpPr txBox="1"/>
          <p:nvPr/>
        </p:nvSpPr>
        <p:spPr>
          <a:xfrm>
            <a:off x="1225296" y="3822192"/>
            <a:ext cx="4395064" cy="402336"/>
          </a:xfrm>
          <a:prstGeom prst="rect">
            <a:avLst/>
          </a:prstGeom>
          <a:noFill/>
          <a:ln/>
        </p:spPr>
        <p:txBody>
          <a:bodyPr wrap="square" lIns="0" tIns="0" rIns="0" bIns="0" rtlCol="0" anchor="t"/>
          <a:lstStyle/>
          <a:p>
            <a:pPr indent="0" marL="0">
              <a:lnSpc>
                <a:spcPct val="106000"/>
              </a:lnSpc>
              <a:buNone/>
            </a:pPr>
            <a:r>
              <a:rPr lang="en-US" sz="1150" dirty="0">
                <a:solidFill>
                  <a:srgbClr val="44555E"/>
                </a:solidFill>
                <a:latin typeface="Calibri" pitchFamily="34" charset="0"/>
                <a:ea typeface="Calibri" pitchFamily="34" charset="-122"/>
                <a:cs typeface="Calibri" pitchFamily="34" charset="-120"/>
              </a:rPr>
              <a:t>Garde-corps, descentes d'eau pluviale, seuils — inventés</a:t>
            </a:r>
            <a:endParaRPr lang="en-US" sz="1150" dirty="0"/>
          </a:p>
        </p:txBody>
      </p:sp>
      <p:sp>
        <p:nvSpPr>
          <p:cNvPr id="25" name="Shape 23"/>
          <p:cNvSpPr/>
          <p:nvPr/>
        </p:nvSpPr>
        <p:spPr>
          <a:xfrm>
            <a:off x="841248" y="4343400"/>
            <a:ext cx="274320" cy="274320"/>
          </a:xfrm>
          <a:prstGeom prst="ellipse">
            <a:avLst/>
          </a:prstGeom>
          <a:solidFill>
            <a:srgbClr val="44555E"/>
          </a:solidFill>
          <a:ln/>
        </p:spPr>
      </p:sp>
      <p:sp>
        <p:nvSpPr>
          <p:cNvPr id="26" name="Text 24"/>
          <p:cNvSpPr txBox="1"/>
          <p:nvPr/>
        </p:nvSpPr>
        <p:spPr>
          <a:xfrm>
            <a:off x="841248" y="43434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7" name="Text 25"/>
          <p:cNvSpPr txBox="1"/>
          <p:nvPr/>
        </p:nvSpPr>
        <p:spPr>
          <a:xfrm>
            <a:off x="1225296" y="4306824"/>
            <a:ext cx="4395064" cy="402336"/>
          </a:xfrm>
          <a:prstGeom prst="rect">
            <a:avLst/>
          </a:prstGeom>
          <a:noFill/>
          <a:ln/>
        </p:spPr>
        <p:txBody>
          <a:bodyPr wrap="square" lIns="0" tIns="0" rIns="0" bIns="0" rtlCol="0" anchor="t"/>
          <a:lstStyle/>
          <a:p>
            <a:pPr indent="0" marL="0">
              <a:lnSpc>
                <a:spcPct val="106000"/>
              </a:lnSpc>
              <a:buNone/>
            </a:pPr>
            <a:r>
              <a:rPr lang="en-US" sz="1150" dirty="0">
                <a:solidFill>
                  <a:srgbClr val="44555E"/>
                </a:solidFill>
                <a:latin typeface="Calibri" pitchFamily="34" charset="0"/>
                <a:ea typeface="Calibri" pitchFamily="34" charset="-122"/>
                <a:cs typeface="Calibri" pitchFamily="34" charset="-120"/>
              </a:rPr>
              <a:t>Échelle du staffage : personnages trop petits, bâtiment trop grand</a:t>
            </a:r>
            <a:endParaRPr lang="en-US" sz="1150" dirty="0"/>
          </a:p>
        </p:txBody>
      </p:sp>
      <p:sp>
        <p:nvSpPr>
          <p:cNvPr id="28" name="Shape 26"/>
          <p:cNvSpPr/>
          <p:nvPr/>
        </p:nvSpPr>
        <p:spPr>
          <a:xfrm>
            <a:off x="841248" y="4828032"/>
            <a:ext cx="274320" cy="274320"/>
          </a:xfrm>
          <a:prstGeom prst="ellipse">
            <a:avLst/>
          </a:prstGeom>
          <a:solidFill>
            <a:srgbClr val="44555E"/>
          </a:solidFill>
          <a:ln/>
        </p:spPr>
      </p:sp>
      <p:sp>
        <p:nvSpPr>
          <p:cNvPr id="29" name="Text 27"/>
          <p:cNvSpPr txBox="1"/>
          <p:nvPr/>
        </p:nvSpPr>
        <p:spPr>
          <a:xfrm>
            <a:off x="841248" y="48280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0" name="Text 28"/>
          <p:cNvSpPr txBox="1"/>
          <p:nvPr/>
        </p:nvSpPr>
        <p:spPr>
          <a:xfrm>
            <a:off x="1225296" y="4791456"/>
            <a:ext cx="4395064" cy="402336"/>
          </a:xfrm>
          <a:prstGeom prst="rect">
            <a:avLst/>
          </a:prstGeom>
          <a:noFill/>
          <a:ln/>
        </p:spPr>
        <p:txBody>
          <a:bodyPr wrap="square" lIns="0" tIns="0" rIns="0" bIns="0" rtlCol="0" anchor="t"/>
          <a:lstStyle/>
          <a:p>
            <a:pPr indent="0" marL="0">
              <a:lnSpc>
                <a:spcPct val="106000"/>
              </a:lnSpc>
              <a:buNone/>
            </a:pPr>
            <a:r>
              <a:rPr lang="en-US" sz="1150" dirty="0">
                <a:solidFill>
                  <a:srgbClr val="44555E"/>
                </a:solidFill>
                <a:latin typeface="Calibri" pitchFamily="34" charset="0"/>
                <a:ea typeface="Calibri" pitchFamily="34" charset="-122"/>
                <a:cs typeface="Calibri" pitchFamily="34" charset="-120"/>
              </a:rPr>
              <a:t>Cohérence des ombres avec l'heure annoncée</a:t>
            </a:r>
            <a:endParaRPr lang="en-US" sz="1150" dirty="0"/>
          </a:p>
        </p:txBody>
      </p:sp>
      <p:sp>
        <p:nvSpPr>
          <p:cNvPr id="31" name="Shape 29"/>
          <p:cNvSpPr/>
          <p:nvPr/>
        </p:nvSpPr>
        <p:spPr>
          <a:xfrm>
            <a:off x="6278728" y="1389888"/>
            <a:ext cx="5346040" cy="1572768"/>
          </a:xfrm>
          <a:prstGeom prst="roundRect">
            <a:avLst>
              <a:gd name="adj" fmla="val 4651"/>
            </a:avLst>
          </a:prstGeom>
          <a:solidFill>
            <a:srgbClr val="EFF1F2"/>
          </a:solidFill>
          <a:ln/>
        </p:spPr>
      </p:sp>
      <p:sp>
        <p:nvSpPr>
          <p:cNvPr id="32" name="Text 30"/>
          <p:cNvSpPr txBox="1"/>
          <p:nvPr/>
        </p:nvSpPr>
        <p:spPr>
          <a:xfrm>
            <a:off x="65530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LA MÉTHODE</a:t>
            </a:r>
            <a:endParaRPr lang="en-US" sz="1000" dirty="0"/>
          </a:p>
        </p:txBody>
      </p:sp>
      <p:sp>
        <p:nvSpPr>
          <p:cNvPr id="33" name="Text 31"/>
          <p:cNvSpPr txBox="1"/>
          <p:nvPr/>
        </p:nvSpPr>
        <p:spPr>
          <a:xfrm>
            <a:off x="6553048" y="1865376"/>
            <a:ext cx="4797400" cy="914400"/>
          </a:xfrm>
          <a:prstGeom prst="rect">
            <a:avLst/>
          </a:prstGeom>
          <a:noFill/>
          <a:ln/>
        </p:spPr>
        <p:txBody>
          <a:bodyPr wrap="square" lIns="0" tIns="0" rIns="0" bIns="0" rtlCol="0" anchor="t"/>
          <a:lstStyle/>
          <a:p>
            <a:pPr indent="0" marL="0">
              <a:lnSpc>
                <a:spcPct val="114000"/>
              </a:lnSpc>
              <a:buNone/>
            </a:pPr>
            <a:r>
              <a:rPr lang="en-US" sz="1200" dirty="0">
                <a:solidFill>
                  <a:srgbClr val="44555E"/>
                </a:solidFill>
                <a:latin typeface="Calibri" pitchFamily="34" charset="0"/>
                <a:ea typeface="Calibri" pitchFamily="34" charset="-122"/>
                <a:cs typeface="Calibri" pitchFamily="34" charset="-120"/>
              </a:rPr>
              <a:t>Capture 3D et image générée ouvertes côte à côte, sur deux moitiés d'écran. Trente secondes de lecture, systématiquement, avant toute nouvelle itération.</a:t>
            </a:r>
            <a:endParaRPr lang="en-US" sz="1200" dirty="0"/>
          </a:p>
        </p:txBody>
      </p:sp>
      <p:sp>
        <p:nvSpPr>
          <p:cNvPr id="34" name="Shape 32"/>
          <p:cNvSpPr/>
          <p:nvPr/>
        </p:nvSpPr>
        <p:spPr>
          <a:xfrm>
            <a:off x="6278728" y="3072384"/>
            <a:ext cx="5346040" cy="1170432"/>
          </a:xfrm>
          <a:prstGeom prst="roundRect">
            <a:avLst>
              <a:gd name="adj" fmla="val 6250"/>
            </a:avLst>
          </a:prstGeom>
          <a:solidFill>
            <a:srgbClr val="F7E9E4"/>
          </a:solidFill>
          <a:ln/>
        </p:spPr>
      </p:sp>
      <p:sp>
        <p:nvSpPr>
          <p:cNvPr id="35" name="Text 33"/>
          <p:cNvSpPr txBox="1"/>
          <p:nvPr/>
        </p:nvSpPr>
        <p:spPr>
          <a:xfrm>
            <a:off x="6553048" y="3072384"/>
            <a:ext cx="4797400" cy="1170432"/>
          </a:xfrm>
          <a:prstGeom prst="rect">
            <a:avLst/>
          </a:prstGeom>
          <a:noFill/>
          <a:ln/>
        </p:spPr>
        <p:txBody>
          <a:bodyPr wrap="square" lIns="0" tIns="0" rIns="0" bIns="0" rtlCol="0" anchor="ctr"/>
          <a:lstStyle/>
          <a:p>
            <a:pPr indent="0" marL="0">
              <a:lnSpc>
                <a:spcPct val="114000"/>
              </a:lnSpc>
              <a:buNone/>
            </a:pPr>
            <a:r>
              <a:rPr lang="en-US" sz="1200" dirty="0">
                <a:solidFill>
                  <a:srgbClr val="8A4A34"/>
                </a:solidFill>
                <a:latin typeface="Calibri" pitchFamily="34" charset="0"/>
                <a:ea typeface="Calibri" pitchFamily="34" charset="-122"/>
                <a:cs typeface="Calibri" pitchFamily="34" charset="-120"/>
              </a:rPr>
              <a:t>Une image passée devant un client avec une travée de plus, c'est une reprise de confiance qui coûte plus cher que tout le temps gagné.</a:t>
            </a:r>
            <a:endParaRPr lang="en-US" sz="1200" dirty="0"/>
          </a:p>
        </p:txBody>
      </p:sp>
      <p:sp>
        <p:nvSpPr>
          <p:cNvPr id="36" name="Shape 34"/>
          <p:cNvSpPr/>
          <p:nvPr/>
        </p:nvSpPr>
        <p:spPr>
          <a:xfrm>
            <a:off x="6278728" y="4352544"/>
            <a:ext cx="5346040" cy="1152144"/>
          </a:xfrm>
          <a:prstGeom prst="roundRect">
            <a:avLst>
              <a:gd name="adj" fmla="val 6349"/>
            </a:avLst>
          </a:prstGeom>
          <a:solidFill>
            <a:srgbClr val="14171A"/>
          </a:solidFill>
          <a:ln/>
        </p:spPr>
      </p:sp>
      <p:sp>
        <p:nvSpPr>
          <p:cNvPr id="37" name="Text 35"/>
          <p:cNvSpPr txBox="1"/>
          <p:nvPr/>
        </p:nvSpPr>
        <p:spPr>
          <a:xfrm>
            <a:off x="6553048" y="4352544"/>
            <a:ext cx="4797400" cy="1152144"/>
          </a:xfrm>
          <a:prstGeom prst="rect">
            <a:avLst/>
          </a:prstGeom>
          <a:noFill/>
          <a:ln/>
        </p:spPr>
        <p:txBody>
          <a:bodyPr wrap="square" lIns="0" tIns="0" rIns="0" bIns="0" rtlCol="0" anchor="ctr"/>
          <a:lstStyle/>
          <a:p>
            <a:pPr indent="0" marL="0">
              <a:lnSpc>
                <a:spcPct val="114000"/>
              </a:lnSpc>
              <a:buNone/>
            </a:pPr>
            <a:r>
              <a:rPr lang="en-US" sz="1200" dirty="0">
                <a:solidFill>
                  <a:srgbClr val="C8D0D4"/>
                </a:solidFill>
                <a:latin typeface="Calibri" pitchFamily="34" charset="0"/>
                <a:ea typeface="Calibri" pitchFamily="34" charset="-122"/>
                <a:cs typeface="Calibri" pitchFamily="34" charset="-120"/>
              </a:rPr>
              <a:t>Le modèle ne se trompe pas : il produit l'image la plus plausible, pas la plus conforme. Là où votre projet s'écarte de l'ordinaire, il ramène vers la moyenne.</a:t>
            </a:r>
            <a:endParaRPr lang="en-US" sz="1200" dirty="0"/>
          </a:p>
        </p:txBody>
      </p:sp>
      <p:sp>
        <p:nvSpPr>
          <p:cNvPr id="38" name="Shape 36"/>
          <p:cNvSpPr/>
          <p:nvPr/>
        </p:nvSpPr>
        <p:spPr>
          <a:xfrm>
            <a:off x="566928" y="5632704"/>
            <a:ext cx="11057839" cy="603504"/>
          </a:xfrm>
          <a:prstGeom prst="roundRect">
            <a:avLst>
              <a:gd name="adj" fmla="val 12121"/>
            </a:avLst>
          </a:prstGeom>
          <a:solidFill>
            <a:srgbClr val="F6E7E0"/>
          </a:solidFill>
          <a:ln/>
        </p:spPr>
      </p:sp>
      <p:sp>
        <p:nvSpPr>
          <p:cNvPr id="39" name="Shape 37"/>
          <p:cNvSpPr/>
          <p:nvPr/>
        </p:nvSpPr>
        <p:spPr>
          <a:xfrm>
            <a:off x="786384" y="5788152"/>
            <a:ext cx="603504" cy="292608"/>
          </a:xfrm>
          <a:prstGeom prst="roundRect">
            <a:avLst>
              <a:gd name="adj" fmla="val 21875"/>
            </a:avLst>
          </a:prstGeom>
          <a:solidFill>
            <a:srgbClr val="C0542A"/>
          </a:solidFill>
          <a:ln/>
        </p:spPr>
      </p:sp>
      <p:sp>
        <p:nvSpPr>
          <p:cNvPr id="40" name="Text 38"/>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41" name="Text 39"/>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Règle d'agence à poser dès demain : une image qui n'a pas subi le contrôle de dérive ne sort pas de l'agence. C'est le geste qui protège votre crédibilité.</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01:20</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ATELIER · 15 MINUTES</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Itérer sur votre propre projet</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16</a:t>
            </a:r>
            <a:endParaRPr lang="en-US" sz="900" dirty="0"/>
          </a:p>
        </p:txBody>
      </p:sp>
      <p:sp>
        <p:nvSpPr>
          <p:cNvPr id="8" name="Shape 6"/>
          <p:cNvSpPr/>
          <p:nvPr/>
        </p:nvSpPr>
        <p:spPr>
          <a:xfrm>
            <a:off x="566928" y="1417320"/>
            <a:ext cx="11057839" cy="1024128"/>
          </a:xfrm>
          <a:prstGeom prst="roundRect">
            <a:avLst>
              <a:gd name="adj" fmla="val 7143"/>
            </a:avLst>
          </a:prstGeom>
          <a:solidFill>
            <a:srgbClr val="EFF1F2"/>
          </a:solidFill>
          <a:ln/>
        </p:spPr>
      </p:sp>
      <p:sp>
        <p:nvSpPr>
          <p:cNvPr id="9" name="Text 7"/>
          <p:cNvSpPr txBox="1"/>
          <p:nvPr/>
        </p:nvSpPr>
        <p:spPr>
          <a:xfrm>
            <a:off x="822960" y="1709928"/>
            <a:ext cx="868680" cy="40233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5 min</a:t>
            </a:r>
            <a:endParaRPr lang="en-US" sz="1700" dirty="0"/>
          </a:p>
        </p:txBody>
      </p:sp>
      <p:sp>
        <p:nvSpPr>
          <p:cNvPr id="10" name="Text 8"/>
          <p:cNvSpPr txBox="1"/>
          <p:nvPr/>
        </p:nvSpPr>
        <p:spPr>
          <a:xfrm>
            <a:off x="1847088" y="1600200"/>
            <a:ext cx="9457639"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Une première image à 80 %</a:t>
            </a:r>
            <a:endParaRPr lang="en-US" sz="1500" dirty="0"/>
          </a:p>
        </p:txBody>
      </p:sp>
      <p:sp>
        <p:nvSpPr>
          <p:cNvPr id="11" name="Text 9"/>
          <p:cNvSpPr txBox="1"/>
          <p:nvPr/>
        </p:nvSpPr>
        <p:spPr>
          <a:xfrm>
            <a:off x="1847088" y="1901952"/>
            <a:ext cx="9457639" cy="457200"/>
          </a:xfrm>
          <a:prstGeom prst="rect">
            <a:avLst/>
          </a:prstGeom>
          <a:noFill/>
          <a:ln/>
        </p:spPr>
        <p:txBody>
          <a:bodyPr wrap="square" lIns="0" tIns="0" rIns="0" bIns="0" rtlCol="0" anchor="ctr"/>
          <a:lstStyle/>
          <a:p>
            <a:pPr indent="0" marL="0">
              <a:buNone/>
            </a:pPr>
            <a:r>
              <a:rPr lang="en-US" sz="1150" dirty="0">
                <a:solidFill>
                  <a:srgbClr val="44555E"/>
                </a:solidFill>
                <a:latin typeface="Calibri" pitchFamily="34" charset="0"/>
                <a:ea typeface="Calibri" pitchFamily="34" charset="-122"/>
                <a:cs typeface="Calibri" pitchFamily="34" charset="-120"/>
              </a:rPr>
              <a:t>Depuis votre capture 3D, avec le prompt type. On ne cherche pas la perfection — on cherche une base.</a:t>
            </a:r>
            <a:endParaRPr lang="en-US" sz="1150" dirty="0"/>
          </a:p>
        </p:txBody>
      </p:sp>
      <p:sp>
        <p:nvSpPr>
          <p:cNvPr id="12" name="Shape 10"/>
          <p:cNvSpPr/>
          <p:nvPr/>
        </p:nvSpPr>
        <p:spPr>
          <a:xfrm>
            <a:off x="566928" y="2514600"/>
            <a:ext cx="11057839" cy="1024128"/>
          </a:xfrm>
          <a:prstGeom prst="roundRect">
            <a:avLst>
              <a:gd name="adj" fmla="val 7143"/>
            </a:avLst>
          </a:prstGeom>
          <a:solidFill>
            <a:srgbClr val="F6E7E0"/>
          </a:solidFill>
          <a:ln/>
        </p:spPr>
      </p:sp>
      <p:sp>
        <p:nvSpPr>
          <p:cNvPr id="13" name="Text 11"/>
          <p:cNvSpPr txBox="1"/>
          <p:nvPr/>
        </p:nvSpPr>
        <p:spPr>
          <a:xfrm>
            <a:off x="822960" y="2807208"/>
            <a:ext cx="868680" cy="402336"/>
          </a:xfrm>
          <a:prstGeom prst="rect">
            <a:avLst/>
          </a:prstGeom>
          <a:noFill/>
          <a:ln/>
        </p:spPr>
        <p:txBody>
          <a:bodyPr wrap="square" lIns="0" tIns="0" rIns="0" bIns="0" rtlCol="0" anchor="ctr"/>
          <a:lstStyle/>
          <a:p>
            <a:pPr indent="0" marL="0">
              <a:buNone/>
            </a:pPr>
            <a:r>
              <a:rPr lang="en-US" sz="1700" b="1" dirty="0">
                <a:solidFill>
                  <a:srgbClr val="C0542A"/>
                </a:solidFill>
                <a:latin typeface="Cambria" pitchFamily="34" charset="0"/>
                <a:ea typeface="Cambria" pitchFamily="34" charset="-122"/>
                <a:cs typeface="Cambria" pitchFamily="34" charset="-120"/>
              </a:rPr>
              <a:t>7 min</a:t>
            </a:r>
            <a:endParaRPr lang="en-US" sz="1700" dirty="0"/>
          </a:p>
        </p:txBody>
      </p:sp>
      <p:sp>
        <p:nvSpPr>
          <p:cNvPr id="14" name="Text 12"/>
          <p:cNvSpPr txBox="1"/>
          <p:nvPr/>
        </p:nvSpPr>
        <p:spPr>
          <a:xfrm>
            <a:off x="1847088" y="2697480"/>
            <a:ext cx="9457639"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Trois itérations, une par catégorie</a:t>
            </a:r>
            <a:endParaRPr lang="en-US" sz="1500" dirty="0"/>
          </a:p>
        </p:txBody>
      </p:sp>
      <p:sp>
        <p:nvSpPr>
          <p:cNvPr id="15" name="Text 13"/>
          <p:cNvSpPr txBox="1"/>
          <p:nvPr/>
        </p:nvSpPr>
        <p:spPr>
          <a:xfrm>
            <a:off x="1847088" y="2999232"/>
            <a:ext cx="9457639" cy="457200"/>
          </a:xfrm>
          <a:prstGeom prst="rect">
            <a:avLst/>
          </a:prstGeom>
          <a:noFill/>
          <a:ln/>
        </p:spPr>
        <p:txBody>
          <a:bodyPr wrap="square" lIns="0" tIns="0" rIns="0" bIns="0" rtlCol="0" anchor="ctr"/>
          <a:lstStyle/>
          <a:p>
            <a:pPr indent="0" marL="0">
              <a:buNone/>
            </a:pPr>
            <a:r>
              <a:rPr lang="en-US" sz="1150" dirty="0">
                <a:solidFill>
                  <a:srgbClr val="8A4A34"/>
                </a:solidFill>
                <a:latin typeface="Calibri" pitchFamily="34" charset="0"/>
                <a:ea typeface="Calibri" pitchFamily="34" charset="-122"/>
                <a:cs typeface="Calibri" pitchFamily="34" charset="-120"/>
              </a:rPr>
              <a:t>Une matière, une lumière, un détail. Dans la même conversation, avec les trois ancrages.</a:t>
            </a:r>
            <a:endParaRPr lang="en-US" sz="1150" dirty="0"/>
          </a:p>
        </p:txBody>
      </p:sp>
      <p:sp>
        <p:nvSpPr>
          <p:cNvPr id="16" name="Shape 14"/>
          <p:cNvSpPr/>
          <p:nvPr/>
        </p:nvSpPr>
        <p:spPr>
          <a:xfrm>
            <a:off x="566928" y="3611880"/>
            <a:ext cx="11057839" cy="1024128"/>
          </a:xfrm>
          <a:prstGeom prst="roundRect">
            <a:avLst>
              <a:gd name="adj" fmla="val 7143"/>
            </a:avLst>
          </a:prstGeom>
          <a:solidFill>
            <a:srgbClr val="EFF1F2"/>
          </a:solidFill>
          <a:ln/>
        </p:spPr>
      </p:sp>
      <p:sp>
        <p:nvSpPr>
          <p:cNvPr id="17" name="Text 15"/>
          <p:cNvSpPr txBox="1"/>
          <p:nvPr/>
        </p:nvSpPr>
        <p:spPr>
          <a:xfrm>
            <a:off x="822960" y="3904488"/>
            <a:ext cx="868680" cy="402336"/>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3 min</a:t>
            </a:r>
            <a:endParaRPr lang="en-US" sz="1700" dirty="0"/>
          </a:p>
        </p:txBody>
      </p:sp>
      <p:sp>
        <p:nvSpPr>
          <p:cNvPr id="18" name="Text 16"/>
          <p:cNvSpPr txBox="1"/>
          <p:nvPr/>
        </p:nvSpPr>
        <p:spPr>
          <a:xfrm>
            <a:off x="1847088" y="3794760"/>
            <a:ext cx="9457639"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Contrôle de dérive croisé</a:t>
            </a:r>
            <a:endParaRPr lang="en-US" sz="1500" dirty="0"/>
          </a:p>
        </p:txBody>
      </p:sp>
      <p:sp>
        <p:nvSpPr>
          <p:cNvPr id="19" name="Text 17"/>
          <p:cNvSpPr txBox="1"/>
          <p:nvPr/>
        </p:nvSpPr>
        <p:spPr>
          <a:xfrm>
            <a:off x="1847088" y="4096512"/>
            <a:ext cx="9457639" cy="457200"/>
          </a:xfrm>
          <a:prstGeom prst="rect">
            <a:avLst/>
          </a:prstGeom>
          <a:noFill/>
          <a:ln/>
        </p:spPr>
        <p:txBody>
          <a:bodyPr wrap="square" lIns="0" tIns="0" rIns="0" bIns="0" rtlCol="0" anchor="ctr"/>
          <a:lstStyle/>
          <a:p>
            <a:pPr indent="0" marL="0">
              <a:buNone/>
            </a:pPr>
            <a:r>
              <a:rPr lang="en-US" sz="1150" dirty="0">
                <a:solidFill>
                  <a:srgbClr val="44555E"/>
                </a:solidFill>
                <a:latin typeface="Calibri" pitchFamily="34" charset="0"/>
                <a:ea typeface="Calibri" pitchFamily="34" charset="-122"/>
                <a:cs typeface="Calibri" pitchFamily="34" charset="-120"/>
              </a:rPr>
              <a:t>Chacun relit l'image de l'autre avec la checklist. On trouve toujours quelque chose.</a:t>
            </a:r>
            <a:endParaRPr lang="en-US" sz="1150" dirty="0"/>
          </a:p>
        </p:txBody>
      </p:sp>
      <p:sp>
        <p:nvSpPr>
          <p:cNvPr id="20" name="Shape 18"/>
          <p:cNvSpPr/>
          <p:nvPr/>
        </p:nvSpPr>
        <p:spPr>
          <a:xfrm>
            <a:off x="566928" y="4754880"/>
            <a:ext cx="11057839" cy="749808"/>
          </a:xfrm>
          <a:prstGeom prst="roundRect">
            <a:avLst>
              <a:gd name="adj" fmla="val 9756"/>
            </a:avLst>
          </a:prstGeom>
          <a:solidFill>
            <a:srgbClr val="14171A"/>
          </a:solidFill>
          <a:ln/>
        </p:spPr>
      </p:sp>
      <p:sp>
        <p:nvSpPr>
          <p:cNvPr id="21" name="Text 19"/>
          <p:cNvSpPr txBox="1"/>
          <p:nvPr/>
        </p:nvSpPr>
        <p:spPr>
          <a:xfrm>
            <a:off x="841248" y="4754880"/>
            <a:ext cx="10509199" cy="749808"/>
          </a:xfrm>
          <a:prstGeom prst="rect">
            <a:avLst/>
          </a:prstGeom>
          <a:noFill/>
          <a:ln/>
        </p:spPr>
        <p:txBody>
          <a:bodyPr wrap="square" lIns="0" tIns="0" rIns="0" bIns="0" rtlCol="0" anchor="ctr"/>
          <a:lstStyle/>
          <a:p>
            <a:pPr indent="0" marL="0">
              <a:buNone/>
            </a:pPr>
            <a:r>
              <a:rPr lang="en-US" sz="1250" dirty="0">
                <a:solidFill>
                  <a:srgbClr val="C8D0D4"/>
                </a:solidFill>
                <a:latin typeface="Calibri" pitchFamily="34" charset="0"/>
                <a:ea typeface="Calibri" pitchFamily="34" charset="-122"/>
                <a:cs typeface="Calibri" pitchFamily="34" charset="-120"/>
              </a:rPr>
              <a:t>Sortie attendue : chacun quitte l'atelier avec une image de son projet qu'il assume de montrer, et le prompt qui l'a produite, collé dans la bibliothèque.</a:t>
            </a:r>
            <a:endParaRPr lang="en-US" sz="1250" dirty="0"/>
          </a:p>
        </p:txBody>
      </p:sp>
      <p:sp>
        <p:nvSpPr>
          <p:cNvPr id="22" name="Shape 20"/>
          <p:cNvSpPr/>
          <p:nvPr/>
        </p:nvSpPr>
        <p:spPr>
          <a:xfrm>
            <a:off x="566928" y="5632704"/>
            <a:ext cx="11057839" cy="603504"/>
          </a:xfrm>
          <a:prstGeom prst="roundRect">
            <a:avLst>
              <a:gd name="adj" fmla="val 12121"/>
            </a:avLst>
          </a:prstGeom>
          <a:solidFill>
            <a:srgbClr val="F6E7E0"/>
          </a:solidFill>
          <a:ln/>
        </p:spPr>
      </p:sp>
      <p:sp>
        <p:nvSpPr>
          <p:cNvPr id="23" name="Shape 21"/>
          <p:cNvSpPr/>
          <p:nvPr/>
        </p:nvSpPr>
        <p:spPr>
          <a:xfrm>
            <a:off x="786384" y="5788152"/>
            <a:ext cx="603504" cy="292608"/>
          </a:xfrm>
          <a:prstGeom prst="roundRect">
            <a:avLst>
              <a:gd name="adj" fmla="val 21875"/>
            </a:avLst>
          </a:prstGeom>
          <a:solidFill>
            <a:srgbClr val="C0542A"/>
          </a:solidFill>
          <a:ln/>
        </p:spPr>
      </p:sp>
      <p:sp>
        <p:nvSpPr>
          <p:cNvPr id="24" name="Text 22"/>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5" name="Text 23"/>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Une image tenue vaut mieux que dix images moyennes. Et si une image sort parfaite du premier coup, c'est suspect — faites-lui quand même passer le contrôle de dérive.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9418320" y="320040"/>
            <a:ext cx="2377440" cy="2377440"/>
          </a:xfrm>
          <a:prstGeom prst="rect">
            <a:avLst/>
          </a:prstGeom>
          <a:noFill/>
          <a:ln/>
        </p:spPr>
        <p:txBody>
          <a:bodyPr wrap="square" lIns="0" tIns="0" rIns="0" bIns="0" rtlCol="0" anchor="ctr"/>
          <a:lstStyle/>
          <a:p>
            <a:pPr algn="ctr" indent="0" marL="0">
              <a:buNone/>
            </a:pPr>
            <a:r>
              <a:rPr lang="en-US" sz="15000" b="1" dirty="0">
                <a:solidFill>
                  <a:srgbClr val="1F252A"/>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566928" y="713232"/>
            <a:ext cx="8595360" cy="292608"/>
          </a:xfrm>
          <a:prstGeom prst="rect">
            <a:avLst/>
          </a:prstGeom>
          <a:noFill/>
          <a:ln/>
        </p:spPr>
        <p:txBody>
          <a:bodyPr wrap="square" lIns="0" tIns="0" rIns="0" bIns="0" rtlCol="0" anchor="ctr"/>
          <a:lstStyle/>
          <a:p>
            <a:pPr indent="0" marL="0">
              <a:buNone/>
            </a:pPr>
            <a:r>
              <a:rPr lang="en-US" sz="1200" b="1" spc="180" kern="0" dirty="0">
                <a:solidFill>
                  <a:srgbClr val="C0542A"/>
                </a:solidFill>
                <a:latin typeface="Calibri" pitchFamily="34" charset="0"/>
                <a:ea typeface="Calibri" pitchFamily="34" charset="-122"/>
                <a:cs typeface="Calibri" pitchFamily="34" charset="-120"/>
              </a:rPr>
              <a:t>01:40 → 02:15  ·  35 MINUTES</a:t>
            </a:r>
            <a:endParaRPr lang="en-US" sz="1200" dirty="0"/>
          </a:p>
        </p:txBody>
      </p:sp>
      <p:sp>
        <p:nvSpPr>
          <p:cNvPr id="4" name="Text 2"/>
          <p:cNvSpPr txBox="1"/>
          <p:nvPr/>
        </p:nvSpPr>
        <p:spPr>
          <a:xfrm>
            <a:off x="566928" y="1060704"/>
            <a:ext cx="8778240" cy="8686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La vidéo courte</a:t>
            </a:r>
            <a:endParaRPr lang="en-US" sz="4000" dirty="0"/>
          </a:p>
        </p:txBody>
      </p:sp>
      <p:sp>
        <p:nvSpPr>
          <p:cNvPr id="5" name="Text 3"/>
          <p:cNvSpPr txBox="1"/>
          <p:nvPr/>
        </p:nvSpPr>
        <p:spPr>
          <a:xfrm>
            <a:off x="566928" y="1956816"/>
            <a:ext cx="9692640" cy="384048"/>
          </a:xfrm>
          <a:prstGeom prst="rect">
            <a:avLst/>
          </a:prstGeom>
          <a:noFill/>
          <a:ln/>
        </p:spPr>
        <p:txBody>
          <a:bodyPr wrap="square" lIns="0" tIns="0" rIns="0" bIns="0" rtlCol="0" anchor="ctr"/>
          <a:lstStyle/>
          <a:p>
            <a:pPr indent="0" marL="0">
              <a:buNone/>
            </a:pPr>
            <a:r>
              <a:rPr lang="en-US" sz="1350" i="1" dirty="0">
                <a:solidFill>
                  <a:srgbClr val="9AA6AC"/>
                </a:solidFill>
                <a:latin typeface="Calibri" pitchFamily="34" charset="0"/>
                <a:ea typeface="Calibri" pitchFamily="34" charset="-122"/>
                <a:cs typeface="Calibri" pitchFamily="34" charset="-120"/>
              </a:rPr>
              <a:t>Les règles du prompt vidéo n'ont rien à voir avec celles de l'image.</a:t>
            </a:r>
            <a:endParaRPr lang="en-US" sz="135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9AA6AC"/>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9AA6AC"/>
                </a:solidFill>
                <a:latin typeface="Calibri" pitchFamily="34" charset="0"/>
                <a:ea typeface="Calibri" pitchFamily="34" charset="-122"/>
                <a:cs typeface="Calibri" pitchFamily="34" charset="-120"/>
              </a:rPr>
              <a:t>17</a:t>
            </a:r>
            <a:endParaRPr lang="en-US" sz="900" dirty="0"/>
          </a:p>
        </p:txBody>
      </p:sp>
      <p:sp>
        <p:nvSpPr>
          <p:cNvPr id="8" name="Shape 6"/>
          <p:cNvSpPr/>
          <p:nvPr/>
        </p:nvSpPr>
        <p:spPr>
          <a:xfrm>
            <a:off x="7818120" y="658368"/>
            <a:ext cx="3803904" cy="420624"/>
          </a:xfrm>
          <a:prstGeom prst="roundRect">
            <a:avLst>
              <a:gd name="adj" fmla="val 17391"/>
            </a:avLst>
          </a:prstGeom>
          <a:solidFill>
            <a:srgbClr val="23292E"/>
          </a:solidFill>
          <a:ln/>
        </p:spPr>
      </p:sp>
      <p:sp>
        <p:nvSpPr>
          <p:cNvPr id="9" name="Text 7"/>
          <p:cNvSpPr txBox="1"/>
          <p:nvPr/>
        </p:nvSpPr>
        <p:spPr>
          <a:xfrm>
            <a:off x="7818120" y="658368"/>
            <a:ext cx="3803904" cy="420624"/>
          </a:xfrm>
          <a:prstGeom prst="rect">
            <a:avLst/>
          </a:prstGeom>
          <a:noFill/>
          <a:ln/>
        </p:spPr>
        <p:txBody>
          <a:bodyPr wrap="square" lIns="0" tIns="0" rIns="0" bIns="0" rtlCol="0" anchor="ctr"/>
          <a:lstStyle/>
          <a:p>
            <a:pPr algn="ctr" indent="0" marL="0">
              <a:buNone/>
            </a:pPr>
            <a:r>
              <a:rPr lang="en-US" sz="1100" b="1" spc="100" kern="0" dirty="0">
                <a:solidFill>
                  <a:srgbClr val="9AA6AC"/>
                </a:solidFill>
                <a:latin typeface="Calibri" pitchFamily="34" charset="0"/>
                <a:ea typeface="Calibri" pitchFamily="34" charset="-122"/>
                <a:cs typeface="Calibri" pitchFamily="34" charset="-120"/>
              </a:rPr>
              <a:t>PAUSE  01:30 → 01:40  ·  10 MINUTES</a:t>
            </a:r>
            <a:endParaRPr lang="en-US" sz="1100" dirty="0"/>
          </a:p>
        </p:txBody>
      </p:sp>
      <p:sp>
        <p:nvSpPr>
          <p:cNvPr id="10" name="Shape 8"/>
          <p:cNvSpPr/>
          <p:nvPr/>
        </p:nvSpPr>
        <p:spPr>
          <a:xfrm>
            <a:off x="566928" y="3310128"/>
            <a:ext cx="2593010" cy="1444752"/>
          </a:xfrm>
          <a:prstGeom prst="roundRect">
            <a:avLst>
              <a:gd name="adj" fmla="val 5063"/>
            </a:avLst>
          </a:prstGeom>
          <a:solidFill>
            <a:srgbClr val="23292E"/>
          </a:solidFill>
          <a:ln/>
        </p:spPr>
      </p:sp>
      <p:sp>
        <p:nvSpPr>
          <p:cNvPr id="11" name="Text 9"/>
          <p:cNvSpPr txBox="1"/>
          <p:nvPr/>
        </p:nvSpPr>
        <p:spPr>
          <a:xfrm>
            <a:off x="786384"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5 min</a:t>
            </a:r>
            <a:endParaRPr lang="en-US" sz="1800" dirty="0"/>
          </a:p>
        </p:txBody>
      </p:sp>
      <p:sp>
        <p:nvSpPr>
          <p:cNvPr id="12" name="Text 10"/>
          <p:cNvSpPr txBox="1"/>
          <p:nvPr/>
        </p:nvSpPr>
        <p:spPr>
          <a:xfrm>
            <a:off x="786384"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Seedance 2.0 : ce qu'il fait, où y accéder, ce qu'il coûte</a:t>
            </a:r>
            <a:endParaRPr lang="en-US" sz="1150" dirty="0"/>
          </a:p>
        </p:txBody>
      </p:sp>
      <p:sp>
        <p:nvSpPr>
          <p:cNvPr id="13" name="Shape 11"/>
          <p:cNvSpPr/>
          <p:nvPr/>
        </p:nvSpPr>
        <p:spPr>
          <a:xfrm>
            <a:off x="3388538" y="3310128"/>
            <a:ext cx="2593010" cy="1444752"/>
          </a:xfrm>
          <a:prstGeom prst="roundRect">
            <a:avLst>
              <a:gd name="adj" fmla="val 5063"/>
            </a:avLst>
          </a:prstGeom>
          <a:solidFill>
            <a:srgbClr val="23292E"/>
          </a:solidFill>
          <a:ln/>
        </p:spPr>
      </p:sp>
      <p:sp>
        <p:nvSpPr>
          <p:cNvPr id="14" name="Text 12"/>
          <p:cNvSpPr txBox="1"/>
          <p:nvPr/>
        </p:nvSpPr>
        <p:spPr>
          <a:xfrm>
            <a:off x="3607994"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8 min</a:t>
            </a:r>
            <a:endParaRPr lang="en-US" sz="1800" dirty="0"/>
          </a:p>
        </p:txBody>
      </p:sp>
      <p:sp>
        <p:nvSpPr>
          <p:cNvPr id="15" name="Text 13"/>
          <p:cNvSpPr txBox="1"/>
          <p:nvPr/>
        </p:nvSpPr>
        <p:spPr>
          <a:xfrm>
            <a:off x="3607994"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Le prompt vidéo en six blocs, et les six pièges</a:t>
            </a:r>
            <a:endParaRPr lang="en-US" sz="1150" dirty="0"/>
          </a:p>
        </p:txBody>
      </p:sp>
      <p:sp>
        <p:nvSpPr>
          <p:cNvPr id="16" name="Shape 14"/>
          <p:cNvSpPr/>
          <p:nvPr/>
        </p:nvSpPr>
        <p:spPr>
          <a:xfrm>
            <a:off x="6210148" y="3310128"/>
            <a:ext cx="2593010" cy="1444752"/>
          </a:xfrm>
          <a:prstGeom prst="roundRect">
            <a:avLst>
              <a:gd name="adj" fmla="val 5063"/>
            </a:avLst>
          </a:prstGeom>
          <a:solidFill>
            <a:srgbClr val="23292E"/>
          </a:solidFill>
          <a:ln/>
        </p:spPr>
      </p:sp>
      <p:sp>
        <p:nvSpPr>
          <p:cNvPr id="17" name="Text 15"/>
          <p:cNvSpPr txBox="1"/>
          <p:nvPr/>
        </p:nvSpPr>
        <p:spPr>
          <a:xfrm>
            <a:off x="6429604"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4 min</a:t>
            </a:r>
            <a:endParaRPr lang="en-US" sz="1800" dirty="0"/>
          </a:p>
        </p:txBody>
      </p:sp>
      <p:sp>
        <p:nvSpPr>
          <p:cNvPr id="18" name="Text 16"/>
          <p:cNvSpPr txBox="1"/>
          <p:nvPr/>
        </p:nvSpPr>
        <p:spPr>
          <a:xfrm>
            <a:off x="6429604"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Travelling, panoramique, révélation, survol</a:t>
            </a:r>
            <a:endParaRPr lang="en-US" sz="1150" dirty="0"/>
          </a:p>
        </p:txBody>
      </p:sp>
      <p:sp>
        <p:nvSpPr>
          <p:cNvPr id="19" name="Shape 17"/>
          <p:cNvSpPr/>
          <p:nvPr/>
        </p:nvSpPr>
        <p:spPr>
          <a:xfrm>
            <a:off x="9031757" y="3310128"/>
            <a:ext cx="2593010" cy="1444752"/>
          </a:xfrm>
          <a:prstGeom prst="roundRect">
            <a:avLst>
              <a:gd name="adj" fmla="val 5063"/>
            </a:avLst>
          </a:prstGeom>
          <a:solidFill>
            <a:srgbClr val="23292E"/>
          </a:solidFill>
          <a:ln/>
        </p:spPr>
      </p:sp>
      <p:sp>
        <p:nvSpPr>
          <p:cNvPr id="20" name="Text 18"/>
          <p:cNvSpPr txBox="1"/>
          <p:nvPr/>
        </p:nvSpPr>
        <p:spPr>
          <a:xfrm>
            <a:off x="9251213"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20 min</a:t>
            </a:r>
            <a:endParaRPr lang="en-US" sz="1800" dirty="0"/>
          </a:p>
        </p:txBody>
      </p:sp>
      <p:sp>
        <p:nvSpPr>
          <p:cNvPr id="21" name="Text 19"/>
          <p:cNvSpPr txBox="1"/>
          <p:nvPr/>
        </p:nvSpPr>
        <p:spPr>
          <a:xfrm>
            <a:off x="9251213"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Atelier : animer une image validée du module précédent</a:t>
            </a:r>
            <a:endParaRPr lang="en-US" sz="1150" dirty="0"/>
          </a:p>
        </p:txBody>
      </p:sp>
      <p:sp>
        <p:nvSpPr>
          <p:cNvPr id="22" name="Shape 20"/>
          <p:cNvSpPr/>
          <p:nvPr/>
        </p:nvSpPr>
        <p:spPr>
          <a:xfrm>
            <a:off x="566928" y="5632704"/>
            <a:ext cx="11057839" cy="603504"/>
          </a:xfrm>
          <a:prstGeom prst="roundRect">
            <a:avLst>
              <a:gd name="adj" fmla="val 12121"/>
            </a:avLst>
          </a:prstGeom>
          <a:solidFill>
            <a:srgbClr val="23292E"/>
          </a:solidFill>
          <a:ln/>
        </p:spPr>
      </p:sp>
      <p:sp>
        <p:nvSpPr>
          <p:cNvPr id="23" name="Shape 21"/>
          <p:cNvSpPr/>
          <p:nvPr/>
        </p:nvSpPr>
        <p:spPr>
          <a:xfrm>
            <a:off x="786384" y="5788152"/>
            <a:ext cx="603504" cy="292608"/>
          </a:xfrm>
          <a:prstGeom prst="roundRect">
            <a:avLst>
              <a:gd name="adj" fmla="val 21875"/>
            </a:avLst>
          </a:prstGeom>
          <a:solidFill>
            <a:srgbClr val="C0542A"/>
          </a:solidFill>
          <a:ln/>
        </p:spPr>
      </p:sp>
      <p:sp>
        <p:nvSpPr>
          <p:cNvPr id="24" name="Text 22"/>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5" name="Text 23"/>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C8D0D4"/>
                </a:solidFill>
                <a:latin typeface="Calibri" pitchFamily="34" charset="0"/>
                <a:ea typeface="Calibri" pitchFamily="34" charset="-122"/>
                <a:cs typeface="Calibri" pitchFamily="34" charset="-120"/>
              </a:rPr>
              <a:t>Séquence la plus fragile techniquement : file d'attente, crédits épuisés, génération qui échoue. Annoncez dès le début qu'une génération sur trois est jetable — c'est normal, et ça fait partie du coût.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01:40</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L'OUTIL</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Seedance 2.0, en cinq minutes</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18</a:t>
            </a:r>
            <a:endParaRPr lang="en-US" sz="900" dirty="0"/>
          </a:p>
        </p:txBody>
      </p:sp>
      <p:sp>
        <p:nvSpPr>
          <p:cNvPr id="8" name="Shape 6"/>
          <p:cNvSpPr/>
          <p:nvPr/>
        </p:nvSpPr>
        <p:spPr>
          <a:xfrm>
            <a:off x="566928" y="1389888"/>
            <a:ext cx="5346040" cy="1874520"/>
          </a:xfrm>
          <a:prstGeom prst="roundRect">
            <a:avLst>
              <a:gd name="adj" fmla="val 3902"/>
            </a:avLst>
          </a:prstGeom>
          <a:solidFill>
            <a:srgbClr val="EFF1F2"/>
          </a:solidFill>
          <a:ln/>
        </p:spPr>
      </p:sp>
      <p:sp>
        <p:nvSpPr>
          <p:cNvPr id="9" name="Text 7"/>
          <p:cNvSpPr txBox="1"/>
          <p:nvPr/>
        </p:nvSpPr>
        <p:spPr>
          <a:xfrm>
            <a:off x="8412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CE QUE C'EST</a:t>
            </a:r>
            <a:endParaRPr lang="en-US" sz="1000" dirty="0"/>
          </a:p>
        </p:txBody>
      </p:sp>
      <p:sp>
        <p:nvSpPr>
          <p:cNvPr id="10" name="Text 8"/>
          <p:cNvSpPr txBox="1"/>
          <p:nvPr/>
        </p:nvSpPr>
        <p:spPr>
          <a:xfrm>
            <a:off x="841248" y="1865376"/>
            <a:ext cx="4797400" cy="1280160"/>
          </a:xfrm>
          <a:prstGeom prst="rect">
            <a:avLst/>
          </a:prstGeom>
          <a:noFill/>
          <a:ln/>
        </p:spPr>
        <p:txBody>
          <a:bodyPr wrap="square" lIns="0" tIns="0" rIns="0" bIns="0" rtlCol="0" anchor="t"/>
          <a:lstStyle/>
          <a:p>
            <a:pPr indent="0" marL="0">
              <a:lnSpc>
                <a:spcPct val="114000"/>
              </a:lnSpc>
              <a:buNone/>
            </a:pPr>
            <a:r>
              <a:rPr lang="en-US" sz="1200" dirty="0">
                <a:solidFill>
                  <a:srgbClr val="44555E"/>
                </a:solidFill>
                <a:latin typeface="Calibri" pitchFamily="34" charset="0"/>
                <a:ea typeface="Calibri" pitchFamily="34" charset="-122"/>
                <a:cs typeface="Calibri" pitchFamily="34" charset="-120"/>
              </a:rPr>
              <a:t>Le modèle vidéo de ByteDance, sorti début 2026. Il occupe la première place des classements image vers vidéo, devant Veo 3, Sora 2 et Runway.</a:t>
            </a:r>
            <a:endParaRPr lang="en-US" sz="1200" dirty="0"/>
          </a:p>
          <a:p>
            <a:pPr indent="0" marL="0">
              <a:lnSpc>
                <a:spcPct val="114000"/>
              </a:lnSpc>
              <a:buNone/>
            </a:pPr>
            <a:endParaRPr lang="en-US" sz="1200" dirty="0"/>
          </a:p>
          <a:p>
            <a:pPr indent="0" marL="0">
              <a:lnSpc>
                <a:spcPct val="114000"/>
              </a:lnSpc>
              <a:buNone/>
            </a:pPr>
            <a:r>
              <a:rPr lang="en-US" sz="1200" dirty="0">
                <a:solidFill>
                  <a:srgbClr val="44555E"/>
                </a:solidFill>
                <a:latin typeface="Calibri" pitchFamily="34" charset="0"/>
                <a:ea typeface="Calibri" pitchFamily="34" charset="-122"/>
                <a:cs typeface="Calibri" pitchFamily="34" charset="-120"/>
              </a:rPr>
              <a:t>Une seule fonction nous intéresse : donner à un rendu fixe un mouvement de caméra crédible.</a:t>
            </a:r>
            <a:endParaRPr lang="en-US" sz="1200" dirty="0"/>
          </a:p>
        </p:txBody>
      </p:sp>
      <p:sp>
        <p:nvSpPr>
          <p:cNvPr id="11" name="Shape 9"/>
          <p:cNvSpPr/>
          <p:nvPr/>
        </p:nvSpPr>
        <p:spPr>
          <a:xfrm>
            <a:off x="6278728" y="1389888"/>
            <a:ext cx="5346040" cy="1874520"/>
          </a:xfrm>
          <a:prstGeom prst="roundRect">
            <a:avLst>
              <a:gd name="adj" fmla="val 3902"/>
            </a:avLst>
          </a:prstGeom>
          <a:solidFill>
            <a:srgbClr val="EFF1F2"/>
          </a:solidFill>
          <a:ln/>
        </p:spPr>
      </p:sp>
      <p:sp>
        <p:nvSpPr>
          <p:cNvPr id="12" name="Text 10"/>
          <p:cNvSpPr txBox="1"/>
          <p:nvPr/>
        </p:nvSpPr>
        <p:spPr>
          <a:xfrm>
            <a:off x="65530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OÙ Y ACCÉDER, À QUEL PRIX</a:t>
            </a:r>
            <a:endParaRPr lang="en-US" sz="1000" dirty="0"/>
          </a:p>
        </p:txBody>
      </p:sp>
      <p:sp>
        <p:nvSpPr>
          <p:cNvPr id="13" name="Text 11"/>
          <p:cNvSpPr txBox="1"/>
          <p:nvPr/>
        </p:nvSpPr>
        <p:spPr>
          <a:xfrm>
            <a:off x="6553048" y="1865376"/>
            <a:ext cx="4797400" cy="1280160"/>
          </a:xfrm>
          <a:prstGeom prst="rect">
            <a:avLst/>
          </a:prstGeom>
          <a:noFill/>
          <a:ln/>
        </p:spPr>
        <p:txBody>
          <a:bodyPr wrap="square" lIns="0" tIns="0" rIns="0" bIns="0" rtlCol="0" anchor="t"/>
          <a:lstStyle/>
          <a:p>
            <a:pPr indent="0" marL="0">
              <a:lnSpc>
                <a:spcPct val="114000"/>
              </a:lnSpc>
              <a:buNone/>
            </a:pPr>
            <a:r>
              <a:rPr lang="en-US" sz="1200" dirty="0">
                <a:solidFill>
                  <a:srgbClr val="44555E"/>
                </a:solidFill>
                <a:latin typeface="Calibri" pitchFamily="34" charset="0"/>
                <a:ea typeface="Calibri" pitchFamily="34" charset="-122"/>
                <a:cs typeface="Calibri" pitchFamily="34" charset="-120"/>
              </a:rPr>
              <a:t>Dreamina, dans CapCut — web, application de bureau ou mobile. Disponible en Europe.</a:t>
            </a:r>
            <a:endParaRPr lang="en-US" sz="1200" dirty="0"/>
          </a:p>
          <a:p>
            <a:pPr indent="0" marL="0">
              <a:lnSpc>
                <a:spcPct val="114000"/>
              </a:lnSpc>
              <a:buNone/>
            </a:pPr>
            <a:endParaRPr lang="en-US" sz="1200" dirty="0"/>
          </a:p>
          <a:p>
            <a:pPr indent="0" marL="0">
              <a:lnSpc>
                <a:spcPct val="114000"/>
              </a:lnSpc>
              <a:buNone/>
            </a:pPr>
            <a:r>
              <a:rPr lang="en-US" sz="1200" dirty="0">
                <a:solidFill>
                  <a:srgbClr val="44555E"/>
                </a:solidFill>
                <a:latin typeface="Calibri" pitchFamily="34" charset="0"/>
                <a:ea typeface="Calibri" pitchFamily="34" charset="-122"/>
                <a:cs typeface="Calibri" pitchFamily="34" charset="-120"/>
              </a:rPr>
              <a:t>Un essai gratuit, puis un système de crédits. Environ 0,05 $ par seconde générée : un clip de six secondes revient à une trentaine de centimes.</a:t>
            </a:r>
            <a:endParaRPr lang="en-US" sz="1200" dirty="0"/>
          </a:p>
        </p:txBody>
      </p:sp>
      <p:sp>
        <p:nvSpPr>
          <p:cNvPr id="14" name="Shape 12"/>
          <p:cNvSpPr/>
          <p:nvPr/>
        </p:nvSpPr>
        <p:spPr>
          <a:xfrm>
            <a:off x="566928" y="3429000"/>
            <a:ext cx="2593010" cy="1280160"/>
          </a:xfrm>
          <a:prstGeom prst="roundRect">
            <a:avLst>
              <a:gd name="adj" fmla="val 5714"/>
            </a:avLst>
          </a:prstGeom>
          <a:solidFill>
            <a:srgbClr val="E3E7E9"/>
          </a:solidFill>
          <a:ln/>
        </p:spPr>
      </p:sp>
      <p:sp>
        <p:nvSpPr>
          <p:cNvPr id="15" name="Text 13"/>
          <p:cNvSpPr txBox="1"/>
          <p:nvPr/>
        </p:nvSpPr>
        <p:spPr>
          <a:xfrm>
            <a:off x="768096" y="3584448"/>
            <a:ext cx="2190674" cy="548640"/>
          </a:xfrm>
          <a:prstGeom prst="rect">
            <a:avLst/>
          </a:prstGeom>
          <a:noFill/>
          <a:ln/>
        </p:spPr>
        <p:txBody>
          <a:bodyPr wrap="square" lIns="0" tIns="0" rIns="0" bIns="0" rtlCol="0" anchor="ctr"/>
          <a:lstStyle/>
          <a:p>
            <a:pPr indent="0" marL="0">
              <a:buNone/>
            </a:pPr>
            <a:r>
              <a:rPr lang="en-US" sz="3200" b="1" dirty="0">
                <a:solidFill>
                  <a:srgbClr val="14171A"/>
                </a:solidFill>
                <a:latin typeface="Cambria" pitchFamily="34" charset="0"/>
                <a:ea typeface="Cambria" pitchFamily="34" charset="-122"/>
                <a:cs typeface="Cambria" pitchFamily="34" charset="-120"/>
              </a:rPr>
              <a:t>15 s</a:t>
            </a:r>
            <a:endParaRPr lang="en-US" sz="3200" dirty="0"/>
          </a:p>
        </p:txBody>
      </p:sp>
      <p:sp>
        <p:nvSpPr>
          <p:cNvPr id="16" name="Text 14"/>
          <p:cNvSpPr txBox="1"/>
          <p:nvPr/>
        </p:nvSpPr>
        <p:spPr>
          <a:xfrm>
            <a:off x="768096" y="4151376"/>
            <a:ext cx="2190674" cy="457200"/>
          </a:xfrm>
          <a:prstGeom prst="rect">
            <a:avLst/>
          </a:prstGeom>
          <a:noFill/>
          <a:ln/>
        </p:spPr>
        <p:txBody>
          <a:bodyPr wrap="square" lIns="0" tIns="0" rIns="0" bIns="0" rtlCol="0" anchor="ctr"/>
          <a:lstStyle/>
          <a:p>
            <a:pPr indent="0" marL="0">
              <a:buNone/>
            </a:pPr>
            <a:r>
              <a:rPr lang="en-US" sz="1050" dirty="0">
                <a:solidFill>
                  <a:srgbClr val="44555E"/>
                </a:solidFill>
                <a:latin typeface="Calibri" pitchFamily="34" charset="0"/>
                <a:ea typeface="Calibri" pitchFamily="34" charset="-122"/>
                <a:cs typeface="Calibri" pitchFamily="34" charset="-120"/>
              </a:rPr>
              <a:t>durée maximale par génération</a:t>
            </a:r>
            <a:endParaRPr lang="en-US" sz="1050" dirty="0"/>
          </a:p>
        </p:txBody>
      </p:sp>
      <p:sp>
        <p:nvSpPr>
          <p:cNvPr id="17" name="Shape 15"/>
          <p:cNvSpPr/>
          <p:nvPr/>
        </p:nvSpPr>
        <p:spPr>
          <a:xfrm>
            <a:off x="3388538" y="3429000"/>
            <a:ext cx="2593010" cy="1280160"/>
          </a:xfrm>
          <a:prstGeom prst="roundRect">
            <a:avLst>
              <a:gd name="adj" fmla="val 5714"/>
            </a:avLst>
          </a:prstGeom>
          <a:solidFill>
            <a:srgbClr val="E3E7E9"/>
          </a:solidFill>
          <a:ln/>
        </p:spPr>
      </p:sp>
      <p:sp>
        <p:nvSpPr>
          <p:cNvPr id="18" name="Text 16"/>
          <p:cNvSpPr txBox="1"/>
          <p:nvPr/>
        </p:nvSpPr>
        <p:spPr>
          <a:xfrm>
            <a:off x="3589706" y="3584448"/>
            <a:ext cx="2190674" cy="548640"/>
          </a:xfrm>
          <a:prstGeom prst="rect">
            <a:avLst/>
          </a:prstGeom>
          <a:noFill/>
          <a:ln/>
        </p:spPr>
        <p:txBody>
          <a:bodyPr wrap="square" lIns="0" tIns="0" rIns="0" bIns="0" rtlCol="0" anchor="ctr"/>
          <a:lstStyle/>
          <a:p>
            <a:pPr indent="0" marL="0">
              <a:buNone/>
            </a:pPr>
            <a:r>
              <a:rPr lang="en-US" sz="3200" b="1" dirty="0">
                <a:solidFill>
                  <a:srgbClr val="14171A"/>
                </a:solidFill>
                <a:latin typeface="Cambria" pitchFamily="34" charset="0"/>
                <a:ea typeface="Cambria" pitchFamily="34" charset="-122"/>
                <a:cs typeface="Cambria" pitchFamily="34" charset="-120"/>
              </a:rPr>
              <a:t>4K</a:t>
            </a:r>
            <a:endParaRPr lang="en-US" sz="3200" dirty="0"/>
          </a:p>
        </p:txBody>
      </p:sp>
      <p:sp>
        <p:nvSpPr>
          <p:cNvPr id="19" name="Text 17"/>
          <p:cNvSpPr txBox="1"/>
          <p:nvPr/>
        </p:nvSpPr>
        <p:spPr>
          <a:xfrm>
            <a:off x="3589706" y="4151376"/>
            <a:ext cx="2190674" cy="457200"/>
          </a:xfrm>
          <a:prstGeom prst="rect">
            <a:avLst/>
          </a:prstGeom>
          <a:noFill/>
          <a:ln/>
        </p:spPr>
        <p:txBody>
          <a:bodyPr wrap="square" lIns="0" tIns="0" rIns="0" bIns="0" rtlCol="0" anchor="ctr"/>
          <a:lstStyle/>
          <a:p>
            <a:pPr indent="0" marL="0">
              <a:buNone/>
            </a:pPr>
            <a:r>
              <a:rPr lang="en-US" sz="1050" dirty="0">
                <a:solidFill>
                  <a:srgbClr val="44555E"/>
                </a:solidFill>
                <a:latin typeface="Calibri" pitchFamily="34" charset="0"/>
                <a:ea typeface="Calibri" pitchFamily="34" charset="-122"/>
                <a:cs typeface="Calibri" pitchFamily="34" charset="-120"/>
              </a:rPr>
              <a:t>disponible, 1080p suffisant</a:t>
            </a:r>
            <a:endParaRPr lang="en-US" sz="1050" dirty="0"/>
          </a:p>
        </p:txBody>
      </p:sp>
      <p:sp>
        <p:nvSpPr>
          <p:cNvPr id="20" name="Shape 18"/>
          <p:cNvSpPr/>
          <p:nvPr/>
        </p:nvSpPr>
        <p:spPr>
          <a:xfrm>
            <a:off x="6210148" y="3429000"/>
            <a:ext cx="2593010" cy="1280160"/>
          </a:xfrm>
          <a:prstGeom prst="roundRect">
            <a:avLst>
              <a:gd name="adj" fmla="val 5714"/>
            </a:avLst>
          </a:prstGeom>
          <a:solidFill>
            <a:srgbClr val="E3E7E9"/>
          </a:solidFill>
          <a:ln/>
        </p:spPr>
      </p:sp>
      <p:sp>
        <p:nvSpPr>
          <p:cNvPr id="21" name="Text 19"/>
          <p:cNvSpPr txBox="1"/>
          <p:nvPr/>
        </p:nvSpPr>
        <p:spPr>
          <a:xfrm>
            <a:off x="6411316" y="3584448"/>
            <a:ext cx="2190674" cy="548640"/>
          </a:xfrm>
          <a:prstGeom prst="rect">
            <a:avLst/>
          </a:prstGeom>
          <a:noFill/>
          <a:ln/>
        </p:spPr>
        <p:txBody>
          <a:bodyPr wrap="square" lIns="0" tIns="0" rIns="0" bIns="0" rtlCol="0" anchor="ctr"/>
          <a:lstStyle/>
          <a:p>
            <a:pPr indent="0" marL="0">
              <a:buNone/>
            </a:pPr>
            <a:r>
              <a:rPr lang="en-US" sz="3200" b="1" dirty="0">
                <a:solidFill>
                  <a:srgbClr val="14171A"/>
                </a:solidFill>
                <a:latin typeface="Cambria" pitchFamily="34" charset="0"/>
                <a:ea typeface="Cambria" pitchFamily="34" charset="-122"/>
                <a:cs typeface="Cambria" pitchFamily="34" charset="-120"/>
              </a:rPr>
              <a:t>9</a:t>
            </a:r>
            <a:endParaRPr lang="en-US" sz="3200" dirty="0"/>
          </a:p>
        </p:txBody>
      </p:sp>
      <p:sp>
        <p:nvSpPr>
          <p:cNvPr id="22" name="Text 20"/>
          <p:cNvSpPr txBox="1"/>
          <p:nvPr/>
        </p:nvSpPr>
        <p:spPr>
          <a:xfrm>
            <a:off x="6411316" y="4151376"/>
            <a:ext cx="2190674" cy="457200"/>
          </a:xfrm>
          <a:prstGeom prst="rect">
            <a:avLst/>
          </a:prstGeom>
          <a:noFill/>
          <a:ln/>
        </p:spPr>
        <p:txBody>
          <a:bodyPr wrap="square" lIns="0" tIns="0" rIns="0" bIns="0" rtlCol="0" anchor="ctr"/>
          <a:lstStyle/>
          <a:p>
            <a:pPr indent="0" marL="0">
              <a:buNone/>
            </a:pPr>
            <a:r>
              <a:rPr lang="en-US" sz="1050" dirty="0">
                <a:solidFill>
                  <a:srgbClr val="44555E"/>
                </a:solidFill>
                <a:latin typeface="Calibri" pitchFamily="34" charset="0"/>
                <a:ea typeface="Calibri" pitchFamily="34" charset="-122"/>
                <a:cs typeface="Calibri" pitchFamily="34" charset="-120"/>
              </a:rPr>
              <a:t>images de référence acceptées</a:t>
            </a:r>
            <a:endParaRPr lang="en-US" sz="1050" dirty="0"/>
          </a:p>
        </p:txBody>
      </p:sp>
      <p:sp>
        <p:nvSpPr>
          <p:cNvPr id="23" name="Shape 21"/>
          <p:cNvSpPr/>
          <p:nvPr/>
        </p:nvSpPr>
        <p:spPr>
          <a:xfrm>
            <a:off x="9031757" y="3429000"/>
            <a:ext cx="2593010" cy="1280160"/>
          </a:xfrm>
          <a:prstGeom prst="roundRect">
            <a:avLst>
              <a:gd name="adj" fmla="val 5714"/>
            </a:avLst>
          </a:prstGeom>
          <a:solidFill>
            <a:srgbClr val="F6E7E0"/>
          </a:solidFill>
          <a:ln/>
        </p:spPr>
      </p:sp>
      <p:sp>
        <p:nvSpPr>
          <p:cNvPr id="24" name="Text 22"/>
          <p:cNvSpPr txBox="1"/>
          <p:nvPr/>
        </p:nvSpPr>
        <p:spPr>
          <a:xfrm>
            <a:off x="9232925" y="3584448"/>
            <a:ext cx="2190674" cy="548640"/>
          </a:xfrm>
          <a:prstGeom prst="rect">
            <a:avLst/>
          </a:prstGeom>
          <a:noFill/>
          <a:ln/>
        </p:spPr>
        <p:txBody>
          <a:bodyPr wrap="square" lIns="0" tIns="0" rIns="0" bIns="0" rtlCol="0" anchor="ctr"/>
          <a:lstStyle/>
          <a:p>
            <a:pPr indent="0" marL="0">
              <a:buNone/>
            </a:pPr>
            <a:r>
              <a:rPr lang="en-US" sz="3200" b="1" dirty="0">
                <a:solidFill>
                  <a:srgbClr val="C0542A"/>
                </a:solidFill>
                <a:latin typeface="Cambria" pitchFamily="34" charset="0"/>
                <a:ea typeface="Cambria" pitchFamily="34" charset="-122"/>
                <a:cs typeface="Cambria" pitchFamily="34" charset="-120"/>
              </a:rPr>
              <a:t>× 3</a:t>
            </a:r>
            <a:endParaRPr lang="en-US" sz="3200" dirty="0"/>
          </a:p>
        </p:txBody>
      </p:sp>
      <p:sp>
        <p:nvSpPr>
          <p:cNvPr id="25" name="Text 23"/>
          <p:cNvSpPr txBox="1"/>
          <p:nvPr/>
        </p:nvSpPr>
        <p:spPr>
          <a:xfrm>
            <a:off x="9232925" y="4151376"/>
            <a:ext cx="2190674" cy="457200"/>
          </a:xfrm>
          <a:prstGeom prst="rect">
            <a:avLst/>
          </a:prstGeom>
          <a:noFill/>
          <a:ln/>
        </p:spPr>
        <p:txBody>
          <a:bodyPr wrap="square" lIns="0" tIns="0" rIns="0" bIns="0" rtlCol="0" anchor="ctr"/>
          <a:lstStyle/>
          <a:p>
            <a:pPr indent="0" marL="0">
              <a:buNone/>
            </a:pPr>
            <a:r>
              <a:rPr lang="en-US" sz="1050" dirty="0">
                <a:solidFill>
                  <a:srgbClr val="8A4A34"/>
                </a:solidFill>
                <a:latin typeface="Calibri" pitchFamily="34" charset="0"/>
                <a:ea typeface="Calibri" pitchFamily="34" charset="-122"/>
                <a:cs typeface="Calibri" pitchFamily="34" charset="-120"/>
              </a:rPr>
              <a:t>le vrai coût : deux essais sur trois sont jetés</a:t>
            </a:r>
            <a:endParaRPr lang="en-US" sz="1050" dirty="0"/>
          </a:p>
        </p:txBody>
      </p:sp>
      <p:sp>
        <p:nvSpPr>
          <p:cNvPr id="26" name="Shape 24"/>
          <p:cNvSpPr/>
          <p:nvPr/>
        </p:nvSpPr>
        <p:spPr>
          <a:xfrm>
            <a:off x="566928" y="4864608"/>
            <a:ext cx="11057839" cy="640080"/>
          </a:xfrm>
          <a:prstGeom prst="roundRect">
            <a:avLst>
              <a:gd name="adj" fmla="val 11429"/>
            </a:avLst>
          </a:prstGeom>
          <a:solidFill>
            <a:srgbClr val="14171A"/>
          </a:solidFill>
          <a:ln/>
        </p:spPr>
      </p:sp>
      <p:sp>
        <p:nvSpPr>
          <p:cNvPr id="27" name="Text 25"/>
          <p:cNvSpPr txBox="1"/>
          <p:nvPr/>
        </p:nvSpPr>
        <p:spPr>
          <a:xfrm>
            <a:off x="841248" y="4864608"/>
            <a:ext cx="10509199" cy="640080"/>
          </a:xfrm>
          <a:prstGeom prst="rect">
            <a:avLst/>
          </a:prstGeom>
          <a:noFill/>
          <a:ln/>
        </p:spPr>
        <p:txBody>
          <a:bodyPr wrap="square" lIns="0" tIns="0" rIns="0" bIns="0" rtlCol="0" anchor="ctr"/>
          <a:lstStyle/>
          <a:p>
            <a:pPr indent="0" marL="0">
              <a:buNone/>
            </a:pPr>
            <a:r>
              <a:rPr lang="en-US" sz="1200" dirty="0">
                <a:solidFill>
                  <a:srgbClr val="C8D0D4"/>
                </a:solidFill>
                <a:latin typeface="Calibri" pitchFamily="34" charset="0"/>
                <a:ea typeface="Calibri" pitchFamily="34" charset="-122"/>
                <a:cs typeface="Calibri" pitchFamily="34" charset="-120"/>
              </a:rPr>
              <a:t>Seedance 2.5 est déjà sorti, avec la même logique de prompt. Ce que vous apprenez ici ne sera pas périmé au prochain modèle : on apprend une méthode, pas une interface.</a:t>
            </a:r>
            <a:endParaRPr lang="en-US" sz="1200" dirty="0"/>
          </a:p>
        </p:txBody>
      </p:sp>
      <p:sp>
        <p:nvSpPr>
          <p:cNvPr id="28" name="Shape 26"/>
          <p:cNvSpPr/>
          <p:nvPr/>
        </p:nvSpPr>
        <p:spPr>
          <a:xfrm>
            <a:off x="566928" y="5632704"/>
            <a:ext cx="11057839" cy="603504"/>
          </a:xfrm>
          <a:prstGeom prst="roundRect">
            <a:avLst>
              <a:gd name="adj" fmla="val 12121"/>
            </a:avLst>
          </a:prstGeom>
          <a:solidFill>
            <a:srgbClr val="F6E7E0"/>
          </a:solidFill>
          <a:ln/>
        </p:spPr>
      </p:sp>
      <p:sp>
        <p:nvSpPr>
          <p:cNvPr id="29" name="Shape 27"/>
          <p:cNvSpPr/>
          <p:nvPr/>
        </p:nvSpPr>
        <p:spPr>
          <a:xfrm>
            <a:off x="786384" y="5788152"/>
            <a:ext cx="603504" cy="292608"/>
          </a:xfrm>
          <a:prstGeom prst="roundRect">
            <a:avLst>
              <a:gd name="adj" fmla="val 21875"/>
            </a:avLst>
          </a:prstGeom>
          <a:solidFill>
            <a:srgbClr val="C0542A"/>
          </a:solidFill>
          <a:ln/>
        </p:spPr>
      </p:sp>
      <p:sp>
        <p:nvSpPr>
          <p:cNvPr id="30" name="Text 28"/>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1" name="Text 29"/>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Générez toujours deux versions du même plan d'un coup : la seconde est souvent la bonne, et elle coûte trente centimes. Attendre pour relancer coûte bien plus cher en temps.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01:45</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LA RÈGLE DU MODULE</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Le prompt vidéo, et les six pièges</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19</a:t>
            </a:r>
            <a:endParaRPr lang="en-US" sz="900" dirty="0"/>
          </a:p>
        </p:txBody>
      </p:sp>
      <p:sp>
        <p:nvSpPr>
          <p:cNvPr id="8" name="Shape 6"/>
          <p:cNvSpPr/>
          <p:nvPr/>
        </p:nvSpPr>
        <p:spPr>
          <a:xfrm>
            <a:off x="566928" y="1389888"/>
            <a:ext cx="5346040" cy="603504"/>
          </a:xfrm>
          <a:prstGeom prst="roundRect">
            <a:avLst>
              <a:gd name="adj" fmla="val 12121"/>
            </a:avLst>
          </a:prstGeom>
          <a:solidFill>
            <a:srgbClr val="14171A"/>
          </a:solidFill>
          <a:ln/>
        </p:spPr>
      </p:sp>
      <p:sp>
        <p:nvSpPr>
          <p:cNvPr id="9" name="Text 7"/>
          <p:cNvSpPr txBox="1"/>
          <p:nvPr/>
        </p:nvSpPr>
        <p:spPr>
          <a:xfrm>
            <a:off x="822960" y="1389888"/>
            <a:ext cx="4833976" cy="603504"/>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En image on décrit un état. En vidéo, un mouvement dans le temps.</a:t>
            </a:r>
            <a:endParaRPr lang="en-US" sz="1500" dirty="0"/>
          </a:p>
        </p:txBody>
      </p:sp>
      <p:sp>
        <p:nvSpPr>
          <p:cNvPr id="10" name="Shape 8"/>
          <p:cNvSpPr/>
          <p:nvPr/>
        </p:nvSpPr>
        <p:spPr>
          <a:xfrm>
            <a:off x="566928" y="2103120"/>
            <a:ext cx="5346040" cy="457200"/>
          </a:xfrm>
          <a:prstGeom prst="roundRect">
            <a:avLst>
              <a:gd name="adj" fmla="val 16000"/>
            </a:avLst>
          </a:prstGeom>
          <a:solidFill>
            <a:srgbClr val="EFF1F2"/>
          </a:solidFill>
          <a:ln/>
        </p:spPr>
      </p:sp>
      <p:sp>
        <p:nvSpPr>
          <p:cNvPr id="11" name="Shape 9"/>
          <p:cNvSpPr/>
          <p:nvPr/>
        </p:nvSpPr>
        <p:spPr>
          <a:xfrm>
            <a:off x="768096" y="2194560"/>
            <a:ext cx="274320" cy="274320"/>
          </a:xfrm>
          <a:prstGeom prst="ellipse">
            <a:avLst/>
          </a:prstGeom>
          <a:solidFill>
            <a:srgbClr val="44555E"/>
          </a:solidFill>
          <a:ln/>
        </p:spPr>
      </p:sp>
      <p:sp>
        <p:nvSpPr>
          <p:cNvPr id="12" name="Text 10"/>
          <p:cNvSpPr txBox="1"/>
          <p:nvPr/>
        </p:nvSpPr>
        <p:spPr>
          <a:xfrm>
            <a:off x="768096" y="21945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txBox="1"/>
          <p:nvPr/>
        </p:nvSpPr>
        <p:spPr>
          <a:xfrm>
            <a:off x="1133856" y="2103120"/>
            <a:ext cx="1627632" cy="45720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Sujet</a:t>
            </a:r>
            <a:endParaRPr lang="en-US" sz="1200" dirty="0"/>
          </a:p>
        </p:txBody>
      </p:sp>
      <p:sp>
        <p:nvSpPr>
          <p:cNvPr id="14" name="Text 12"/>
          <p:cNvSpPr txBox="1"/>
          <p:nvPr/>
        </p:nvSpPr>
        <p:spPr>
          <a:xfrm>
            <a:off x="2779776" y="2103120"/>
            <a:ext cx="2904592" cy="457200"/>
          </a:xfrm>
          <a:prstGeom prst="rect">
            <a:avLst/>
          </a:prstGeom>
          <a:noFill/>
          <a:ln/>
        </p:spPr>
        <p:txBody>
          <a:bodyPr wrap="square" lIns="0" tIns="0" rIns="0" bIns="0" rtlCol="0" anchor="ctr"/>
          <a:lstStyle/>
          <a:p>
            <a:pPr indent="0" marL="0">
              <a:buNone/>
            </a:pPr>
            <a:r>
              <a:rPr lang="en-US" sz="1050" dirty="0">
                <a:solidFill>
                  <a:srgbClr val="44555E"/>
                </a:solidFill>
                <a:latin typeface="Calibri" pitchFamily="34" charset="0"/>
                <a:ea typeface="Calibri" pitchFamily="34" charset="-122"/>
                <a:cs typeface="Calibri" pitchFamily="34" charset="-120"/>
              </a:rPr>
              <a:t>ce qui est à l'image, repris de votre rendu</a:t>
            </a:r>
            <a:endParaRPr lang="en-US" sz="1050" dirty="0"/>
          </a:p>
        </p:txBody>
      </p:sp>
      <p:sp>
        <p:nvSpPr>
          <p:cNvPr id="15" name="Shape 13"/>
          <p:cNvSpPr/>
          <p:nvPr/>
        </p:nvSpPr>
        <p:spPr>
          <a:xfrm>
            <a:off x="566928" y="2615184"/>
            <a:ext cx="5346040" cy="457200"/>
          </a:xfrm>
          <a:prstGeom prst="roundRect">
            <a:avLst>
              <a:gd name="adj" fmla="val 16000"/>
            </a:avLst>
          </a:prstGeom>
          <a:solidFill>
            <a:srgbClr val="EFF1F2"/>
          </a:solidFill>
          <a:ln/>
        </p:spPr>
      </p:sp>
      <p:sp>
        <p:nvSpPr>
          <p:cNvPr id="16" name="Shape 14"/>
          <p:cNvSpPr/>
          <p:nvPr/>
        </p:nvSpPr>
        <p:spPr>
          <a:xfrm>
            <a:off x="768096" y="2706624"/>
            <a:ext cx="274320" cy="274320"/>
          </a:xfrm>
          <a:prstGeom prst="ellipse">
            <a:avLst/>
          </a:prstGeom>
          <a:solidFill>
            <a:srgbClr val="44555E"/>
          </a:solidFill>
          <a:ln/>
        </p:spPr>
      </p:sp>
      <p:sp>
        <p:nvSpPr>
          <p:cNvPr id="17" name="Text 15"/>
          <p:cNvSpPr txBox="1"/>
          <p:nvPr/>
        </p:nvSpPr>
        <p:spPr>
          <a:xfrm>
            <a:off x="768096" y="27066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txBox="1"/>
          <p:nvPr/>
        </p:nvSpPr>
        <p:spPr>
          <a:xfrm>
            <a:off x="1133856" y="2615184"/>
            <a:ext cx="1627632" cy="45720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Action</a:t>
            </a:r>
            <a:endParaRPr lang="en-US" sz="1200" dirty="0"/>
          </a:p>
        </p:txBody>
      </p:sp>
      <p:sp>
        <p:nvSpPr>
          <p:cNvPr id="19" name="Text 17"/>
          <p:cNvSpPr txBox="1"/>
          <p:nvPr/>
        </p:nvSpPr>
        <p:spPr>
          <a:xfrm>
            <a:off x="2779776" y="2615184"/>
            <a:ext cx="2904592" cy="457200"/>
          </a:xfrm>
          <a:prstGeom prst="rect">
            <a:avLst/>
          </a:prstGeom>
          <a:noFill/>
          <a:ln/>
        </p:spPr>
        <p:txBody>
          <a:bodyPr wrap="square" lIns="0" tIns="0" rIns="0" bIns="0" rtlCol="0" anchor="ctr"/>
          <a:lstStyle/>
          <a:p>
            <a:pPr indent="0" marL="0">
              <a:buNone/>
            </a:pPr>
            <a:r>
              <a:rPr lang="en-US" sz="1050" dirty="0">
                <a:solidFill>
                  <a:srgbClr val="44555E"/>
                </a:solidFill>
                <a:latin typeface="Calibri" pitchFamily="34" charset="0"/>
                <a:ea typeface="Calibri" pitchFamily="34" charset="-122"/>
                <a:cs typeface="Calibri" pitchFamily="34" charset="-120"/>
              </a:rPr>
              <a:t>ce qui bouge : feuillage, nuages, reflets</a:t>
            </a:r>
            <a:endParaRPr lang="en-US" sz="1050" dirty="0"/>
          </a:p>
        </p:txBody>
      </p:sp>
      <p:sp>
        <p:nvSpPr>
          <p:cNvPr id="20" name="Shape 18"/>
          <p:cNvSpPr/>
          <p:nvPr/>
        </p:nvSpPr>
        <p:spPr>
          <a:xfrm>
            <a:off x="566928" y="3127248"/>
            <a:ext cx="5346040" cy="457200"/>
          </a:xfrm>
          <a:prstGeom prst="roundRect">
            <a:avLst>
              <a:gd name="adj" fmla="val 16000"/>
            </a:avLst>
          </a:prstGeom>
          <a:solidFill>
            <a:srgbClr val="F6E7E0"/>
          </a:solidFill>
          <a:ln/>
        </p:spPr>
      </p:sp>
      <p:sp>
        <p:nvSpPr>
          <p:cNvPr id="21" name="Shape 19"/>
          <p:cNvSpPr/>
          <p:nvPr/>
        </p:nvSpPr>
        <p:spPr>
          <a:xfrm>
            <a:off x="768096" y="3218688"/>
            <a:ext cx="274320" cy="274320"/>
          </a:xfrm>
          <a:prstGeom prst="ellipse">
            <a:avLst/>
          </a:prstGeom>
          <a:solidFill>
            <a:srgbClr val="C0542A"/>
          </a:solidFill>
          <a:ln/>
        </p:spPr>
      </p:sp>
      <p:sp>
        <p:nvSpPr>
          <p:cNvPr id="22" name="Text 20"/>
          <p:cNvSpPr txBox="1"/>
          <p:nvPr/>
        </p:nvSpPr>
        <p:spPr>
          <a:xfrm>
            <a:off x="768096" y="32186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21"/>
          <p:cNvSpPr txBox="1"/>
          <p:nvPr/>
        </p:nvSpPr>
        <p:spPr>
          <a:xfrm>
            <a:off x="1133856" y="3127248"/>
            <a:ext cx="1627632" cy="45720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Caméra</a:t>
            </a:r>
            <a:endParaRPr lang="en-US" sz="1200" dirty="0"/>
          </a:p>
        </p:txBody>
      </p:sp>
      <p:sp>
        <p:nvSpPr>
          <p:cNvPr id="24" name="Text 22"/>
          <p:cNvSpPr txBox="1"/>
          <p:nvPr/>
        </p:nvSpPr>
        <p:spPr>
          <a:xfrm>
            <a:off x="2779776" y="3127248"/>
            <a:ext cx="2904592" cy="457200"/>
          </a:xfrm>
          <a:prstGeom prst="rect">
            <a:avLst/>
          </a:prstGeom>
          <a:noFill/>
          <a:ln/>
        </p:spPr>
        <p:txBody>
          <a:bodyPr wrap="square" lIns="0" tIns="0" rIns="0" bIns="0" rtlCol="0" anchor="ctr"/>
          <a:lstStyle/>
          <a:p>
            <a:pPr indent="0" marL="0">
              <a:buNone/>
            </a:pPr>
            <a:r>
              <a:rPr lang="en-US" sz="1050" dirty="0">
                <a:solidFill>
                  <a:srgbClr val="8A4A34"/>
                </a:solidFill>
                <a:latin typeface="Calibri" pitchFamily="34" charset="0"/>
                <a:ea typeface="Calibri" pitchFamily="34" charset="-122"/>
                <a:cs typeface="Calibri" pitchFamily="34" charset="-120"/>
              </a:rPr>
              <a:t>un seul mouvement, jamais deux</a:t>
            </a:r>
            <a:endParaRPr lang="en-US" sz="1050" dirty="0"/>
          </a:p>
        </p:txBody>
      </p:sp>
      <p:sp>
        <p:nvSpPr>
          <p:cNvPr id="25" name="Shape 23"/>
          <p:cNvSpPr/>
          <p:nvPr/>
        </p:nvSpPr>
        <p:spPr>
          <a:xfrm>
            <a:off x="566928" y="3639312"/>
            <a:ext cx="5346040" cy="457200"/>
          </a:xfrm>
          <a:prstGeom prst="roundRect">
            <a:avLst>
              <a:gd name="adj" fmla="val 16000"/>
            </a:avLst>
          </a:prstGeom>
          <a:solidFill>
            <a:srgbClr val="EFF1F2"/>
          </a:solidFill>
          <a:ln/>
        </p:spPr>
      </p:sp>
      <p:sp>
        <p:nvSpPr>
          <p:cNvPr id="26" name="Shape 24"/>
          <p:cNvSpPr/>
          <p:nvPr/>
        </p:nvSpPr>
        <p:spPr>
          <a:xfrm>
            <a:off x="768096" y="3730752"/>
            <a:ext cx="274320" cy="274320"/>
          </a:xfrm>
          <a:prstGeom prst="ellipse">
            <a:avLst/>
          </a:prstGeom>
          <a:solidFill>
            <a:srgbClr val="44555E"/>
          </a:solidFill>
          <a:ln/>
        </p:spPr>
      </p:sp>
      <p:sp>
        <p:nvSpPr>
          <p:cNvPr id="27" name="Text 25"/>
          <p:cNvSpPr txBox="1"/>
          <p:nvPr/>
        </p:nvSpPr>
        <p:spPr>
          <a:xfrm>
            <a:off x="768096" y="37307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txBox="1"/>
          <p:nvPr/>
        </p:nvSpPr>
        <p:spPr>
          <a:xfrm>
            <a:off x="1133856" y="3639312"/>
            <a:ext cx="1627632" cy="45720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Environnement</a:t>
            </a:r>
            <a:endParaRPr lang="en-US" sz="1200" dirty="0"/>
          </a:p>
        </p:txBody>
      </p:sp>
      <p:sp>
        <p:nvSpPr>
          <p:cNvPr id="29" name="Text 27"/>
          <p:cNvSpPr txBox="1"/>
          <p:nvPr/>
        </p:nvSpPr>
        <p:spPr>
          <a:xfrm>
            <a:off x="2779776" y="3639312"/>
            <a:ext cx="2904592" cy="457200"/>
          </a:xfrm>
          <a:prstGeom prst="rect">
            <a:avLst/>
          </a:prstGeom>
          <a:noFill/>
          <a:ln/>
        </p:spPr>
        <p:txBody>
          <a:bodyPr wrap="square" lIns="0" tIns="0" rIns="0" bIns="0" rtlCol="0" anchor="ctr"/>
          <a:lstStyle/>
          <a:p>
            <a:pPr indent="0" marL="0">
              <a:buNone/>
            </a:pPr>
            <a:r>
              <a:rPr lang="en-US" sz="1050" dirty="0">
                <a:solidFill>
                  <a:srgbClr val="44555E"/>
                </a:solidFill>
                <a:latin typeface="Calibri" pitchFamily="34" charset="0"/>
                <a:ea typeface="Calibri" pitchFamily="34" charset="-122"/>
                <a:cs typeface="Calibri" pitchFamily="34" charset="-120"/>
              </a:rPr>
              <a:t>lumière, météo, moment de la journée</a:t>
            </a:r>
            <a:endParaRPr lang="en-US" sz="1050" dirty="0"/>
          </a:p>
        </p:txBody>
      </p:sp>
      <p:sp>
        <p:nvSpPr>
          <p:cNvPr id="30" name="Shape 28"/>
          <p:cNvSpPr/>
          <p:nvPr/>
        </p:nvSpPr>
        <p:spPr>
          <a:xfrm>
            <a:off x="566928" y="4151376"/>
            <a:ext cx="5346040" cy="457200"/>
          </a:xfrm>
          <a:prstGeom prst="roundRect">
            <a:avLst>
              <a:gd name="adj" fmla="val 16000"/>
            </a:avLst>
          </a:prstGeom>
          <a:solidFill>
            <a:srgbClr val="EFF1F2"/>
          </a:solidFill>
          <a:ln/>
        </p:spPr>
      </p:sp>
      <p:sp>
        <p:nvSpPr>
          <p:cNvPr id="31" name="Shape 29"/>
          <p:cNvSpPr/>
          <p:nvPr/>
        </p:nvSpPr>
        <p:spPr>
          <a:xfrm>
            <a:off x="768096" y="4242816"/>
            <a:ext cx="274320" cy="274320"/>
          </a:xfrm>
          <a:prstGeom prst="ellipse">
            <a:avLst/>
          </a:prstGeom>
          <a:solidFill>
            <a:srgbClr val="44555E"/>
          </a:solidFill>
          <a:ln/>
        </p:spPr>
      </p:sp>
      <p:sp>
        <p:nvSpPr>
          <p:cNvPr id="32" name="Text 30"/>
          <p:cNvSpPr txBox="1"/>
          <p:nvPr/>
        </p:nvSpPr>
        <p:spPr>
          <a:xfrm>
            <a:off x="768096" y="4242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3" name="Text 31"/>
          <p:cNvSpPr txBox="1"/>
          <p:nvPr/>
        </p:nvSpPr>
        <p:spPr>
          <a:xfrm>
            <a:off x="1133856" y="4151376"/>
            <a:ext cx="1627632" cy="45720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Son</a:t>
            </a:r>
            <a:endParaRPr lang="en-US" sz="1200" dirty="0"/>
          </a:p>
        </p:txBody>
      </p:sp>
      <p:sp>
        <p:nvSpPr>
          <p:cNvPr id="34" name="Text 32"/>
          <p:cNvSpPr txBox="1"/>
          <p:nvPr/>
        </p:nvSpPr>
        <p:spPr>
          <a:xfrm>
            <a:off x="2779776" y="4151376"/>
            <a:ext cx="2904592" cy="457200"/>
          </a:xfrm>
          <a:prstGeom prst="rect">
            <a:avLst/>
          </a:prstGeom>
          <a:noFill/>
          <a:ln/>
        </p:spPr>
        <p:txBody>
          <a:bodyPr wrap="square" lIns="0" tIns="0" rIns="0" bIns="0" rtlCol="0" anchor="ctr"/>
          <a:lstStyle/>
          <a:p>
            <a:pPr indent="0" marL="0">
              <a:buNone/>
            </a:pPr>
            <a:r>
              <a:rPr lang="en-US" sz="1050" dirty="0">
                <a:solidFill>
                  <a:srgbClr val="44555E"/>
                </a:solidFill>
                <a:latin typeface="Calibri" pitchFamily="34" charset="0"/>
                <a:ea typeface="Calibri" pitchFamily="34" charset="-122"/>
                <a:cs typeface="Calibri" pitchFamily="34" charset="-120"/>
              </a:rPr>
              <a:t>ambiance sonore, ou « aucun son »</a:t>
            </a:r>
            <a:endParaRPr lang="en-US" sz="1050" dirty="0"/>
          </a:p>
        </p:txBody>
      </p:sp>
      <p:sp>
        <p:nvSpPr>
          <p:cNvPr id="35" name="Shape 33"/>
          <p:cNvSpPr/>
          <p:nvPr/>
        </p:nvSpPr>
        <p:spPr>
          <a:xfrm>
            <a:off x="566928" y="4663440"/>
            <a:ext cx="5346040" cy="457200"/>
          </a:xfrm>
          <a:prstGeom prst="roundRect">
            <a:avLst>
              <a:gd name="adj" fmla="val 16000"/>
            </a:avLst>
          </a:prstGeom>
          <a:solidFill>
            <a:srgbClr val="EFF1F2"/>
          </a:solidFill>
          <a:ln/>
        </p:spPr>
      </p:sp>
      <p:sp>
        <p:nvSpPr>
          <p:cNvPr id="36" name="Shape 34"/>
          <p:cNvSpPr/>
          <p:nvPr/>
        </p:nvSpPr>
        <p:spPr>
          <a:xfrm>
            <a:off x="768096" y="4754880"/>
            <a:ext cx="274320" cy="274320"/>
          </a:xfrm>
          <a:prstGeom prst="ellipse">
            <a:avLst/>
          </a:prstGeom>
          <a:solidFill>
            <a:srgbClr val="44555E"/>
          </a:solidFill>
          <a:ln/>
        </p:spPr>
      </p:sp>
      <p:sp>
        <p:nvSpPr>
          <p:cNvPr id="37" name="Text 35"/>
          <p:cNvSpPr txBox="1"/>
          <p:nvPr/>
        </p:nvSpPr>
        <p:spPr>
          <a:xfrm>
            <a:off x="768096" y="47548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8" name="Text 36"/>
          <p:cNvSpPr txBox="1"/>
          <p:nvPr/>
        </p:nvSpPr>
        <p:spPr>
          <a:xfrm>
            <a:off x="1133856" y="4663440"/>
            <a:ext cx="1627632" cy="457200"/>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Rythme</a:t>
            </a:r>
            <a:endParaRPr lang="en-US" sz="1200" dirty="0"/>
          </a:p>
        </p:txBody>
      </p:sp>
      <p:sp>
        <p:nvSpPr>
          <p:cNvPr id="39" name="Text 37"/>
          <p:cNvSpPr txBox="1"/>
          <p:nvPr/>
        </p:nvSpPr>
        <p:spPr>
          <a:xfrm>
            <a:off x="2779776" y="4663440"/>
            <a:ext cx="2904592" cy="457200"/>
          </a:xfrm>
          <a:prstGeom prst="rect">
            <a:avLst/>
          </a:prstGeom>
          <a:noFill/>
          <a:ln/>
        </p:spPr>
        <p:txBody>
          <a:bodyPr wrap="square" lIns="0" tIns="0" rIns="0" bIns="0" rtlCol="0" anchor="ctr"/>
          <a:lstStyle/>
          <a:p>
            <a:pPr indent="0" marL="0">
              <a:buNone/>
            </a:pPr>
            <a:r>
              <a:rPr lang="en-US" sz="1050" dirty="0">
                <a:solidFill>
                  <a:srgbClr val="44555E"/>
                </a:solidFill>
                <a:latin typeface="Calibri" pitchFamily="34" charset="0"/>
                <a:ea typeface="Calibri" pitchFamily="34" charset="-122"/>
                <a:cs typeface="Calibri" pitchFamily="34" charset="-120"/>
              </a:rPr>
              <a:t>durée et découpage des plans</a:t>
            </a:r>
            <a:endParaRPr lang="en-US" sz="1050" dirty="0"/>
          </a:p>
        </p:txBody>
      </p:sp>
      <p:sp>
        <p:nvSpPr>
          <p:cNvPr id="40" name="Shape 38"/>
          <p:cNvSpPr/>
          <p:nvPr/>
        </p:nvSpPr>
        <p:spPr>
          <a:xfrm>
            <a:off x="566928" y="5212080"/>
            <a:ext cx="5346040" cy="292608"/>
          </a:xfrm>
          <a:prstGeom prst="roundRect">
            <a:avLst>
              <a:gd name="adj" fmla="val 25000"/>
            </a:avLst>
          </a:prstGeom>
          <a:solidFill>
            <a:srgbClr val="E3E7E9"/>
          </a:solidFill>
          <a:ln/>
        </p:spPr>
      </p:sp>
      <p:sp>
        <p:nvSpPr>
          <p:cNvPr id="41" name="Text 39"/>
          <p:cNvSpPr txBox="1"/>
          <p:nvPr/>
        </p:nvSpPr>
        <p:spPr>
          <a:xfrm>
            <a:off x="822960" y="5212080"/>
            <a:ext cx="4833976" cy="292608"/>
          </a:xfrm>
          <a:prstGeom prst="rect">
            <a:avLst/>
          </a:prstGeom>
          <a:noFill/>
          <a:ln/>
        </p:spPr>
        <p:txBody>
          <a:bodyPr wrap="square" lIns="0" tIns="0" rIns="0" bIns="0" rtlCol="0" anchor="ctr"/>
          <a:lstStyle/>
          <a:p>
            <a:pPr indent="0" marL="0">
              <a:buNone/>
            </a:pPr>
            <a:r>
              <a:rPr lang="en-US" sz="1050" i="1" dirty="0">
                <a:solidFill>
                  <a:srgbClr val="44555E"/>
                </a:solidFill>
                <a:latin typeface="Calibri" pitchFamily="34" charset="0"/>
                <a:ea typeface="Calibri" pitchFamily="34" charset="-122"/>
                <a:cs typeface="Calibri" pitchFamily="34" charset="-120"/>
              </a:rPr>
              <a:t>60 à 100 mots — l'inverse du prompt image, où la précision paie toujours.</a:t>
            </a:r>
            <a:endParaRPr lang="en-US" sz="1050" dirty="0"/>
          </a:p>
        </p:txBody>
      </p:sp>
      <p:sp>
        <p:nvSpPr>
          <p:cNvPr id="42" name="Shape 40"/>
          <p:cNvSpPr/>
          <p:nvPr/>
        </p:nvSpPr>
        <p:spPr>
          <a:xfrm>
            <a:off x="6278728" y="1389888"/>
            <a:ext cx="5346040" cy="4114800"/>
          </a:xfrm>
          <a:prstGeom prst="roundRect">
            <a:avLst>
              <a:gd name="adj" fmla="val 1778"/>
            </a:avLst>
          </a:prstGeom>
          <a:solidFill>
            <a:srgbClr val="EFF1F2"/>
          </a:solidFill>
          <a:ln/>
        </p:spPr>
      </p:sp>
      <p:sp>
        <p:nvSpPr>
          <p:cNvPr id="43" name="Text 41"/>
          <p:cNvSpPr txBox="1"/>
          <p:nvPr/>
        </p:nvSpPr>
        <p:spPr>
          <a:xfrm>
            <a:off x="65530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C0542A"/>
                </a:solidFill>
                <a:latin typeface="Calibri" pitchFamily="34" charset="0"/>
                <a:ea typeface="Calibri" pitchFamily="34" charset="-122"/>
                <a:cs typeface="Calibri" pitchFamily="34" charset="-120"/>
              </a:rPr>
              <a:t>LES SIX PIÈGES</a:t>
            </a:r>
            <a:endParaRPr lang="en-US" sz="1000" dirty="0"/>
          </a:p>
        </p:txBody>
      </p:sp>
      <p:sp>
        <p:nvSpPr>
          <p:cNvPr id="44" name="Text 42"/>
          <p:cNvSpPr txBox="1"/>
          <p:nvPr/>
        </p:nvSpPr>
        <p:spPr>
          <a:xfrm>
            <a:off x="6553048" y="1920240"/>
            <a:ext cx="4797400" cy="237744"/>
          </a:xfrm>
          <a:prstGeom prst="rect">
            <a:avLst/>
          </a:prstGeom>
          <a:noFill/>
          <a:ln/>
        </p:spPr>
        <p:txBody>
          <a:bodyPr wrap="square" lIns="0" tIns="0" rIns="0" bIns="0" rtlCol="0" anchor="ctr"/>
          <a:lstStyle/>
          <a:p>
            <a:pPr indent="0" marL="0">
              <a:buNone/>
            </a:pPr>
            <a:r>
              <a:rPr lang="en-US" sz="1200" b="1" dirty="0">
                <a:solidFill>
                  <a:srgbClr val="C0542A"/>
                </a:solidFill>
                <a:latin typeface="Calibri" pitchFamily="34" charset="0"/>
                <a:ea typeface="Calibri" pitchFamily="34" charset="-122"/>
                <a:cs typeface="Calibri" pitchFamily="34" charset="-120"/>
              </a:rPr>
              <a:t>Le mot « rapide »</a:t>
            </a:r>
            <a:endParaRPr lang="en-US" sz="1200" dirty="0"/>
          </a:p>
        </p:txBody>
      </p:sp>
      <p:sp>
        <p:nvSpPr>
          <p:cNvPr id="45" name="Text 43"/>
          <p:cNvSpPr txBox="1"/>
          <p:nvPr/>
        </p:nvSpPr>
        <p:spPr>
          <a:xfrm>
            <a:off x="6553048" y="2157984"/>
            <a:ext cx="4797400" cy="256032"/>
          </a:xfrm>
          <a:prstGeom prst="rect">
            <a:avLst/>
          </a:prstGeom>
          <a:noFill/>
          <a:ln/>
        </p:spPr>
        <p:txBody>
          <a:bodyPr wrap="square" lIns="0" tIns="0" rIns="0" bIns="0" rtlCol="0" anchor="t"/>
          <a:lstStyle/>
          <a:p>
            <a:pPr indent="0" marL="0">
              <a:buNone/>
            </a:pPr>
            <a:r>
              <a:rPr lang="en-US" sz="1100" dirty="0">
                <a:solidFill>
                  <a:srgbClr val="44555E"/>
                </a:solidFill>
                <a:latin typeface="Calibri" pitchFamily="34" charset="0"/>
                <a:ea typeface="Calibri" pitchFamily="34" charset="-122"/>
                <a:cs typeface="Calibri" pitchFamily="34" charset="-120"/>
              </a:rPr>
              <a:t>Le terme qui dégrade le plus la qualité. Un seul élément rapide.</a:t>
            </a:r>
            <a:endParaRPr lang="en-US" sz="1100" dirty="0"/>
          </a:p>
        </p:txBody>
      </p:sp>
      <p:sp>
        <p:nvSpPr>
          <p:cNvPr id="46" name="Text 44"/>
          <p:cNvSpPr txBox="1"/>
          <p:nvPr/>
        </p:nvSpPr>
        <p:spPr>
          <a:xfrm>
            <a:off x="6553048" y="2496312"/>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Deux mouvements de caméra</a:t>
            </a:r>
            <a:endParaRPr lang="en-US" sz="1200" dirty="0"/>
          </a:p>
        </p:txBody>
      </p:sp>
      <p:sp>
        <p:nvSpPr>
          <p:cNvPr id="47" name="Text 45"/>
          <p:cNvSpPr txBox="1"/>
          <p:nvPr/>
        </p:nvSpPr>
        <p:spPr>
          <a:xfrm>
            <a:off x="6553048" y="2734056"/>
            <a:ext cx="4797400" cy="256032"/>
          </a:xfrm>
          <a:prstGeom prst="rect">
            <a:avLst/>
          </a:prstGeom>
          <a:noFill/>
          <a:ln/>
        </p:spPr>
        <p:txBody>
          <a:bodyPr wrap="square" lIns="0" tIns="0" rIns="0" bIns="0" rtlCol="0" anchor="t"/>
          <a:lstStyle/>
          <a:p>
            <a:pPr indent="0" marL="0">
              <a:buNone/>
            </a:pPr>
            <a:r>
              <a:rPr lang="en-US" sz="1100" dirty="0">
                <a:solidFill>
                  <a:srgbClr val="44555E"/>
                </a:solidFill>
                <a:latin typeface="Calibri" pitchFamily="34" charset="0"/>
                <a:ea typeface="Calibri" pitchFamily="34" charset="-122"/>
                <a:cs typeface="Calibri" pitchFamily="34" charset="-120"/>
              </a:rPr>
              <a:t>Un travelling qui devient panoramique : tremblements garantis.</a:t>
            </a:r>
            <a:endParaRPr lang="en-US" sz="1100" dirty="0"/>
          </a:p>
        </p:txBody>
      </p:sp>
      <p:sp>
        <p:nvSpPr>
          <p:cNvPr id="48" name="Text 46"/>
          <p:cNvSpPr txBox="1"/>
          <p:nvPr/>
        </p:nvSpPr>
        <p:spPr>
          <a:xfrm>
            <a:off x="6553048" y="3072384"/>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La durée mal calibrée</a:t>
            </a:r>
            <a:endParaRPr lang="en-US" sz="1200" dirty="0"/>
          </a:p>
        </p:txBody>
      </p:sp>
      <p:sp>
        <p:nvSpPr>
          <p:cNvPr id="49" name="Text 47"/>
          <p:cNvSpPr txBox="1"/>
          <p:nvPr/>
        </p:nvSpPr>
        <p:spPr>
          <a:xfrm>
            <a:off x="6553048" y="3310128"/>
            <a:ext cx="4797400" cy="256032"/>
          </a:xfrm>
          <a:prstGeom prst="rect">
            <a:avLst/>
          </a:prstGeom>
          <a:noFill/>
          <a:ln/>
        </p:spPr>
        <p:txBody>
          <a:bodyPr wrap="square" lIns="0" tIns="0" rIns="0" bIns="0" rtlCol="0" anchor="t"/>
          <a:lstStyle/>
          <a:p>
            <a:pPr indent="0" marL="0">
              <a:buNone/>
            </a:pPr>
            <a:r>
              <a:rPr lang="en-US" sz="1100" dirty="0">
                <a:solidFill>
                  <a:srgbClr val="44555E"/>
                </a:solidFill>
                <a:latin typeface="Calibri" pitchFamily="34" charset="0"/>
                <a:ea typeface="Calibri" pitchFamily="34" charset="-122"/>
                <a:cs typeface="Calibri" pitchFamily="34" charset="-120"/>
              </a:rPr>
              <a:t>4 à 6 s tiennent en un plan. Au-delà de 8 s, annoncer les plans.</a:t>
            </a:r>
            <a:endParaRPr lang="en-US" sz="1100" dirty="0"/>
          </a:p>
        </p:txBody>
      </p:sp>
      <p:sp>
        <p:nvSpPr>
          <p:cNvPr id="50" name="Text 48"/>
          <p:cNvSpPr txBox="1"/>
          <p:nvPr/>
        </p:nvSpPr>
        <p:spPr>
          <a:xfrm>
            <a:off x="6553048" y="3648456"/>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Le staffage animé</a:t>
            </a:r>
            <a:endParaRPr lang="en-US" sz="1200" dirty="0"/>
          </a:p>
        </p:txBody>
      </p:sp>
      <p:sp>
        <p:nvSpPr>
          <p:cNvPr id="51" name="Text 49"/>
          <p:cNvSpPr txBox="1"/>
          <p:nvPr/>
        </p:nvSpPr>
        <p:spPr>
          <a:xfrm>
            <a:off x="6553048" y="3886200"/>
            <a:ext cx="4797400" cy="256032"/>
          </a:xfrm>
          <a:prstGeom prst="rect">
            <a:avLst/>
          </a:prstGeom>
          <a:noFill/>
          <a:ln/>
        </p:spPr>
        <p:txBody>
          <a:bodyPr wrap="square" lIns="0" tIns="0" rIns="0" bIns="0" rtlCol="0" anchor="t"/>
          <a:lstStyle/>
          <a:p>
            <a:pPr indent="0" marL="0">
              <a:buNone/>
            </a:pPr>
            <a:r>
              <a:rPr lang="en-US" sz="1100" dirty="0">
                <a:solidFill>
                  <a:srgbClr val="44555E"/>
                </a:solidFill>
                <a:latin typeface="Calibri" pitchFamily="34" charset="0"/>
                <a:ea typeface="Calibri" pitchFamily="34" charset="-122"/>
                <a:cs typeface="Calibri" pitchFamily="34" charset="-120"/>
              </a:rPr>
              <a:t>Les personnages qui marchent se déforment. Préférez le feuillage.</a:t>
            </a:r>
            <a:endParaRPr lang="en-US" sz="1100" dirty="0"/>
          </a:p>
        </p:txBody>
      </p:sp>
      <p:sp>
        <p:nvSpPr>
          <p:cNvPr id="52" name="Text 50"/>
          <p:cNvSpPr txBox="1"/>
          <p:nvPr/>
        </p:nvSpPr>
        <p:spPr>
          <a:xfrm>
            <a:off x="6553048" y="4224528"/>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Le texte dans l'image</a:t>
            </a:r>
            <a:endParaRPr lang="en-US" sz="1200" dirty="0"/>
          </a:p>
        </p:txBody>
      </p:sp>
      <p:sp>
        <p:nvSpPr>
          <p:cNvPr id="53" name="Text 51"/>
          <p:cNvSpPr txBox="1"/>
          <p:nvPr/>
        </p:nvSpPr>
        <p:spPr>
          <a:xfrm>
            <a:off x="6553048" y="4462272"/>
            <a:ext cx="4797400" cy="256032"/>
          </a:xfrm>
          <a:prstGeom prst="rect">
            <a:avLst/>
          </a:prstGeom>
          <a:noFill/>
          <a:ln/>
        </p:spPr>
        <p:txBody>
          <a:bodyPr wrap="square" lIns="0" tIns="0" rIns="0" bIns="0" rtlCol="0" anchor="t"/>
          <a:lstStyle/>
          <a:p>
            <a:pPr indent="0" marL="0">
              <a:buNone/>
            </a:pPr>
            <a:r>
              <a:rPr lang="en-US" sz="1100" dirty="0">
                <a:solidFill>
                  <a:srgbClr val="44555E"/>
                </a:solidFill>
                <a:latin typeface="Calibri" pitchFamily="34" charset="0"/>
                <a:ea typeface="Calibri" pitchFamily="34" charset="-122"/>
                <a:cs typeface="Calibri" pitchFamily="34" charset="-120"/>
              </a:rPr>
              <a:t>Enseigne, panneau, numéro de rue : ils fondent en deux secondes.</a:t>
            </a:r>
            <a:endParaRPr lang="en-US" sz="1100" dirty="0"/>
          </a:p>
        </p:txBody>
      </p:sp>
      <p:sp>
        <p:nvSpPr>
          <p:cNvPr id="54" name="Text 52"/>
          <p:cNvSpPr txBox="1"/>
          <p:nvPr/>
        </p:nvSpPr>
        <p:spPr>
          <a:xfrm>
            <a:off x="6553048" y="4800600"/>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Attendre la conformité</a:t>
            </a:r>
            <a:endParaRPr lang="en-US" sz="1200" dirty="0"/>
          </a:p>
        </p:txBody>
      </p:sp>
      <p:sp>
        <p:nvSpPr>
          <p:cNvPr id="55" name="Text 53"/>
          <p:cNvSpPr txBox="1"/>
          <p:nvPr/>
        </p:nvSpPr>
        <p:spPr>
          <a:xfrm>
            <a:off x="6553048" y="5038344"/>
            <a:ext cx="4797400" cy="256032"/>
          </a:xfrm>
          <a:prstGeom prst="rect">
            <a:avLst/>
          </a:prstGeom>
          <a:noFill/>
          <a:ln/>
        </p:spPr>
        <p:txBody>
          <a:bodyPr wrap="square" lIns="0" tIns="0" rIns="0" bIns="0" rtlCol="0" anchor="t"/>
          <a:lstStyle/>
          <a:p>
            <a:pPr indent="0" marL="0">
              <a:buNone/>
            </a:pPr>
            <a:r>
              <a:rPr lang="en-US" sz="1100" dirty="0">
                <a:solidFill>
                  <a:srgbClr val="44555E"/>
                </a:solidFill>
                <a:latin typeface="Calibri" pitchFamily="34" charset="0"/>
                <a:ea typeface="Calibri" pitchFamily="34" charset="-122"/>
                <a:cs typeface="Calibri" pitchFamily="34" charset="-120"/>
              </a:rPr>
              <a:t>Les menuiseries bougent. Choisissez des plans qui pardonnent.</a:t>
            </a:r>
            <a:endParaRPr lang="en-US" sz="1100" dirty="0"/>
          </a:p>
        </p:txBody>
      </p:sp>
      <p:sp>
        <p:nvSpPr>
          <p:cNvPr id="56" name="Shape 54"/>
          <p:cNvSpPr/>
          <p:nvPr/>
        </p:nvSpPr>
        <p:spPr>
          <a:xfrm>
            <a:off x="566928" y="5632704"/>
            <a:ext cx="11057839" cy="603504"/>
          </a:xfrm>
          <a:prstGeom prst="roundRect">
            <a:avLst>
              <a:gd name="adj" fmla="val 12121"/>
            </a:avLst>
          </a:prstGeom>
          <a:solidFill>
            <a:srgbClr val="F6E7E0"/>
          </a:solidFill>
          <a:ln/>
        </p:spPr>
      </p:sp>
      <p:sp>
        <p:nvSpPr>
          <p:cNvPr id="57" name="Shape 55"/>
          <p:cNvSpPr/>
          <p:nvPr/>
        </p:nvSpPr>
        <p:spPr>
          <a:xfrm>
            <a:off x="786384" y="5788152"/>
            <a:ext cx="603504" cy="292608"/>
          </a:xfrm>
          <a:prstGeom prst="roundRect">
            <a:avLst>
              <a:gd name="adj" fmla="val 21875"/>
            </a:avLst>
          </a:prstGeom>
          <a:solidFill>
            <a:srgbClr val="C0542A"/>
          </a:solidFill>
          <a:ln/>
        </p:spPr>
      </p:sp>
      <p:sp>
        <p:nvSpPr>
          <p:cNvPr id="58" name="Text 56"/>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59" name="Text 57"/>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La règle d'or : le mouvement de la caméra et le mouvement du sujet vont dans deux phrases séparées. « La caméra avance lentement. Le feuillage bouge au vent. » Jamais dans la même phrase.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01:53</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LE VOCABULAIRE DE LA CAMÉRA</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Quatre mouvements qui marchent</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20</a:t>
            </a:r>
            <a:endParaRPr lang="en-US" sz="900" dirty="0"/>
          </a:p>
        </p:txBody>
      </p:sp>
      <p:sp>
        <p:nvSpPr>
          <p:cNvPr id="8" name="Shape 6"/>
          <p:cNvSpPr/>
          <p:nvPr/>
        </p:nvSpPr>
        <p:spPr>
          <a:xfrm>
            <a:off x="566928" y="1389888"/>
            <a:ext cx="2593010" cy="3383280"/>
          </a:xfrm>
          <a:prstGeom prst="roundRect">
            <a:avLst>
              <a:gd name="adj" fmla="val 2821"/>
            </a:avLst>
          </a:prstGeom>
          <a:solidFill>
            <a:srgbClr val="F6E7E0"/>
          </a:solidFill>
          <a:ln/>
        </p:spPr>
      </p:sp>
      <p:sp>
        <p:nvSpPr>
          <p:cNvPr id="9" name="Shape 7"/>
          <p:cNvSpPr/>
          <p:nvPr/>
        </p:nvSpPr>
        <p:spPr>
          <a:xfrm>
            <a:off x="804672" y="1609344"/>
            <a:ext cx="384048" cy="384048"/>
          </a:xfrm>
          <a:prstGeom prst="ellipse">
            <a:avLst/>
          </a:prstGeom>
          <a:solidFill>
            <a:srgbClr val="C0542A"/>
          </a:solidFill>
          <a:ln/>
        </p:spPr>
      </p:sp>
      <p:sp>
        <p:nvSpPr>
          <p:cNvPr id="10" name="Text 8"/>
          <p:cNvSpPr txBox="1"/>
          <p:nvPr/>
        </p:nvSpPr>
        <p:spPr>
          <a:xfrm>
            <a:off x="804672" y="1609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804672" y="2103120"/>
            <a:ext cx="2117522" cy="548640"/>
          </a:xfrm>
          <a:prstGeom prst="rect">
            <a:avLst/>
          </a:prstGeom>
          <a:noFill/>
          <a:ln/>
        </p:spPr>
        <p:txBody>
          <a:bodyPr wrap="square" lIns="0" tIns="0" rIns="0" bIns="0" rtlCol="0" anchor="ctr"/>
          <a:lstStyle/>
          <a:p>
            <a:pPr indent="0" marL="0">
              <a:buNone/>
            </a:pPr>
            <a:r>
              <a:rPr lang="en-US" sz="1800" b="1" dirty="0">
                <a:solidFill>
                  <a:srgbClr val="14171A"/>
                </a:solidFill>
                <a:latin typeface="Cambria" pitchFamily="34" charset="0"/>
                <a:ea typeface="Cambria" pitchFamily="34" charset="-122"/>
                <a:cs typeface="Cambria" pitchFamily="34" charset="-120"/>
              </a:rPr>
              <a:t>Travelling avant</a:t>
            </a:r>
            <a:endParaRPr lang="en-US" sz="1800" dirty="0"/>
          </a:p>
        </p:txBody>
      </p:sp>
      <p:sp>
        <p:nvSpPr>
          <p:cNvPr id="12" name="Text 10"/>
          <p:cNvSpPr txBox="1"/>
          <p:nvPr/>
        </p:nvSpPr>
        <p:spPr>
          <a:xfrm>
            <a:off x="804672" y="2688336"/>
            <a:ext cx="2117522" cy="1325880"/>
          </a:xfrm>
          <a:prstGeom prst="rect">
            <a:avLst/>
          </a:prstGeom>
          <a:noFill/>
          <a:ln/>
        </p:spPr>
        <p:txBody>
          <a:bodyPr wrap="square" lIns="0" tIns="0" rIns="0" bIns="0" rtlCol="0" anchor="t"/>
          <a:lstStyle/>
          <a:p>
            <a:pPr indent="0" marL="0">
              <a:lnSpc>
                <a:spcPct val="112000"/>
              </a:lnSpc>
              <a:buNone/>
            </a:pPr>
            <a:r>
              <a:rPr lang="en-US" sz="1150" i="1" dirty="0">
                <a:solidFill>
                  <a:srgbClr val="8A4A34"/>
                </a:solidFill>
                <a:latin typeface="Calibri" pitchFamily="34" charset="0"/>
                <a:ea typeface="Calibri" pitchFamily="34" charset="-122"/>
                <a:cs typeface="Calibri" pitchFamily="34" charset="-120"/>
              </a:rPr>
              <a:t>« La caméra avance lentement vers l'entrée, sans à-coups, hauteur constante. »</a:t>
            </a:r>
            <a:endParaRPr lang="en-US" sz="1150" dirty="0"/>
          </a:p>
        </p:txBody>
      </p:sp>
      <p:sp>
        <p:nvSpPr>
          <p:cNvPr id="13" name="Text 11"/>
          <p:cNvSpPr txBox="1"/>
          <p:nvPr/>
        </p:nvSpPr>
        <p:spPr>
          <a:xfrm>
            <a:off x="804672" y="4041648"/>
            <a:ext cx="2117522" cy="201168"/>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POUR</a:t>
            </a:r>
            <a:endParaRPr lang="en-US" sz="900" dirty="0"/>
          </a:p>
        </p:txBody>
      </p:sp>
      <p:sp>
        <p:nvSpPr>
          <p:cNvPr id="14" name="Text 12"/>
          <p:cNvSpPr txBox="1"/>
          <p:nvPr/>
        </p:nvSpPr>
        <p:spPr>
          <a:xfrm>
            <a:off x="804672" y="4261104"/>
            <a:ext cx="2117522" cy="457200"/>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Ouverture de présentation, page projet</a:t>
            </a:r>
            <a:endParaRPr lang="en-US" sz="1100" dirty="0"/>
          </a:p>
        </p:txBody>
      </p:sp>
      <p:sp>
        <p:nvSpPr>
          <p:cNvPr id="15" name="Shape 13"/>
          <p:cNvSpPr/>
          <p:nvPr/>
        </p:nvSpPr>
        <p:spPr>
          <a:xfrm>
            <a:off x="3388538" y="1389888"/>
            <a:ext cx="2593010" cy="3383280"/>
          </a:xfrm>
          <a:prstGeom prst="roundRect">
            <a:avLst>
              <a:gd name="adj" fmla="val 2821"/>
            </a:avLst>
          </a:prstGeom>
          <a:solidFill>
            <a:srgbClr val="EFF1F2"/>
          </a:solidFill>
          <a:ln/>
        </p:spPr>
      </p:sp>
      <p:sp>
        <p:nvSpPr>
          <p:cNvPr id="16" name="Shape 14"/>
          <p:cNvSpPr/>
          <p:nvPr/>
        </p:nvSpPr>
        <p:spPr>
          <a:xfrm>
            <a:off x="3626282" y="1609344"/>
            <a:ext cx="384048" cy="384048"/>
          </a:xfrm>
          <a:prstGeom prst="ellipse">
            <a:avLst/>
          </a:prstGeom>
          <a:solidFill>
            <a:srgbClr val="44555E"/>
          </a:solidFill>
          <a:ln/>
        </p:spPr>
      </p:sp>
      <p:sp>
        <p:nvSpPr>
          <p:cNvPr id="17" name="Text 15"/>
          <p:cNvSpPr txBox="1"/>
          <p:nvPr/>
        </p:nvSpPr>
        <p:spPr>
          <a:xfrm>
            <a:off x="3626282" y="1609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3626282" y="2103120"/>
            <a:ext cx="2117522" cy="548640"/>
          </a:xfrm>
          <a:prstGeom prst="rect">
            <a:avLst/>
          </a:prstGeom>
          <a:noFill/>
          <a:ln/>
        </p:spPr>
        <p:txBody>
          <a:bodyPr wrap="square" lIns="0" tIns="0" rIns="0" bIns="0" rtlCol="0" anchor="ctr"/>
          <a:lstStyle/>
          <a:p>
            <a:pPr indent="0" marL="0">
              <a:buNone/>
            </a:pPr>
            <a:r>
              <a:rPr lang="en-US" sz="1800" b="1" dirty="0">
                <a:solidFill>
                  <a:srgbClr val="14171A"/>
                </a:solidFill>
                <a:latin typeface="Cambria" pitchFamily="34" charset="0"/>
                <a:ea typeface="Cambria" pitchFamily="34" charset="-122"/>
                <a:cs typeface="Cambria" pitchFamily="34" charset="-120"/>
              </a:rPr>
              <a:t>Panoramique</a:t>
            </a:r>
            <a:endParaRPr lang="en-US" sz="1800" dirty="0"/>
          </a:p>
        </p:txBody>
      </p:sp>
      <p:sp>
        <p:nvSpPr>
          <p:cNvPr id="19" name="Text 17"/>
          <p:cNvSpPr txBox="1"/>
          <p:nvPr/>
        </p:nvSpPr>
        <p:spPr>
          <a:xfrm>
            <a:off x="3626282" y="2688336"/>
            <a:ext cx="2117522" cy="1325880"/>
          </a:xfrm>
          <a:prstGeom prst="rect">
            <a:avLst/>
          </a:prstGeom>
          <a:noFill/>
          <a:ln/>
        </p:spPr>
        <p:txBody>
          <a:bodyPr wrap="square" lIns="0" tIns="0" rIns="0" bIns="0" rtlCol="0" anchor="t"/>
          <a:lstStyle/>
          <a:p>
            <a:pPr indent="0" marL="0">
              <a:lnSpc>
                <a:spcPct val="112000"/>
              </a:lnSpc>
              <a:buNone/>
            </a:pPr>
            <a:r>
              <a:rPr lang="en-US" sz="1150" i="1" dirty="0">
                <a:solidFill>
                  <a:srgbClr val="44555E"/>
                </a:solidFill>
                <a:latin typeface="Calibri" pitchFamily="34" charset="0"/>
                <a:ea typeface="Calibri" pitchFamily="34" charset="-122"/>
                <a:cs typeface="Calibri" pitchFamily="34" charset="-120"/>
              </a:rPr>
              <a:t>« Panoramique lent de gauche à droite le long de la façade sud, caméra fixe. »</a:t>
            </a:r>
            <a:endParaRPr lang="en-US" sz="1150" dirty="0"/>
          </a:p>
        </p:txBody>
      </p:sp>
      <p:sp>
        <p:nvSpPr>
          <p:cNvPr id="20" name="Text 18"/>
          <p:cNvSpPr txBox="1"/>
          <p:nvPr/>
        </p:nvSpPr>
        <p:spPr>
          <a:xfrm>
            <a:off x="3626282" y="4041648"/>
            <a:ext cx="2117522" cy="201168"/>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POUR</a:t>
            </a:r>
            <a:endParaRPr lang="en-US" sz="900" dirty="0"/>
          </a:p>
        </p:txBody>
      </p:sp>
      <p:sp>
        <p:nvSpPr>
          <p:cNvPr id="21" name="Text 19"/>
          <p:cNvSpPr txBox="1"/>
          <p:nvPr/>
        </p:nvSpPr>
        <p:spPr>
          <a:xfrm>
            <a:off x="3626282" y="4261104"/>
            <a:ext cx="2117522" cy="457200"/>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Lire une façade longue, un linéaire</a:t>
            </a:r>
            <a:endParaRPr lang="en-US" sz="1100" dirty="0"/>
          </a:p>
        </p:txBody>
      </p:sp>
      <p:sp>
        <p:nvSpPr>
          <p:cNvPr id="22" name="Shape 20"/>
          <p:cNvSpPr/>
          <p:nvPr/>
        </p:nvSpPr>
        <p:spPr>
          <a:xfrm>
            <a:off x="6210148" y="1389888"/>
            <a:ext cx="2593010" cy="3383280"/>
          </a:xfrm>
          <a:prstGeom prst="roundRect">
            <a:avLst>
              <a:gd name="adj" fmla="val 2821"/>
            </a:avLst>
          </a:prstGeom>
          <a:solidFill>
            <a:srgbClr val="EFF1F2"/>
          </a:solidFill>
          <a:ln/>
        </p:spPr>
      </p:sp>
      <p:sp>
        <p:nvSpPr>
          <p:cNvPr id="23" name="Shape 21"/>
          <p:cNvSpPr/>
          <p:nvPr/>
        </p:nvSpPr>
        <p:spPr>
          <a:xfrm>
            <a:off x="6447892" y="1609344"/>
            <a:ext cx="384048" cy="384048"/>
          </a:xfrm>
          <a:prstGeom prst="ellipse">
            <a:avLst/>
          </a:prstGeom>
          <a:solidFill>
            <a:srgbClr val="44555E"/>
          </a:solidFill>
          <a:ln/>
        </p:spPr>
      </p:sp>
      <p:sp>
        <p:nvSpPr>
          <p:cNvPr id="24" name="Text 22"/>
          <p:cNvSpPr txBox="1"/>
          <p:nvPr/>
        </p:nvSpPr>
        <p:spPr>
          <a:xfrm>
            <a:off x="6447892" y="1609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txBox="1"/>
          <p:nvPr/>
        </p:nvSpPr>
        <p:spPr>
          <a:xfrm>
            <a:off x="6447892" y="2103120"/>
            <a:ext cx="2117522" cy="548640"/>
          </a:xfrm>
          <a:prstGeom prst="rect">
            <a:avLst/>
          </a:prstGeom>
          <a:noFill/>
          <a:ln/>
        </p:spPr>
        <p:txBody>
          <a:bodyPr wrap="square" lIns="0" tIns="0" rIns="0" bIns="0" rtlCol="0" anchor="ctr"/>
          <a:lstStyle/>
          <a:p>
            <a:pPr indent="0" marL="0">
              <a:buNone/>
            </a:pPr>
            <a:r>
              <a:rPr lang="en-US" sz="1800" b="1" dirty="0">
                <a:solidFill>
                  <a:srgbClr val="14171A"/>
                </a:solidFill>
                <a:latin typeface="Cambria" pitchFamily="34" charset="0"/>
                <a:ea typeface="Cambria" pitchFamily="34" charset="-122"/>
                <a:cs typeface="Cambria" pitchFamily="34" charset="-120"/>
              </a:rPr>
              <a:t>Révélation</a:t>
            </a:r>
            <a:endParaRPr lang="en-US" sz="1800" dirty="0"/>
          </a:p>
        </p:txBody>
      </p:sp>
      <p:sp>
        <p:nvSpPr>
          <p:cNvPr id="26" name="Text 24"/>
          <p:cNvSpPr txBox="1"/>
          <p:nvPr/>
        </p:nvSpPr>
        <p:spPr>
          <a:xfrm>
            <a:off x="6447892" y="2688336"/>
            <a:ext cx="2117522" cy="1325880"/>
          </a:xfrm>
          <a:prstGeom prst="rect">
            <a:avLst/>
          </a:prstGeom>
          <a:noFill/>
          <a:ln/>
        </p:spPr>
        <p:txBody>
          <a:bodyPr wrap="square" lIns="0" tIns="0" rIns="0" bIns="0" rtlCol="0" anchor="t"/>
          <a:lstStyle/>
          <a:p>
            <a:pPr indent="0" marL="0">
              <a:lnSpc>
                <a:spcPct val="112000"/>
              </a:lnSpc>
              <a:buNone/>
            </a:pPr>
            <a:r>
              <a:rPr lang="en-US" sz="1150" i="1" dirty="0">
                <a:solidFill>
                  <a:srgbClr val="44555E"/>
                </a:solidFill>
                <a:latin typeface="Calibri" pitchFamily="34" charset="0"/>
                <a:ea typeface="Calibri" pitchFamily="34" charset="-122"/>
                <a:cs typeface="Calibri" pitchFamily="34" charset="-120"/>
              </a:rPr>
              <a:t>« La caméra part d'un premier plan de végétation et découvre le bâtiment. »</a:t>
            </a:r>
            <a:endParaRPr lang="en-US" sz="1150" dirty="0"/>
          </a:p>
        </p:txBody>
      </p:sp>
      <p:sp>
        <p:nvSpPr>
          <p:cNvPr id="27" name="Text 25"/>
          <p:cNvSpPr txBox="1"/>
          <p:nvPr/>
        </p:nvSpPr>
        <p:spPr>
          <a:xfrm>
            <a:off x="6447892" y="4041648"/>
            <a:ext cx="2117522" cy="201168"/>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POUR</a:t>
            </a:r>
            <a:endParaRPr lang="en-US" sz="900" dirty="0"/>
          </a:p>
        </p:txBody>
      </p:sp>
      <p:sp>
        <p:nvSpPr>
          <p:cNvPr id="28" name="Text 26"/>
          <p:cNvSpPr txBox="1"/>
          <p:nvPr/>
        </p:nvSpPr>
        <p:spPr>
          <a:xfrm>
            <a:off x="6447892" y="4261104"/>
            <a:ext cx="2117522" cy="457200"/>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Effet d'annonce, réseaux sociaux</a:t>
            </a:r>
            <a:endParaRPr lang="en-US" sz="1100" dirty="0"/>
          </a:p>
        </p:txBody>
      </p:sp>
      <p:sp>
        <p:nvSpPr>
          <p:cNvPr id="29" name="Shape 27"/>
          <p:cNvSpPr/>
          <p:nvPr/>
        </p:nvSpPr>
        <p:spPr>
          <a:xfrm>
            <a:off x="9031757" y="1389888"/>
            <a:ext cx="2593010" cy="3383280"/>
          </a:xfrm>
          <a:prstGeom prst="roundRect">
            <a:avLst>
              <a:gd name="adj" fmla="val 2821"/>
            </a:avLst>
          </a:prstGeom>
          <a:solidFill>
            <a:srgbClr val="EFF1F2"/>
          </a:solidFill>
          <a:ln/>
        </p:spPr>
      </p:sp>
      <p:sp>
        <p:nvSpPr>
          <p:cNvPr id="30" name="Shape 28"/>
          <p:cNvSpPr/>
          <p:nvPr/>
        </p:nvSpPr>
        <p:spPr>
          <a:xfrm>
            <a:off x="9269501" y="1609344"/>
            <a:ext cx="384048" cy="384048"/>
          </a:xfrm>
          <a:prstGeom prst="ellipse">
            <a:avLst/>
          </a:prstGeom>
          <a:solidFill>
            <a:srgbClr val="44555E"/>
          </a:solidFill>
          <a:ln/>
        </p:spPr>
      </p:sp>
      <p:sp>
        <p:nvSpPr>
          <p:cNvPr id="31" name="Text 29"/>
          <p:cNvSpPr txBox="1"/>
          <p:nvPr/>
        </p:nvSpPr>
        <p:spPr>
          <a:xfrm>
            <a:off x="9269501" y="1609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txBox="1"/>
          <p:nvPr/>
        </p:nvSpPr>
        <p:spPr>
          <a:xfrm>
            <a:off x="9269501" y="2103120"/>
            <a:ext cx="2117522" cy="548640"/>
          </a:xfrm>
          <a:prstGeom prst="rect">
            <a:avLst/>
          </a:prstGeom>
          <a:noFill/>
          <a:ln/>
        </p:spPr>
        <p:txBody>
          <a:bodyPr wrap="square" lIns="0" tIns="0" rIns="0" bIns="0" rtlCol="0" anchor="ctr"/>
          <a:lstStyle/>
          <a:p>
            <a:pPr indent="0" marL="0">
              <a:buNone/>
            </a:pPr>
            <a:r>
              <a:rPr lang="en-US" sz="1800" b="1" dirty="0">
                <a:solidFill>
                  <a:srgbClr val="14171A"/>
                </a:solidFill>
                <a:latin typeface="Cambria" pitchFamily="34" charset="0"/>
                <a:ea typeface="Cambria" pitchFamily="34" charset="-122"/>
                <a:cs typeface="Cambria" pitchFamily="34" charset="-120"/>
              </a:rPr>
              <a:t>Survol</a:t>
            </a:r>
            <a:endParaRPr lang="en-US" sz="1800" dirty="0"/>
          </a:p>
        </p:txBody>
      </p:sp>
      <p:sp>
        <p:nvSpPr>
          <p:cNvPr id="33" name="Text 31"/>
          <p:cNvSpPr txBox="1"/>
          <p:nvPr/>
        </p:nvSpPr>
        <p:spPr>
          <a:xfrm>
            <a:off x="9269501" y="2688336"/>
            <a:ext cx="2117522" cy="1325880"/>
          </a:xfrm>
          <a:prstGeom prst="rect">
            <a:avLst/>
          </a:prstGeom>
          <a:noFill/>
          <a:ln/>
        </p:spPr>
        <p:txBody>
          <a:bodyPr wrap="square" lIns="0" tIns="0" rIns="0" bIns="0" rtlCol="0" anchor="t"/>
          <a:lstStyle/>
          <a:p>
            <a:pPr indent="0" marL="0">
              <a:lnSpc>
                <a:spcPct val="112000"/>
              </a:lnSpc>
              <a:buNone/>
            </a:pPr>
            <a:r>
              <a:rPr lang="en-US" sz="1150" i="1" dirty="0">
                <a:solidFill>
                  <a:srgbClr val="44555E"/>
                </a:solidFill>
                <a:latin typeface="Calibri" pitchFamily="34" charset="0"/>
                <a:ea typeface="Calibri" pitchFamily="34" charset="-122"/>
                <a:cs typeface="Calibri" pitchFamily="34" charset="-120"/>
              </a:rPr>
              <a:t>« Lent mouvement orbital autour du bâtiment, altitude et vitesse constantes. »</a:t>
            </a:r>
            <a:endParaRPr lang="en-US" sz="1150" dirty="0"/>
          </a:p>
        </p:txBody>
      </p:sp>
      <p:sp>
        <p:nvSpPr>
          <p:cNvPr id="34" name="Text 32"/>
          <p:cNvSpPr txBox="1"/>
          <p:nvPr/>
        </p:nvSpPr>
        <p:spPr>
          <a:xfrm>
            <a:off x="9269501" y="4041648"/>
            <a:ext cx="2117522" cy="201168"/>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POUR</a:t>
            </a:r>
            <a:endParaRPr lang="en-US" sz="900" dirty="0"/>
          </a:p>
        </p:txBody>
      </p:sp>
      <p:sp>
        <p:nvSpPr>
          <p:cNvPr id="35" name="Text 33"/>
          <p:cNvSpPr txBox="1"/>
          <p:nvPr/>
        </p:nvSpPr>
        <p:spPr>
          <a:xfrm>
            <a:off x="9269501" y="4261104"/>
            <a:ext cx="2117522" cy="457200"/>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Insertion dans le site, volumétrie</a:t>
            </a:r>
            <a:endParaRPr lang="en-US" sz="1100" dirty="0"/>
          </a:p>
        </p:txBody>
      </p:sp>
      <p:sp>
        <p:nvSpPr>
          <p:cNvPr id="36" name="Shape 34"/>
          <p:cNvSpPr/>
          <p:nvPr/>
        </p:nvSpPr>
        <p:spPr>
          <a:xfrm>
            <a:off x="566928" y="4901184"/>
            <a:ext cx="11057839" cy="603504"/>
          </a:xfrm>
          <a:prstGeom prst="roundRect">
            <a:avLst>
              <a:gd name="adj" fmla="val 12121"/>
            </a:avLst>
          </a:prstGeom>
          <a:solidFill>
            <a:srgbClr val="14171A"/>
          </a:solidFill>
          <a:ln/>
        </p:spPr>
      </p:sp>
      <p:sp>
        <p:nvSpPr>
          <p:cNvPr id="37" name="Text 35"/>
          <p:cNvSpPr txBox="1"/>
          <p:nvPr/>
        </p:nvSpPr>
        <p:spPr>
          <a:xfrm>
            <a:off x="841248" y="4901184"/>
            <a:ext cx="10509199" cy="603504"/>
          </a:xfrm>
          <a:prstGeom prst="rect">
            <a:avLst/>
          </a:prstGeom>
          <a:noFill/>
          <a:ln/>
        </p:spPr>
        <p:txBody>
          <a:bodyPr wrap="square" lIns="0" tIns="0" rIns="0" bIns="0" rtlCol="0" anchor="ctr"/>
          <a:lstStyle/>
          <a:p>
            <a:pPr indent="0" marL="0">
              <a:buNone/>
            </a:pPr>
            <a:r>
              <a:rPr lang="en-US" sz="1200" dirty="0">
                <a:solidFill>
                  <a:srgbClr val="D8DEE1"/>
                </a:solidFill>
                <a:latin typeface="Calibri" pitchFamily="34" charset="0"/>
                <a:ea typeface="Calibri" pitchFamily="34" charset="-122"/>
                <a:cs typeface="Calibri" pitchFamily="34" charset="-120"/>
              </a:rPr>
              <a:t>Le mot qui sauve la plupart des plans : LENTEMENT. Un travelling lent réussit neuf fois sur dix ; le même travelling rapide, une fois sur cinq.</a:t>
            </a:r>
            <a:endParaRPr lang="en-US" sz="1200" dirty="0"/>
          </a:p>
        </p:txBody>
      </p:sp>
      <p:sp>
        <p:nvSpPr>
          <p:cNvPr id="38" name="Shape 36"/>
          <p:cNvSpPr/>
          <p:nvPr/>
        </p:nvSpPr>
        <p:spPr>
          <a:xfrm>
            <a:off x="566928" y="5632704"/>
            <a:ext cx="11057839" cy="603504"/>
          </a:xfrm>
          <a:prstGeom prst="roundRect">
            <a:avLst>
              <a:gd name="adj" fmla="val 12121"/>
            </a:avLst>
          </a:prstGeom>
          <a:solidFill>
            <a:srgbClr val="F6E7E0"/>
          </a:solidFill>
          <a:ln/>
        </p:spPr>
      </p:sp>
      <p:sp>
        <p:nvSpPr>
          <p:cNvPr id="39" name="Shape 37"/>
          <p:cNvSpPr/>
          <p:nvPr/>
        </p:nvSpPr>
        <p:spPr>
          <a:xfrm>
            <a:off x="786384" y="5788152"/>
            <a:ext cx="603504" cy="292608"/>
          </a:xfrm>
          <a:prstGeom prst="roundRect">
            <a:avLst>
              <a:gd name="adj" fmla="val 21875"/>
            </a:avLst>
          </a:prstGeom>
          <a:solidFill>
            <a:srgbClr val="C0542A"/>
          </a:solidFill>
          <a:ln/>
        </p:spPr>
      </p:sp>
      <p:sp>
        <p:nvSpPr>
          <p:cNvPr id="40" name="Text 38"/>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41" name="Text 39"/>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Pour un premier essai, prenez le travelling avant lent : c'est celui qui réussit le plus souvent, et il donne tout de suite un résultat montrable.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01:57</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ATELIER · 20 MINUTES</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Animez votre image</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21</a:t>
            </a:r>
            <a:endParaRPr lang="en-US" sz="900" dirty="0"/>
          </a:p>
        </p:txBody>
      </p:sp>
      <p:sp>
        <p:nvSpPr>
          <p:cNvPr id="8" name="Shape 6"/>
          <p:cNvSpPr/>
          <p:nvPr/>
        </p:nvSpPr>
        <p:spPr>
          <a:xfrm>
            <a:off x="566928" y="1389888"/>
            <a:ext cx="11057839" cy="932688"/>
          </a:xfrm>
          <a:prstGeom prst="roundRect">
            <a:avLst>
              <a:gd name="adj" fmla="val 7843"/>
            </a:avLst>
          </a:prstGeom>
          <a:solidFill>
            <a:srgbClr val="EFF1F2"/>
          </a:solidFill>
          <a:ln/>
        </p:spPr>
      </p:sp>
      <p:sp>
        <p:nvSpPr>
          <p:cNvPr id="9" name="Text 7"/>
          <p:cNvSpPr txBox="1"/>
          <p:nvPr/>
        </p:nvSpPr>
        <p:spPr>
          <a:xfrm>
            <a:off x="822960" y="1645920"/>
            <a:ext cx="868680" cy="402336"/>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3 min</a:t>
            </a:r>
            <a:endParaRPr lang="en-US" sz="1600" dirty="0"/>
          </a:p>
        </p:txBody>
      </p:sp>
      <p:sp>
        <p:nvSpPr>
          <p:cNvPr id="10" name="Text 8"/>
          <p:cNvSpPr txBox="1"/>
          <p:nvPr/>
        </p:nvSpPr>
        <p:spPr>
          <a:xfrm>
            <a:off x="1847088" y="1536192"/>
            <a:ext cx="9457639"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Choisir l'image et le mouvement</a:t>
            </a:r>
            <a:endParaRPr lang="en-US" sz="1500" dirty="0"/>
          </a:p>
        </p:txBody>
      </p:sp>
      <p:sp>
        <p:nvSpPr>
          <p:cNvPr id="11" name="Text 9"/>
          <p:cNvSpPr txBox="1"/>
          <p:nvPr/>
        </p:nvSpPr>
        <p:spPr>
          <a:xfrm>
            <a:off x="1847088" y="1828800"/>
            <a:ext cx="9457639" cy="402336"/>
          </a:xfrm>
          <a:prstGeom prst="rect">
            <a:avLst/>
          </a:prstGeom>
          <a:noFill/>
          <a:ln/>
        </p:spPr>
        <p:txBody>
          <a:bodyPr wrap="square" lIns="0" tIns="0" rIns="0" bIns="0" rtlCol="0" anchor="ctr"/>
          <a:lstStyle/>
          <a:p>
            <a:pPr indent="0" marL="0">
              <a:buNone/>
            </a:pPr>
            <a:r>
              <a:rPr lang="en-US" sz="1150" dirty="0">
                <a:solidFill>
                  <a:srgbClr val="44555E"/>
                </a:solidFill>
                <a:latin typeface="Calibri" pitchFamily="34" charset="0"/>
                <a:ea typeface="Calibri" pitchFamily="34" charset="-122"/>
                <a:cs typeface="Calibri" pitchFamily="34" charset="-120"/>
              </a:rPr>
              <a:t>Une image validée du module précédent. Un seul mouvement, décidé avant d'écrire.</a:t>
            </a:r>
            <a:endParaRPr lang="en-US" sz="1150" dirty="0"/>
          </a:p>
        </p:txBody>
      </p:sp>
      <p:sp>
        <p:nvSpPr>
          <p:cNvPr id="12" name="Shape 10"/>
          <p:cNvSpPr/>
          <p:nvPr/>
        </p:nvSpPr>
        <p:spPr>
          <a:xfrm>
            <a:off x="566928" y="2395728"/>
            <a:ext cx="11057839" cy="932688"/>
          </a:xfrm>
          <a:prstGeom prst="roundRect">
            <a:avLst>
              <a:gd name="adj" fmla="val 7843"/>
            </a:avLst>
          </a:prstGeom>
          <a:solidFill>
            <a:srgbClr val="F6E7E0"/>
          </a:solidFill>
          <a:ln/>
        </p:spPr>
      </p:sp>
      <p:sp>
        <p:nvSpPr>
          <p:cNvPr id="13" name="Text 11"/>
          <p:cNvSpPr txBox="1"/>
          <p:nvPr/>
        </p:nvSpPr>
        <p:spPr>
          <a:xfrm>
            <a:off x="822960" y="2651760"/>
            <a:ext cx="868680" cy="402336"/>
          </a:xfrm>
          <a:prstGeom prst="rect">
            <a:avLst/>
          </a:prstGeom>
          <a:noFill/>
          <a:ln/>
        </p:spPr>
        <p:txBody>
          <a:bodyPr wrap="square" lIns="0" tIns="0" rIns="0" bIns="0" rtlCol="0" anchor="ctr"/>
          <a:lstStyle/>
          <a:p>
            <a:pPr indent="0" marL="0">
              <a:buNone/>
            </a:pPr>
            <a:r>
              <a:rPr lang="en-US" sz="1600" b="1" dirty="0">
                <a:solidFill>
                  <a:srgbClr val="C0542A"/>
                </a:solidFill>
                <a:latin typeface="Cambria" pitchFamily="34" charset="0"/>
                <a:ea typeface="Cambria" pitchFamily="34" charset="-122"/>
                <a:cs typeface="Cambria" pitchFamily="34" charset="-120"/>
              </a:rPr>
              <a:t>7 min</a:t>
            </a:r>
            <a:endParaRPr lang="en-US" sz="1600" dirty="0"/>
          </a:p>
        </p:txBody>
      </p:sp>
      <p:sp>
        <p:nvSpPr>
          <p:cNvPr id="14" name="Text 12"/>
          <p:cNvSpPr txBox="1"/>
          <p:nvPr/>
        </p:nvSpPr>
        <p:spPr>
          <a:xfrm>
            <a:off x="1847088" y="2542032"/>
            <a:ext cx="9457639"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Premier clip de cinq secondes</a:t>
            </a:r>
            <a:endParaRPr lang="en-US" sz="1500" dirty="0"/>
          </a:p>
        </p:txBody>
      </p:sp>
      <p:sp>
        <p:nvSpPr>
          <p:cNvPr id="15" name="Text 13"/>
          <p:cNvSpPr txBox="1"/>
          <p:nvPr/>
        </p:nvSpPr>
        <p:spPr>
          <a:xfrm>
            <a:off x="1847088" y="2834640"/>
            <a:ext cx="9457639" cy="402336"/>
          </a:xfrm>
          <a:prstGeom prst="rect">
            <a:avLst/>
          </a:prstGeom>
          <a:noFill/>
          <a:ln/>
        </p:spPr>
        <p:txBody>
          <a:bodyPr wrap="square" lIns="0" tIns="0" rIns="0" bIns="0" rtlCol="0" anchor="ctr"/>
          <a:lstStyle/>
          <a:p>
            <a:pPr indent="0" marL="0">
              <a:buNone/>
            </a:pPr>
            <a:r>
              <a:rPr lang="en-US" sz="1150" dirty="0">
                <a:solidFill>
                  <a:srgbClr val="8A4A34"/>
                </a:solidFill>
                <a:latin typeface="Calibri" pitchFamily="34" charset="0"/>
                <a:ea typeface="Calibri" pitchFamily="34" charset="-122"/>
                <a:cs typeface="Calibri" pitchFamily="34" charset="-120"/>
              </a:rPr>
              <a:t>On génère, on regarde ensemble, on identifie ce qui a cassé et dans quel piège ça tombe.</a:t>
            </a:r>
            <a:endParaRPr lang="en-US" sz="1150" dirty="0"/>
          </a:p>
        </p:txBody>
      </p:sp>
      <p:sp>
        <p:nvSpPr>
          <p:cNvPr id="16" name="Shape 14"/>
          <p:cNvSpPr/>
          <p:nvPr/>
        </p:nvSpPr>
        <p:spPr>
          <a:xfrm>
            <a:off x="566928" y="3401568"/>
            <a:ext cx="11057839" cy="932688"/>
          </a:xfrm>
          <a:prstGeom prst="roundRect">
            <a:avLst>
              <a:gd name="adj" fmla="val 7843"/>
            </a:avLst>
          </a:prstGeom>
          <a:solidFill>
            <a:srgbClr val="EFF1F2"/>
          </a:solidFill>
          <a:ln/>
        </p:spPr>
      </p:sp>
      <p:sp>
        <p:nvSpPr>
          <p:cNvPr id="17" name="Text 15"/>
          <p:cNvSpPr txBox="1"/>
          <p:nvPr/>
        </p:nvSpPr>
        <p:spPr>
          <a:xfrm>
            <a:off x="822960" y="3657600"/>
            <a:ext cx="868680" cy="402336"/>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7 min</a:t>
            </a:r>
            <a:endParaRPr lang="en-US" sz="1600" dirty="0"/>
          </a:p>
        </p:txBody>
      </p:sp>
      <p:sp>
        <p:nvSpPr>
          <p:cNvPr id="18" name="Text 16"/>
          <p:cNvSpPr txBox="1"/>
          <p:nvPr/>
        </p:nvSpPr>
        <p:spPr>
          <a:xfrm>
            <a:off x="1847088" y="3547872"/>
            <a:ext cx="9457639"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Deuxième version corrigée</a:t>
            </a:r>
            <a:endParaRPr lang="en-US" sz="1500" dirty="0"/>
          </a:p>
        </p:txBody>
      </p:sp>
      <p:sp>
        <p:nvSpPr>
          <p:cNvPr id="19" name="Text 17"/>
          <p:cNvSpPr txBox="1"/>
          <p:nvPr/>
        </p:nvSpPr>
        <p:spPr>
          <a:xfrm>
            <a:off x="1847088" y="3840480"/>
            <a:ext cx="9457639" cy="402336"/>
          </a:xfrm>
          <a:prstGeom prst="rect">
            <a:avLst/>
          </a:prstGeom>
          <a:noFill/>
          <a:ln/>
        </p:spPr>
        <p:txBody>
          <a:bodyPr wrap="square" lIns="0" tIns="0" rIns="0" bIns="0" rtlCol="0" anchor="ctr"/>
          <a:lstStyle/>
          <a:p>
            <a:pPr indent="0" marL="0">
              <a:buNone/>
            </a:pPr>
            <a:r>
              <a:rPr lang="en-US" sz="1150" dirty="0">
                <a:solidFill>
                  <a:srgbClr val="44555E"/>
                </a:solidFill>
                <a:latin typeface="Calibri" pitchFamily="34" charset="0"/>
                <a:ea typeface="Calibri" pitchFamily="34" charset="-122"/>
                <a:cs typeface="Calibri" pitchFamily="34" charset="-120"/>
              </a:rPr>
              <a:t>Une seule correction par rapport à la première. Même logique que l'itération sur l'image.</a:t>
            </a:r>
            <a:endParaRPr lang="en-US" sz="1150" dirty="0"/>
          </a:p>
        </p:txBody>
      </p:sp>
      <p:sp>
        <p:nvSpPr>
          <p:cNvPr id="20" name="Shape 18"/>
          <p:cNvSpPr/>
          <p:nvPr/>
        </p:nvSpPr>
        <p:spPr>
          <a:xfrm>
            <a:off x="566928" y="4407408"/>
            <a:ext cx="11057839" cy="932688"/>
          </a:xfrm>
          <a:prstGeom prst="roundRect">
            <a:avLst>
              <a:gd name="adj" fmla="val 7843"/>
            </a:avLst>
          </a:prstGeom>
          <a:solidFill>
            <a:srgbClr val="EFF1F2"/>
          </a:solidFill>
          <a:ln/>
        </p:spPr>
      </p:sp>
      <p:sp>
        <p:nvSpPr>
          <p:cNvPr id="21" name="Text 19"/>
          <p:cNvSpPr txBox="1"/>
          <p:nvPr/>
        </p:nvSpPr>
        <p:spPr>
          <a:xfrm>
            <a:off x="822960" y="4663440"/>
            <a:ext cx="868680" cy="402336"/>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3 min</a:t>
            </a:r>
            <a:endParaRPr lang="en-US" sz="1600" dirty="0"/>
          </a:p>
        </p:txBody>
      </p:sp>
      <p:sp>
        <p:nvSpPr>
          <p:cNvPr id="22" name="Text 20"/>
          <p:cNvSpPr txBox="1"/>
          <p:nvPr/>
        </p:nvSpPr>
        <p:spPr>
          <a:xfrm>
            <a:off x="1847088" y="4553712"/>
            <a:ext cx="9457639"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Où ça sert, où ça ne sert pas</a:t>
            </a:r>
            <a:endParaRPr lang="en-US" sz="1500" dirty="0"/>
          </a:p>
        </p:txBody>
      </p:sp>
      <p:sp>
        <p:nvSpPr>
          <p:cNvPr id="23" name="Text 21"/>
          <p:cNvSpPr txBox="1"/>
          <p:nvPr/>
        </p:nvSpPr>
        <p:spPr>
          <a:xfrm>
            <a:off x="1847088" y="4846320"/>
            <a:ext cx="9457639" cy="402336"/>
          </a:xfrm>
          <a:prstGeom prst="rect">
            <a:avLst/>
          </a:prstGeom>
          <a:noFill/>
          <a:ln/>
        </p:spPr>
        <p:txBody>
          <a:bodyPr wrap="square" lIns="0" tIns="0" rIns="0" bIns="0" rtlCol="0" anchor="ctr"/>
          <a:lstStyle/>
          <a:p>
            <a:pPr indent="0" marL="0">
              <a:buNone/>
            </a:pPr>
            <a:r>
              <a:rPr lang="en-US" sz="1150" dirty="0">
                <a:solidFill>
                  <a:srgbClr val="44555E"/>
                </a:solidFill>
                <a:latin typeface="Calibri" pitchFamily="34" charset="0"/>
                <a:ea typeface="Calibri" pitchFamily="34" charset="-122"/>
                <a:cs typeface="Calibri" pitchFamily="34" charset="-120"/>
              </a:rPr>
              <a:t>Page projet et publication : oui. Présentation MOA : avec la mention d'intention. Dossier de concours : non.</a:t>
            </a:r>
            <a:endParaRPr lang="en-US" sz="1150" dirty="0"/>
          </a:p>
        </p:txBody>
      </p:sp>
      <p:sp>
        <p:nvSpPr>
          <p:cNvPr id="24" name="Shape 22"/>
          <p:cNvSpPr/>
          <p:nvPr/>
        </p:nvSpPr>
        <p:spPr>
          <a:xfrm>
            <a:off x="566928" y="5431536"/>
            <a:ext cx="11057839" cy="0"/>
          </a:xfrm>
          <a:prstGeom prst="roundRect">
            <a:avLst>
              <a:gd name="adj" fmla="val Infinity"/>
            </a:avLst>
          </a:prstGeom>
          <a:solidFill>
            <a:srgbClr val="E3E7E9"/>
          </a:solidFill>
          <a:ln/>
        </p:spPr>
      </p:sp>
      <p:sp>
        <p:nvSpPr>
          <p:cNvPr id="25" name="Shape 23"/>
          <p:cNvSpPr/>
          <p:nvPr/>
        </p:nvSpPr>
        <p:spPr>
          <a:xfrm>
            <a:off x="566928" y="5632704"/>
            <a:ext cx="11057839" cy="603504"/>
          </a:xfrm>
          <a:prstGeom prst="roundRect">
            <a:avLst>
              <a:gd name="adj" fmla="val 12121"/>
            </a:avLst>
          </a:prstGeom>
          <a:solidFill>
            <a:srgbClr val="F6E7E0"/>
          </a:solidFill>
          <a:ln/>
        </p:spPr>
      </p:sp>
      <p:sp>
        <p:nvSpPr>
          <p:cNvPr id="26" name="Shape 24"/>
          <p:cNvSpPr/>
          <p:nvPr/>
        </p:nvSpPr>
        <p:spPr>
          <a:xfrm>
            <a:off x="786384" y="5788152"/>
            <a:ext cx="603504" cy="292608"/>
          </a:xfrm>
          <a:prstGeom prst="roundRect">
            <a:avLst>
              <a:gd name="adj" fmla="val 21875"/>
            </a:avLst>
          </a:prstGeom>
          <a:solidFill>
            <a:srgbClr val="C0542A"/>
          </a:solidFill>
          <a:ln/>
        </p:spPr>
      </p:sp>
      <p:sp>
        <p:nvSpPr>
          <p:cNvPr id="27" name="Text 25"/>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8" name="Text 26"/>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Lancez votre propre génération en même temps que les leurs : ça vous donne un troisième exemple à commenter et ça masque l'attente. Le silence pendant une génération est plus long qu'il n'y paraît.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9418320" y="320040"/>
            <a:ext cx="2377440" cy="2377440"/>
          </a:xfrm>
          <a:prstGeom prst="rect">
            <a:avLst/>
          </a:prstGeom>
          <a:noFill/>
          <a:ln/>
        </p:spPr>
        <p:txBody>
          <a:bodyPr wrap="square" lIns="0" tIns="0" rIns="0" bIns="0" rtlCol="0" anchor="ctr"/>
          <a:lstStyle/>
          <a:p>
            <a:pPr algn="ctr" indent="0" marL="0">
              <a:buNone/>
            </a:pPr>
            <a:r>
              <a:rPr lang="en-US" sz="15000" b="1" dirty="0">
                <a:solidFill>
                  <a:srgbClr val="1F252A"/>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566928" y="713232"/>
            <a:ext cx="8595360" cy="292608"/>
          </a:xfrm>
          <a:prstGeom prst="rect">
            <a:avLst/>
          </a:prstGeom>
          <a:noFill/>
          <a:ln/>
        </p:spPr>
        <p:txBody>
          <a:bodyPr wrap="square" lIns="0" tIns="0" rIns="0" bIns="0" rtlCol="0" anchor="ctr"/>
          <a:lstStyle/>
          <a:p>
            <a:pPr indent="0" marL="0">
              <a:buNone/>
            </a:pPr>
            <a:r>
              <a:rPr lang="en-US" sz="1200" b="1" spc="180" kern="0" dirty="0">
                <a:solidFill>
                  <a:srgbClr val="C0542A"/>
                </a:solidFill>
                <a:latin typeface="Calibri" pitchFamily="34" charset="0"/>
                <a:ea typeface="Calibri" pitchFamily="34" charset="-122"/>
                <a:cs typeface="Calibri" pitchFamily="34" charset="-120"/>
              </a:rPr>
              <a:t>02:15 → 02:50  ·  35 MINUTES</a:t>
            </a:r>
            <a:endParaRPr lang="en-US" sz="1200" dirty="0"/>
          </a:p>
        </p:txBody>
      </p:sp>
      <p:sp>
        <p:nvSpPr>
          <p:cNvPr id="4" name="Text 2"/>
          <p:cNvSpPr txBox="1"/>
          <p:nvPr/>
        </p:nvSpPr>
        <p:spPr>
          <a:xfrm>
            <a:off x="566928" y="1060704"/>
            <a:ext cx="8778240" cy="8686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Créer son agent</a:t>
            </a:r>
            <a:endParaRPr lang="en-US" sz="4000" dirty="0"/>
          </a:p>
        </p:txBody>
      </p:sp>
      <p:sp>
        <p:nvSpPr>
          <p:cNvPr id="5" name="Text 3"/>
          <p:cNvSpPr txBox="1"/>
          <p:nvPr/>
        </p:nvSpPr>
        <p:spPr>
          <a:xfrm>
            <a:off x="566928" y="1956816"/>
            <a:ext cx="9692640" cy="384048"/>
          </a:xfrm>
          <a:prstGeom prst="rect">
            <a:avLst/>
          </a:prstGeom>
          <a:noFill/>
          <a:ln/>
        </p:spPr>
        <p:txBody>
          <a:bodyPr wrap="square" lIns="0" tIns="0" rIns="0" bIns="0" rtlCol="0" anchor="ctr"/>
          <a:lstStyle/>
          <a:p>
            <a:pPr indent="0" marL="0">
              <a:buNone/>
            </a:pPr>
            <a:r>
              <a:rPr lang="en-US" sz="1350" i="1" dirty="0">
                <a:solidFill>
                  <a:srgbClr val="9AA6AC"/>
                </a:solidFill>
                <a:latin typeface="Calibri" pitchFamily="34" charset="0"/>
                <a:ea typeface="Calibri" pitchFamily="34" charset="-122"/>
                <a:cs typeface="Calibri" pitchFamily="34" charset="-120"/>
              </a:rPr>
              <a:t>Le vrai basculement : un assistant à qui vous transmettez votre méthode, et qui l'applique sans qu'on réexplique.</a:t>
            </a:r>
            <a:endParaRPr lang="en-US" sz="135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9AA6AC"/>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9AA6AC"/>
                </a:solidFill>
                <a:latin typeface="Calibri" pitchFamily="34" charset="0"/>
                <a:ea typeface="Calibri" pitchFamily="34" charset="-122"/>
                <a:cs typeface="Calibri" pitchFamily="34" charset="-120"/>
              </a:rPr>
              <a:t>22</a:t>
            </a:r>
            <a:endParaRPr lang="en-US" sz="900" dirty="0"/>
          </a:p>
        </p:txBody>
      </p:sp>
      <p:sp>
        <p:nvSpPr>
          <p:cNvPr id="8" name="Shape 6"/>
          <p:cNvSpPr/>
          <p:nvPr/>
        </p:nvSpPr>
        <p:spPr>
          <a:xfrm>
            <a:off x="566928" y="3310128"/>
            <a:ext cx="2593010" cy="1444752"/>
          </a:xfrm>
          <a:prstGeom prst="roundRect">
            <a:avLst>
              <a:gd name="adj" fmla="val 5063"/>
            </a:avLst>
          </a:prstGeom>
          <a:solidFill>
            <a:srgbClr val="23292E"/>
          </a:solidFill>
          <a:ln/>
        </p:spPr>
      </p:sp>
      <p:sp>
        <p:nvSpPr>
          <p:cNvPr id="9" name="Text 7"/>
          <p:cNvSpPr txBox="1"/>
          <p:nvPr/>
        </p:nvSpPr>
        <p:spPr>
          <a:xfrm>
            <a:off x="786384"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5 min</a:t>
            </a:r>
            <a:endParaRPr lang="en-US" sz="1800" dirty="0"/>
          </a:p>
        </p:txBody>
      </p:sp>
      <p:sp>
        <p:nvSpPr>
          <p:cNvPr id="10" name="Text 8"/>
          <p:cNvSpPr txBox="1"/>
          <p:nvPr/>
        </p:nvSpPr>
        <p:spPr>
          <a:xfrm>
            <a:off x="786384"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De la conversation jetable à l'assistant qui vous connaît</a:t>
            </a:r>
            <a:endParaRPr lang="en-US" sz="1150" dirty="0"/>
          </a:p>
        </p:txBody>
      </p:sp>
      <p:sp>
        <p:nvSpPr>
          <p:cNvPr id="11" name="Shape 9"/>
          <p:cNvSpPr/>
          <p:nvPr/>
        </p:nvSpPr>
        <p:spPr>
          <a:xfrm>
            <a:off x="3388538" y="3310128"/>
            <a:ext cx="2593010" cy="1444752"/>
          </a:xfrm>
          <a:prstGeom prst="roundRect">
            <a:avLst>
              <a:gd name="adj" fmla="val 5063"/>
            </a:avLst>
          </a:prstGeom>
          <a:solidFill>
            <a:srgbClr val="23292E"/>
          </a:solidFill>
          <a:ln/>
        </p:spPr>
      </p:sp>
      <p:sp>
        <p:nvSpPr>
          <p:cNvPr id="12" name="Text 10"/>
          <p:cNvSpPr txBox="1"/>
          <p:nvPr/>
        </p:nvSpPr>
        <p:spPr>
          <a:xfrm>
            <a:off x="3607994"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5 min</a:t>
            </a:r>
            <a:endParaRPr lang="en-US" sz="1800" dirty="0"/>
          </a:p>
        </p:txBody>
      </p:sp>
      <p:sp>
        <p:nvSpPr>
          <p:cNvPr id="13" name="Text 11"/>
          <p:cNvSpPr txBox="1"/>
          <p:nvPr/>
        </p:nvSpPr>
        <p:spPr>
          <a:xfrm>
            <a:off x="3607994"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ChatGPT ou Claude — lequel pour quel usage</a:t>
            </a:r>
            <a:endParaRPr lang="en-US" sz="1150" dirty="0"/>
          </a:p>
        </p:txBody>
      </p:sp>
      <p:sp>
        <p:nvSpPr>
          <p:cNvPr id="14" name="Shape 12"/>
          <p:cNvSpPr/>
          <p:nvPr/>
        </p:nvSpPr>
        <p:spPr>
          <a:xfrm>
            <a:off x="6210148" y="3310128"/>
            <a:ext cx="2593010" cy="1444752"/>
          </a:xfrm>
          <a:prstGeom prst="roundRect">
            <a:avLst>
              <a:gd name="adj" fmla="val 5063"/>
            </a:avLst>
          </a:prstGeom>
          <a:solidFill>
            <a:srgbClr val="23292E"/>
          </a:solidFill>
          <a:ln/>
        </p:spPr>
      </p:sp>
      <p:sp>
        <p:nvSpPr>
          <p:cNvPr id="15" name="Text 13"/>
          <p:cNvSpPr txBox="1"/>
          <p:nvPr/>
        </p:nvSpPr>
        <p:spPr>
          <a:xfrm>
            <a:off x="6429604"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5 min</a:t>
            </a:r>
            <a:endParaRPr lang="en-US" sz="1800" dirty="0"/>
          </a:p>
        </p:txBody>
      </p:sp>
      <p:sp>
        <p:nvSpPr>
          <p:cNvPr id="16" name="Text 14"/>
          <p:cNvSpPr txBox="1"/>
          <p:nvPr/>
        </p:nvSpPr>
        <p:spPr>
          <a:xfrm>
            <a:off x="6429604"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L'anatomie d'un agent d'agence en cinq blocs</a:t>
            </a:r>
            <a:endParaRPr lang="en-US" sz="1150" dirty="0"/>
          </a:p>
        </p:txBody>
      </p:sp>
      <p:sp>
        <p:nvSpPr>
          <p:cNvPr id="17" name="Shape 15"/>
          <p:cNvSpPr/>
          <p:nvPr/>
        </p:nvSpPr>
        <p:spPr>
          <a:xfrm>
            <a:off x="9031757" y="3310128"/>
            <a:ext cx="2593010" cy="1444752"/>
          </a:xfrm>
          <a:prstGeom prst="roundRect">
            <a:avLst>
              <a:gd name="adj" fmla="val 5063"/>
            </a:avLst>
          </a:prstGeom>
          <a:solidFill>
            <a:srgbClr val="23292E"/>
          </a:solidFill>
          <a:ln/>
        </p:spPr>
      </p:sp>
      <p:sp>
        <p:nvSpPr>
          <p:cNvPr id="18" name="Text 16"/>
          <p:cNvSpPr txBox="1"/>
          <p:nvPr/>
        </p:nvSpPr>
        <p:spPr>
          <a:xfrm>
            <a:off x="9251213" y="3511296"/>
            <a:ext cx="2154098" cy="329184"/>
          </a:xfrm>
          <a:prstGeom prst="rect">
            <a:avLst/>
          </a:prstGeom>
          <a:noFill/>
          <a:ln/>
        </p:spPr>
        <p:txBody>
          <a:bodyPr wrap="square" lIns="0" tIns="0" rIns="0" bIns="0" rtlCol="0" anchor="ctr"/>
          <a:lstStyle/>
          <a:p>
            <a:pPr indent="0" marL="0">
              <a:buNone/>
            </a:pPr>
            <a:r>
              <a:rPr lang="en-US" sz="1800" b="1" dirty="0">
                <a:solidFill>
                  <a:srgbClr val="C0542A"/>
                </a:solidFill>
                <a:latin typeface="Cambria" pitchFamily="34" charset="0"/>
                <a:ea typeface="Cambria" pitchFamily="34" charset="-122"/>
                <a:cs typeface="Cambria" pitchFamily="34" charset="-120"/>
              </a:rPr>
              <a:t>20 min</a:t>
            </a:r>
            <a:endParaRPr lang="en-US" sz="1800" dirty="0"/>
          </a:p>
        </p:txBody>
      </p:sp>
      <p:sp>
        <p:nvSpPr>
          <p:cNvPr id="19" name="Text 17"/>
          <p:cNvSpPr txBox="1"/>
          <p:nvPr/>
        </p:nvSpPr>
        <p:spPr>
          <a:xfrm>
            <a:off x="9251213" y="3895344"/>
            <a:ext cx="2154098" cy="786384"/>
          </a:xfrm>
          <a:prstGeom prst="rect">
            <a:avLst/>
          </a:prstGeom>
          <a:noFill/>
          <a:ln/>
        </p:spPr>
        <p:txBody>
          <a:bodyPr wrap="square" lIns="0" tIns="0" rIns="0" bIns="0" rtlCol="0" anchor="t"/>
          <a:lstStyle/>
          <a:p>
            <a:pPr indent="0" marL="0">
              <a:lnSpc>
                <a:spcPct val="112000"/>
              </a:lnSpc>
              <a:buNone/>
            </a:pPr>
            <a:r>
              <a:rPr lang="en-US" sz="1150" dirty="0">
                <a:solidFill>
                  <a:srgbClr val="9AA6AC"/>
                </a:solidFill>
                <a:latin typeface="Calibri" pitchFamily="34" charset="0"/>
                <a:ea typeface="Calibri" pitchFamily="34" charset="-122"/>
                <a:cs typeface="Calibri" pitchFamily="34" charset="-120"/>
              </a:rPr>
              <a:t>Construction en direct, avec leurs documents réels</a:t>
            </a:r>
            <a:endParaRPr lang="en-US" sz="1150" dirty="0"/>
          </a:p>
        </p:txBody>
      </p:sp>
      <p:sp>
        <p:nvSpPr>
          <p:cNvPr id="20" name="Shape 18"/>
          <p:cNvSpPr/>
          <p:nvPr/>
        </p:nvSpPr>
        <p:spPr>
          <a:xfrm>
            <a:off x="566928" y="5632704"/>
            <a:ext cx="11057839" cy="603504"/>
          </a:xfrm>
          <a:prstGeom prst="roundRect">
            <a:avLst>
              <a:gd name="adj" fmla="val 12121"/>
            </a:avLst>
          </a:prstGeom>
          <a:solidFill>
            <a:srgbClr val="23292E"/>
          </a:solidFill>
          <a:ln/>
        </p:spPr>
      </p:sp>
      <p:sp>
        <p:nvSpPr>
          <p:cNvPr id="21" name="Shape 19"/>
          <p:cNvSpPr/>
          <p:nvPr/>
        </p:nvSpPr>
        <p:spPr>
          <a:xfrm>
            <a:off x="786384" y="5788152"/>
            <a:ext cx="603504" cy="292608"/>
          </a:xfrm>
          <a:prstGeom prst="roundRect">
            <a:avLst>
              <a:gd name="adj" fmla="val 21875"/>
            </a:avLst>
          </a:prstGeom>
          <a:solidFill>
            <a:srgbClr val="C0542A"/>
          </a:solidFill>
          <a:ln/>
        </p:spPr>
      </p:sp>
      <p:sp>
        <p:nvSpPr>
          <p:cNvPr id="22" name="Text 20"/>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3" name="Text 21"/>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C8D0D4"/>
                </a:solidFill>
                <a:latin typeface="Calibri" pitchFamily="34" charset="0"/>
                <a:ea typeface="Calibri" pitchFamily="34" charset="-122"/>
                <a:cs typeface="Calibri" pitchFamily="34" charset="-120"/>
              </a:rPr>
              <a:t>Sortie attendue, au sens strict : leur agent tourne avant qu'ils quittent la salle. La construction commence à 02:30 au plus tard — ne passez pas tout le temps à expliquer.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02:15</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LE BASCULEMENT</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Arrêter de tout réexpliquer à chaque fois</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23</a:t>
            </a:r>
            <a:endParaRPr lang="en-US" sz="900" dirty="0"/>
          </a:p>
        </p:txBody>
      </p:sp>
      <p:sp>
        <p:nvSpPr>
          <p:cNvPr id="8" name="Shape 6"/>
          <p:cNvSpPr/>
          <p:nvPr/>
        </p:nvSpPr>
        <p:spPr>
          <a:xfrm>
            <a:off x="566928" y="1389888"/>
            <a:ext cx="11057839" cy="713232"/>
          </a:xfrm>
          <a:prstGeom prst="roundRect">
            <a:avLst>
              <a:gd name="adj" fmla="val 10256"/>
            </a:avLst>
          </a:prstGeom>
          <a:solidFill>
            <a:srgbClr val="14171A"/>
          </a:solidFill>
          <a:ln/>
        </p:spPr>
      </p:sp>
      <p:sp>
        <p:nvSpPr>
          <p:cNvPr id="9" name="Text 7"/>
          <p:cNvSpPr txBox="1"/>
          <p:nvPr/>
        </p:nvSpPr>
        <p:spPr>
          <a:xfrm>
            <a:off x="841248" y="1389888"/>
            <a:ext cx="10509199" cy="713232"/>
          </a:xfrm>
          <a:prstGeom prst="rect">
            <a:avLst/>
          </a:prstGeom>
          <a:noFill/>
          <a:ln/>
        </p:spPr>
        <p:txBody>
          <a:bodyPr wrap="square" lIns="0" tIns="0" rIns="0" bIns="0" rtlCol="0" anchor="ctr"/>
          <a:lstStyle/>
          <a:p>
            <a:pPr indent="0" marL="0">
              <a:buNone/>
            </a:pPr>
            <a:r>
              <a:rPr lang="en-US" sz="1250" dirty="0">
                <a:solidFill>
                  <a:srgbClr val="D8DEE1"/>
                </a:solidFill>
                <a:latin typeface="Calibri" pitchFamily="34" charset="0"/>
                <a:ea typeface="Calibri" pitchFamily="34" charset="-122"/>
                <a:cs typeface="Calibri" pitchFamily="34" charset="-120"/>
              </a:rPr>
              <a:t>À chaque nouvelle conversation, vous réexpliquez qui vous êtes et comment l'agence écrit : vingt minutes de contexte pour dix minutes de travail. Un agent garde tout ça en permanence — ce n'est plus un outil qu'on utilise, c'est un collaborateur qu'on a formé.</a:t>
            </a:r>
            <a:endParaRPr lang="en-US" sz="1250" dirty="0"/>
          </a:p>
        </p:txBody>
      </p:sp>
      <p:sp>
        <p:nvSpPr>
          <p:cNvPr id="10" name="Shape 8"/>
          <p:cNvSpPr/>
          <p:nvPr/>
        </p:nvSpPr>
        <p:spPr>
          <a:xfrm>
            <a:off x="566928" y="2231136"/>
            <a:ext cx="5346040" cy="2578608"/>
          </a:xfrm>
          <a:prstGeom prst="roundRect">
            <a:avLst>
              <a:gd name="adj" fmla="val 2837"/>
            </a:avLst>
          </a:prstGeom>
          <a:solidFill>
            <a:srgbClr val="EFF1F2"/>
          </a:solidFill>
          <a:ln/>
        </p:spPr>
      </p:sp>
      <p:sp>
        <p:nvSpPr>
          <p:cNvPr id="11" name="Text 9"/>
          <p:cNvSpPr txBox="1"/>
          <p:nvPr/>
        </p:nvSpPr>
        <p:spPr>
          <a:xfrm>
            <a:off x="841248" y="2377440"/>
            <a:ext cx="4797400" cy="384048"/>
          </a:xfrm>
          <a:prstGeom prst="rect">
            <a:avLst/>
          </a:prstGeom>
          <a:noFill/>
          <a:ln/>
        </p:spPr>
        <p:txBody>
          <a:bodyPr wrap="square" lIns="0" tIns="0" rIns="0" bIns="0" rtlCol="0" anchor="ctr"/>
          <a:lstStyle/>
          <a:p>
            <a:pPr indent="0" marL="0">
              <a:buNone/>
            </a:pPr>
            <a:r>
              <a:rPr lang="en-US" sz="2300" b="1" dirty="0">
                <a:solidFill>
                  <a:srgbClr val="14171A"/>
                </a:solidFill>
                <a:latin typeface="Cambria" pitchFamily="34" charset="0"/>
                <a:ea typeface="Cambria" pitchFamily="34" charset="-122"/>
                <a:cs typeface="Cambria" pitchFamily="34" charset="-120"/>
              </a:rPr>
              <a:t>ChatGPT</a:t>
            </a:r>
            <a:endParaRPr lang="en-US" sz="2300" dirty="0"/>
          </a:p>
        </p:txBody>
      </p:sp>
      <p:sp>
        <p:nvSpPr>
          <p:cNvPr id="12" name="Text 10"/>
          <p:cNvSpPr txBox="1"/>
          <p:nvPr/>
        </p:nvSpPr>
        <p:spPr>
          <a:xfrm>
            <a:off x="841248" y="2761488"/>
            <a:ext cx="4797400" cy="237744"/>
          </a:xfrm>
          <a:prstGeom prst="rect">
            <a:avLst/>
          </a:prstGeom>
          <a:noFill/>
          <a:ln/>
        </p:spPr>
        <p:txBody>
          <a:bodyPr wrap="square" lIns="0" tIns="0" rIns="0" bIns="0" rtlCol="0" anchor="ctr"/>
          <a:lstStyle/>
          <a:p>
            <a:pPr indent="0" marL="0">
              <a:buNone/>
            </a:pPr>
            <a:r>
              <a:rPr lang="en-US" sz="1050" dirty="0">
                <a:solidFill>
                  <a:srgbClr val="78868D"/>
                </a:solidFill>
                <a:latin typeface="Calibri" pitchFamily="34" charset="0"/>
                <a:ea typeface="Calibri" pitchFamily="34" charset="-122"/>
                <a:cs typeface="Calibri" pitchFamily="34" charset="-120"/>
              </a:rPr>
              <a:t>Projets et GPT personnalisés</a:t>
            </a:r>
            <a:endParaRPr lang="en-US" sz="1050" dirty="0"/>
          </a:p>
        </p:txBody>
      </p:sp>
      <p:sp>
        <p:nvSpPr>
          <p:cNvPr id="13" name="Text 11"/>
          <p:cNvSpPr txBox="1"/>
          <p:nvPr/>
        </p:nvSpPr>
        <p:spPr>
          <a:xfrm>
            <a:off x="841248" y="3090672"/>
            <a:ext cx="4797400" cy="201168"/>
          </a:xfrm>
          <a:prstGeom prst="rect">
            <a:avLst/>
          </a:prstGeom>
          <a:noFill/>
          <a:ln/>
        </p:spPr>
        <p:txBody>
          <a:bodyPr wrap="square" lIns="0" tIns="0" rIns="0" bIns="0" rtlCol="0" anchor="ctr"/>
          <a:lstStyle/>
          <a:p>
            <a:pPr indent="0" marL="0">
              <a:buNone/>
            </a:pPr>
            <a:r>
              <a:rPr lang="en-US" sz="900" b="1" spc="80" kern="0" dirty="0">
                <a:solidFill>
                  <a:srgbClr val="44555E"/>
                </a:solidFill>
                <a:latin typeface="Calibri" pitchFamily="34" charset="0"/>
                <a:ea typeface="Calibri" pitchFamily="34" charset="-122"/>
                <a:cs typeface="Calibri" pitchFamily="34" charset="-120"/>
              </a:rPr>
              <a:t>FORT EN</a:t>
            </a:r>
            <a:endParaRPr lang="en-US" sz="900" dirty="0"/>
          </a:p>
        </p:txBody>
      </p:sp>
      <p:sp>
        <p:nvSpPr>
          <p:cNvPr id="14" name="Text 12"/>
          <p:cNvSpPr txBox="1"/>
          <p:nvPr/>
        </p:nvSpPr>
        <p:spPr>
          <a:xfrm>
            <a:off x="841248" y="3300984"/>
            <a:ext cx="4797400" cy="256032"/>
          </a:xfrm>
          <a:prstGeom prst="rect">
            <a:avLst/>
          </a:prstGeom>
          <a:noFill/>
          <a:ln/>
        </p:spPr>
        <p:txBody>
          <a:bodyPr wrap="square" lIns="0" tIns="0" rIns="0" bIns="0" rtlCol="0" anchor="ctr"/>
          <a:lstStyle/>
          <a:p>
            <a:pPr indent="0" marL="0">
              <a:buNone/>
            </a:pPr>
            <a:r>
              <a:rPr lang="en-US" sz="1150" dirty="0">
                <a:solidFill>
                  <a:srgbClr val="44555E"/>
                </a:solidFill>
                <a:latin typeface="Calibri" pitchFamily="34" charset="0"/>
                <a:ea typeface="Calibri" pitchFamily="34" charset="-122"/>
                <a:cs typeface="Calibri" pitchFamily="34" charset="-120"/>
              </a:rPr>
              <a:t>Image, multimodal, tout au même endroit. Il génère aussi les visuels.</a:t>
            </a:r>
            <a:endParaRPr lang="en-US" sz="1150" dirty="0"/>
          </a:p>
        </p:txBody>
      </p:sp>
      <p:sp>
        <p:nvSpPr>
          <p:cNvPr id="15" name="Text 13"/>
          <p:cNvSpPr txBox="1"/>
          <p:nvPr/>
        </p:nvSpPr>
        <p:spPr>
          <a:xfrm>
            <a:off x="841248" y="3639312"/>
            <a:ext cx="4797400" cy="201168"/>
          </a:xfrm>
          <a:prstGeom prst="rect">
            <a:avLst/>
          </a:prstGeom>
          <a:noFill/>
          <a:ln/>
        </p:spPr>
        <p:txBody>
          <a:bodyPr wrap="square" lIns="0" tIns="0" rIns="0" bIns="0" rtlCol="0" anchor="ctr"/>
          <a:lstStyle/>
          <a:p>
            <a:pPr indent="0" marL="0">
              <a:buNone/>
            </a:pPr>
            <a:r>
              <a:rPr lang="en-US" sz="900" b="1" spc="80" kern="0" dirty="0">
                <a:solidFill>
                  <a:srgbClr val="44555E"/>
                </a:solidFill>
                <a:latin typeface="Calibri" pitchFamily="34" charset="0"/>
                <a:ea typeface="Calibri" pitchFamily="34" charset="-122"/>
                <a:cs typeface="Calibri" pitchFamily="34" charset="-120"/>
              </a:rPr>
              <a:t>L'AGENT QU'IL PORTE</a:t>
            </a:r>
            <a:endParaRPr lang="en-US" sz="900" dirty="0"/>
          </a:p>
        </p:txBody>
      </p:sp>
      <p:sp>
        <p:nvSpPr>
          <p:cNvPr id="16" name="Text 14"/>
          <p:cNvSpPr txBox="1"/>
          <p:nvPr/>
        </p:nvSpPr>
        <p:spPr>
          <a:xfrm>
            <a:off x="841248" y="3849624"/>
            <a:ext cx="4797400" cy="256032"/>
          </a:xfrm>
          <a:prstGeom prst="rect">
            <a:avLst/>
          </a:prstGeom>
          <a:noFill/>
          <a:ln/>
        </p:spPr>
        <p:txBody>
          <a:bodyPr wrap="square" lIns="0" tIns="0" rIns="0" bIns="0" rtlCol="0" anchor="ctr"/>
          <a:lstStyle/>
          <a:p>
            <a:pPr indent="0" marL="0">
              <a:buNone/>
            </a:pPr>
            <a:r>
              <a:rPr lang="en-US" sz="1150" dirty="0">
                <a:solidFill>
                  <a:srgbClr val="44555E"/>
                </a:solidFill>
                <a:latin typeface="Calibri" pitchFamily="34" charset="0"/>
                <a:ea typeface="Calibri" pitchFamily="34" charset="-122"/>
                <a:cs typeface="Calibri" pitchFamily="34" charset="-120"/>
              </a:rPr>
              <a:t>L'agent RENDU — votre grammaire d'images et vos prompts types.</a:t>
            </a:r>
            <a:endParaRPr lang="en-US" sz="1150" dirty="0"/>
          </a:p>
        </p:txBody>
      </p:sp>
      <p:sp>
        <p:nvSpPr>
          <p:cNvPr id="17" name="Text 15"/>
          <p:cNvSpPr txBox="1"/>
          <p:nvPr/>
        </p:nvSpPr>
        <p:spPr>
          <a:xfrm>
            <a:off x="841248" y="4187952"/>
            <a:ext cx="4797400" cy="201168"/>
          </a:xfrm>
          <a:prstGeom prst="rect">
            <a:avLst/>
          </a:prstGeom>
          <a:noFill/>
          <a:ln/>
        </p:spPr>
        <p:txBody>
          <a:bodyPr wrap="square" lIns="0" tIns="0" rIns="0" bIns="0" rtlCol="0" anchor="ctr"/>
          <a:lstStyle/>
          <a:p>
            <a:pPr indent="0" marL="0">
              <a:buNone/>
            </a:pPr>
            <a:r>
              <a:rPr lang="en-US" sz="900" b="1" spc="80" kern="0" dirty="0">
                <a:solidFill>
                  <a:srgbClr val="44555E"/>
                </a:solidFill>
                <a:latin typeface="Calibri" pitchFamily="34" charset="0"/>
                <a:ea typeface="Calibri" pitchFamily="34" charset="-122"/>
                <a:cs typeface="Calibri" pitchFamily="34" charset="-120"/>
              </a:rPr>
              <a:t>SA LIMITE</a:t>
            </a:r>
            <a:endParaRPr lang="en-US" sz="900" dirty="0"/>
          </a:p>
        </p:txBody>
      </p:sp>
      <p:sp>
        <p:nvSpPr>
          <p:cNvPr id="18" name="Text 16"/>
          <p:cNvSpPr txBox="1"/>
          <p:nvPr/>
        </p:nvSpPr>
        <p:spPr>
          <a:xfrm>
            <a:off x="841248" y="4398264"/>
            <a:ext cx="4797400" cy="256032"/>
          </a:xfrm>
          <a:prstGeom prst="rect">
            <a:avLst/>
          </a:prstGeom>
          <a:noFill/>
          <a:ln/>
        </p:spPr>
        <p:txBody>
          <a:bodyPr wrap="square" lIns="0" tIns="0" rIns="0" bIns="0" rtlCol="0" anchor="ctr"/>
          <a:lstStyle/>
          <a:p>
            <a:pPr indent="0" marL="0">
              <a:buNone/>
            </a:pPr>
            <a:r>
              <a:rPr lang="en-US" sz="1150" dirty="0">
                <a:solidFill>
                  <a:srgbClr val="44555E"/>
                </a:solidFill>
                <a:latin typeface="Calibri" pitchFamily="34" charset="0"/>
                <a:ea typeface="Calibri" pitchFamily="34" charset="-122"/>
                <a:cs typeface="Calibri" pitchFamily="34" charset="-120"/>
              </a:rPr>
              <a:t>Sur un document long, il survole au lieu de restituer.</a:t>
            </a:r>
            <a:endParaRPr lang="en-US" sz="1150" dirty="0"/>
          </a:p>
        </p:txBody>
      </p:sp>
      <p:sp>
        <p:nvSpPr>
          <p:cNvPr id="19" name="Shape 17"/>
          <p:cNvSpPr/>
          <p:nvPr/>
        </p:nvSpPr>
        <p:spPr>
          <a:xfrm>
            <a:off x="6278728" y="2231136"/>
            <a:ext cx="5346040" cy="2578608"/>
          </a:xfrm>
          <a:prstGeom prst="roundRect">
            <a:avLst>
              <a:gd name="adj" fmla="val 2837"/>
            </a:avLst>
          </a:prstGeom>
          <a:solidFill>
            <a:srgbClr val="F6E7E0"/>
          </a:solidFill>
          <a:ln/>
        </p:spPr>
      </p:sp>
      <p:sp>
        <p:nvSpPr>
          <p:cNvPr id="20" name="Text 18"/>
          <p:cNvSpPr txBox="1"/>
          <p:nvPr/>
        </p:nvSpPr>
        <p:spPr>
          <a:xfrm>
            <a:off x="6553048" y="2377440"/>
            <a:ext cx="4797400" cy="384048"/>
          </a:xfrm>
          <a:prstGeom prst="rect">
            <a:avLst/>
          </a:prstGeom>
          <a:noFill/>
          <a:ln/>
        </p:spPr>
        <p:txBody>
          <a:bodyPr wrap="square" lIns="0" tIns="0" rIns="0" bIns="0" rtlCol="0" anchor="ctr"/>
          <a:lstStyle/>
          <a:p>
            <a:pPr indent="0" marL="0">
              <a:buNone/>
            </a:pPr>
            <a:r>
              <a:rPr lang="en-US" sz="2300" b="1" dirty="0">
                <a:solidFill>
                  <a:srgbClr val="14171A"/>
                </a:solidFill>
                <a:latin typeface="Cambria" pitchFamily="34" charset="0"/>
                <a:ea typeface="Cambria" pitchFamily="34" charset="-122"/>
                <a:cs typeface="Cambria" pitchFamily="34" charset="-120"/>
              </a:rPr>
              <a:t>Claude</a:t>
            </a:r>
            <a:endParaRPr lang="en-US" sz="2300" dirty="0"/>
          </a:p>
        </p:txBody>
      </p:sp>
      <p:sp>
        <p:nvSpPr>
          <p:cNvPr id="21" name="Text 19"/>
          <p:cNvSpPr txBox="1"/>
          <p:nvPr/>
        </p:nvSpPr>
        <p:spPr>
          <a:xfrm>
            <a:off x="6553048" y="2761488"/>
            <a:ext cx="4797400" cy="237744"/>
          </a:xfrm>
          <a:prstGeom prst="rect">
            <a:avLst/>
          </a:prstGeom>
          <a:noFill/>
          <a:ln/>
        </p:spPr>
        <p:txBody>
          <a:bodyPr wrap="square" lIns="0" tIns="0" rIns="0" bIns="0" rtlCol="0" anchor="ctr"/>
          <a:lstStyle/>
          <a:p>
            <a:pPr indent="0" marL="0">
              <a:buNone/>
            </a:pPr>
            <a:r>
              <a:rPr lang="en-US" sz="1050" dirty="0">
                <a:solidFill>
                  <a:srgbClr val="78868D"/>
                </a:solidFill>
                <a:latin typeface="Calibri" pitchFamily="34" charset="0"/>
                <a:ea typeface="Calibri" pitchFamily="34" charset="-122"/>
                <a:cs typeface="Calibri" pitchFamily="34" charset="-120"/>
              </a:rPr>
              <a:t>Projects</a:t>
            </a:r>
            <a:endParaRPr lang="en-US" sz="1050" dirty="0"/>
          </a:p>
        </p:txBody>
      </p:sp>
      <p:sp>
        <p:nvSpPr>
          <p:cNvPr id="22" name="Text 20"/>
          <p:cNvSpPr txBox="1"/>
          <p:nvPr/>
        </p:nvSpPr>
        <p:spPr>
          <a:xfrm>
            <a:off x="6553048" y="3090672"/>
            <a:ext cx="4797400" cy="201168"/>
          </a:xfrm>
          <a:prstGeom prst="rect">
            <a:avLst/>
          </a:prstGeom>
          <a:noFill/>
          <a:ln/>
        </p:spPr>
        <p:txBody>
          <a:bodyPr wrap="square" lIns="0" tIns="0" rIns="0" bIns="0" rtlCol="0" anchor="ctr"/>
          <a:lstStyle/>
          <a:p>
            <a:pPr indent="0" marL="0">
              <a:buNone/>
            </a:pPr>
            <a:r>
              <a:rPr lang="en-US" sz="900" b="1" spc="80" kern="0" dirty="0">
                <a:solidFill>
                  <a:srgbClr val="C0542A"/>
                </a:solidFill>
                <a:latin typeface="Calibri" pitchFamily="34" charset="0"/>
                <a:ea typeface="Calibri" pitchFamily="34" charset="-122"/>
                <a:cs typeface="Calibri" pitchFamily="34" charset="-120"/>
              </a:rPr>
              <a:t>FORT EN</a:t>
            </a:r>
            <a:endParaRPr lang="en-US" sz="900" dirty="0"/>
          </a:p>
        </p:txBody>
      </p:sp>
      <p:sp>
        <p:nvSpPr>
          <p:cNvPr id="23" name="Text 21"/>
          <p:cNvSpPr txBox="1"/>
          <p:nvPr/>
        </p:nvSpPr>
        <p:spPr>
          <a:xfrm>
            <a:off x="6553048" y="3300984"/>
            <a:ext cx="4797400" cy="256032"/>
          </a:xfrm>
          <a:prstGeom prst="rect">
            <a:avLst/>
          </a:prstGeom>
          <a:noFill/>
          <a:ln/>
        </p:spPr>
        <p:txBody>
          <a:bodyPr wrap="square" lIns="0" tIns="0" rIns="0" bIns="0" rtlCol="0" anchor="ctr"/>
          <a:lstStyle/>
          <a:p>
            <a:pPr indent="0" marL="0">
              <a:buNone/>
            </a:pPr>
            <a:r>
              <a:rPr lang="en-US" sz="1150" dirty="0">
                <a:solidFill>
                  <a:srgbClr val="8A4A34"/>
                </a:solidFill>
                <a:latin typeface="Calibri" pitchFamily="34" charset="0"/>
                <a:ea typeface="Calibri" pitchFamily="34" charset="-122"/>
                <a:cs typeface="Calibri" pitchFamily="34" charset="-120"/>
              </a:rPr>
              <a:t>Documents longs, rigueur de restitution, justesse du ton.</a:t>
            </a:r>
            <a:endParaRPr lang="en-US" sz="1150" dirty="0"/>
          </a:p>
        </p:txBody>
      </p:sp>
      <p:sp>
        <p:nvSpPr>
          <p:cNvPr id="24" name="Text 22"/>
          <p:cNvSpPr txBox="1"/>
          <p:nvPr/>
        </p:nvSpPr>
        <p:spPr>
          <a:xfrm>
            <a:off x="6553048" y="3639312"/>
            <a:ext cx="4797400" cy="201168"/>
          </a:xfrm>
          <a:prstGeom prst="rect">
            <a:avLst/>
          </a:prstGeom>
          <a:noFill/>
          <a:ln/>
        </p:spPr>
        <p:txBody>
          <a:bodyPr wrap="square" lIns="0" tIns="0" rIns="0" bIns="0" rtlCol="0" anchor="ctr"/>
          <a:lstStyle/>
          <a:p>
            <a:pPr indent="0" marL="0">
              <a:buNone/>
            </a:pPr>
            <a:r>
              <a:rPr lang="en-US" sz="900" b="1" spc="80" kern="0" dirty="0">
                <a:solidFill>
                  <a:srgbClr val="C0542A"/>
                </a:solidFill>
                <a:latin typeface="Calibri" pitchFamily="34" charset="0"/>
                <a:ea typeface="Calibri" pitchFamily="34" charset="-122"/>
                <a:cs typeface="Calibri" pitchFamily="34" charset="-120"/>
              </a:rPr>
              <a:t>LES AGENTS QU'IL PORTE</a:t>
            </a:r>
            <a:endParaRPr lang="en-US" sz="900" dirty="0"/>
          </a:p>
        </p:txBody>
      </p:sp>
      <p:sp>
        <p:nvSpPr>
          <p:cNvPr id="25" name="Text 23"/>
          <p:cNvSpPr txBox="1"/>
          <p:nvPr/>
        </p:nvSpPr>
        <p:spPr>
          <a:xfrm>
            <a:off x="6553048" y="3849624"/>
            <a:ext cx="4797400" cy="256032"/>
          </a:xfrm>
          <a:prstGeom prst="rect">
            <a:avLst/>
          </a:prstGeom>
          <a:noFill/>
          <a:ln/>
        </p:spPr>
        <p:txBody>
          <a:bodyPr wrap="square" lIns="0" tIns="0" rIns="0" bIns="0" rtlCol="0" anchor="ctr"/>
          <a:lstStyle/>
          <a:p>
            <a:pPr indent="0" marL="0">
              <a:buNone/>
            </a:pPr>
            <a:r>
              <a:rPr lang="en-US" sz="1150" dirty="0">
                <a:solidFill>
                  <a:srgbClr val="8A4A34"/>
                </a:solidFill>
                <a:latin typeface="Calibri" pitchFamily="34" charset="0"/>
                <a:ea typeface="Calibri" pitchFamily="34" charset="-122"/>
                <a:cs typeface="Calibri" pitchFamily="34" charset="-120"/>
              </a:rPr>
              <a:t>L'agent ÉCRITURE et l'agent PROGRAMME — un CCTP de 80 pages déposé.</a:t>
            </a:r>
            <a:endParaRPr lang="en-US" sz="1150" dirty="0"/>
          </a:p>
        </p:txBody>
      </p:sp>
      <p:sp>
        <p:nvSpPr>
          <p:cNvPr id="26" name="Text 24"/>
          <p:cNvSpPr txBox="1"/>
          <p:nvPr/>
        </p:nvSpPr>
        <p:spPr>
          <a:xfrm>
            <a:off x="6553048" y="4187952"/>
            <a:ext cx="4797400" cy="201168"/>
          </a:xfrm>
          <a:prstGeom prst="rect">
            <a:avLst/>
          </a:prstGeom>
          <a:noFill/>
          <a:ln/>
        </p:spPr>
        <p:txBody>
          <a:bodyPr wrap="square" lIns="0" tIns="0" rIns="0" bIns="0" rtlCol="0" anchor="ctr"/>
          <a:lstStyle/>
          <a:p>
            <a:pPr indent="0" marL="0">
              <a:buNone/>
            </a:pPr>
            <a:r>
              <a:rPr lang="en-US" sz="900" b="1" spc="80" kern="0" dirty="0">
                <a:solidFill>
                  <a:srgbClr val="C0542A"/>
                </a:solidFill>
                <a:latin typeface="Calibri" pitchFamily="34" charset="0"/>
                <a:ea typeface="Calibri" pitchFamily="34" charset="-122"/>
                <a:cs typeface="Calibri" pitchFamily="34" charset="-120"/>
              </a:rPr>
              <a:t>SA LIMITE</a:t>
            </a:r>
            <a:endParaRPr lang="en-US" sz="900" dirty="0"/>
          </a:p>
        </p:txBody>
      </p:sp>
      <p:sp>
        <p:nvSpPr>
          <p:cNvPr id="27" name="Text 25"/>
          <p:cNvSpPr txBox="1"/>
          <p:nvPr/>
        </p:nvSpPr>
        <p:spPr>
          <a:xfrm>
            <a:off x="6553048" y="4398264"/>
            <a:ext cx="4797400" cy="256032"/>
          </a:xfrm>
          <a:prstGeom prst="rect">
            <a:avLst/>
          </a:prstGeom>
          <a:noFill/>
          <a:ln/>
        </p:spPr>
        <p:txBody>
          <a:bodyPr wrap="square" lIns="0" tIns="0" rIns="0" bIns="0" rtlCol="0" anchor="ctr"/>
          <a:lstStyle/>
          <a:p>
            <a:pPr indent="0" marL="0">
              <a:buNone/>
            </a:pPr>
            <a:r>
              <a:rPr lang="en-US" sz="1150" dirty="0">
                <a:solidFill>
                  <a:srgbClr val="8A4A34"/>
                </a:solidFill>
                <a:latin typeface="Calibri" pitchFamily="34" charset="0"/>
                <a:ea typeface="Calibri" pitchFamily="34" charset="-122"/>
                <a:cs typeface="Calibri" pitchFamily="34" charset="-120"/>
              </a:rPr>
              <a:t>Ne génère pas d'image. C'est un outil de texte.</a:t>
            </a:r>
            <a:endParaRPr lang="en-US" sz="1150" dirty="0"/>
          </a:p>
        </p:txBody>
      </p:sp>
      <p:sp>
        <p:nvSpPr>
          <p:cNvPr id="28" name="Shape 26"/>
          <p:cNvSpPr/>
          <p:nvPr/>
        </p:nvSpPr>
        <p:spPr>
          <a:xfrm>
            <a:off x="566928" y="4956048"/>
            <a:ext cx="11057839" cy="512064"/>
          </a:xfrm>
          <a:prstGeom prst="roundRect">
            <a:avLst>
              <a:gd name="adj" fmla="val 14286"/>
            </a:avLst>
          </a:prstGeom>
          <a:solidFill>
            <a:srgbClr val="C0542A"/>
          </a:solidFill>
          <a:ln/>
        </p:spPr>
      </p:sp>
      <p:sp>
        <p:nvSpPr>
          <p:cNvPr id="29" name="Text 27"/>
          <p:cNvSpPr txBox="1"/>
          <p:nvPr/>
        </p:nvSpPr>
        <p:spPr>
          <a:xfrm>
            <a:off x="841248" y="4956048"/>
            <a:ext cx="10509199" cy="51206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La règle à retenir : l'image chez ChatGPT, le document chez Claude.</a:t>
            </a:r>
            <a:endParaRPr lang="en-US" sz="1800" dirty="0"/>
          </a:p>
        </p:txBody>
      </p:sp>
      <p:sp>
        <p:nvSpPr>
          <p:cNvPr id="30" name="Shape 28"/>
          <p:cNvSpPr/>
          <p:nvPr/>
        </p:nvSpPr>
        <p:spPr>
          <a:xfrm>
            <a:off x="566928" y="5632704"/>
            <a:ext cx="11057839" cy="603504"/>
          </a:xfrm>
          <a:prstGeom prst="roundRect">
            <a:avLst>
              <a:gd name="adj" fmla="val 12121"/>
            </a:avLst>
          </a:prstGeom>
          <a:solidFill>
            <a:srgbClr val="F6E7E0"/>
          </a:solidFill>
          <a:ln/>
        </p:spPr>
      </p:sp>
      <p:sp>
        <p:nvSpPr>
          <p:cNvPr id="31" name="Shape 29"/>
          <p:cNvSpPr/>
          <p:nvPr/>
        </p:nvSpPr>
        <p:spPr>
          <a:xfrm>
            <a:off x="786384" y="5788152"/>
            <a:ext cx="603504" cy="292608"/>
          </a:xfrm>
          <a:prstGeom prst="roundRect">
            <a:avLst>
              <a:gd name="adj" fmla="val 21875"/>
            </a:avLst>
          </a:prstGeom>
          <a:solidFill>
            <a:srgbClr val="C0542A"/>
          </a:solidFill>
          <a:ln/>
        </p:spPr>
      </p:sp>
      <p:sp>
        <p:nvSpPr>
          <p:cNvPr id="32" name="Text 30"/>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3" name="Text 31"/>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Choisissez l'agent à construire en répondant à une seule question : qu'est-ce que vous réexpliquez le plus souvent ? La réponse désigne l'agent. Dans une agence de deux personnes, c'est presque toujours l'écriture.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02:25</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LA CONSTRUCTION</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L'anatomie d'un agent d'agence, en cinq blocs</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24</a:t>
            </a:r>
            <a:endParaRPr lang="en-US" sz="900" dirty="0"/>
          </a:p>
        </p:txBody>
      </p:sp>
      <p:sp>
        <p:nvSpPr>
          <p:cNvPr id="8" name="Shape 6"/>
          <p:cNvSpPr/>
          <p:nvPr/>
        </p:nvSpPr>
        <p:spPr>
          <a:xfrm>
            <a:off x="566928" y="1389888"/>
            <a:ext cx="11057839" cy="786384"/>
          </a:xfrm>
          <a:prstGeom prst="roundRect">
            <a:avLst>
              <a:gd name="adj" fmla="val 9302"/>
            </a:avLst>
          </a:prstGeom>
          <a:solidFill>
            <a:srgbClr val="EFF1F2"/>
          </a:solidFill>
          <a:ln/>
        </p:spPr>
      </p:sp>
      <p:sp>
        <p:nvSpPr>
          <p:cNvPr id="9" name="Shape 7"/>
          <p:cNvSpPr/>
          <p:nvPr/>
        </p:nvSpPr>
        <p:spPr>
          <a:xfrm>
            <a:off x="804672" y="1591056"/>
            <a:ext cx="384048" cy="384048"/>
          </a:xfrm>
          <a:prstGeom prst="ellipse">
            <a:avLst/>
          </a:prstGeom>
          <a:solidFill>
            <a:srgbClr val="44555E"/>
          </a:solidFill>
          <a:ln/>
        </p:spPr>
      </p:sp>
      <p:sp>
        <p:nvSpPr>
          <p:cNvPr id="10" name="Text 8"/>
          <p:cNvSpPr txBox="1"/>
          <p:nvPr/>
        </p:nvSpPr>
        <p:spPr>
          <a:xfrm>
            <a:off x="804672" y="1591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316736" y="1499616"/>
            <a:ext cx="214884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Rôle</a:t>
            </a:r>
            <a:endParaRPr lang="en-US" sz="1500" dirty="0"/>
          </a:p>
        </p:txBody>
      </p:sp>
      <p:sp>
        <p:nvSpPr>
          <p:cNvPr id="12" name="Text 10"/>
          <p:cNvSpPr txBox="1"/>
          <p:nvPr/>
        </p:nvSpPr>
        <p:spPr>
          <a:xfrm>
            <a:off x="1316736" y="1783080"/>
            <a:ext cx="2148840" cy="365760"/>
          </a:xfrm>
          <a:prstGeom prst="rect">
            <a:avLst/>
          </a:prstGeom>
          <a:noFill/>
          <a:ln/>
        </p:spPr>
        <p:txBody>
          <a:bodyPr wrap="square" lIns="0" tIns="0" rIns="0" bIns="0" rtlCol="0" anchor="ctr"/>
          <a:lstStyle/>
          <a:p>
            <a:pPr indent="0" marL="0">
              <a:lnSpc>
                <a:spcPct val="102000"/>
              </a:lnSpc>
              <a:buNone/>
            </a:pPr>
            <a:r>
              <a:rPr lang="en-US" sz="950" i="1" dirty="0">
                <a:solidFill>
                  <a:srgbClr val="78868D"/>
                </a:solidFill>
                <a:latin typeface="Calibri" pitchFamily="34" charset="0"/>
                <a:ea typeface="Calibri" pitchFamily="34" charset="-122"/>
                <a:cs typeface="Calibri" pitchFamily="34" charset="-120"/>
              </a:rPr>
              <a:t>Qui il est, pour qui il travaille.</a:t>
            </a:r>
            <a:endParaRPr lang="en-US" sz="950" dirty="0"/>
          </a:p>
        </p:txBody>
      </p:sp>
      <p:sp>
        <p:nvSpPr>
          <p:cNvPr id="13" name="Text 11"/>
          <p:cNvSpPr txBox="1"/>
          <p:nvPr/>
        </p:nvSpPr>
        <p:spPr>
          <a:xfrm>
            <a:off x="3630168" y="1389888"/>
            <a:ext cx="7720279" cy="786384"/>
          </a:xfrm>
          <a:prstGeom prst="rect">
            <a:avLst/>
          </a:prstGeom>
          <a:noFill/>
          <a:ln/>
        </p:spPr>
        <p:txBody>
          <a:bodyPr wrap="square" lIns="0" tIns="0" rIns="0" bIns="0" rtlCol="0" anchor="ctr"/>
          <a:lstStyle/>
          <a:p>
            <a:pPr indent="0" marL="0">
              <a:lnSpc>
                <a:spcPct val="110000"/>
              </a:lnSpc>
              <a:buNone/>
            </a:pPr>
            <a:r>
              <a:rPr lang="en-US" sz="1150" dirty="0">
                <a:solidFill>
                  <a:srgbClr val="44555E"/>
                </a:solidFill>
                <a:latin typeface="Calibri" pitchFamily="34" charset="0"/>
                <a:ea typeface="Calibri" pitchFamily="34" charset="-122"/>
                <a:cs typeface="Calibri" pitchFamily="34" charset="-120"/>
              </a:rPr>
              <a:t>« Tu es l'assistant de rédaction de l'agence [X], agence d'architecture de deux personnes basée à [ville], qui intervient en logement collectif et en équipement public. »</a:t>
            </a:r>
            <a:endParaRPr lang="en-US" sz="1150" dirty="0"/>
          </a:p>
        </p:txBody>
      </p:sp>
      <p:sp>
        <p:nvSpPr>
          <p:cNvPr id="14" name="Shape 12"/>
          <p:cNvSpPr/>
          <p:nvPr/>
        </p:nvSpPr>
        <p:spPr>
          <a:xfrm>
            <a:off x="566928" y="2231136"/>
            <a:ext cx="11057839" cy="786384"/>
          </a:xfrm>
          <a:prstGeom prst="roundRect">
            <a:avLst>
              <a:gd name="adj" fmla="val 9302"/>
            </a:avLst>
          </a:prstGeom>
          <a:solidFill>
            <a:srgbClr val="EFF1F2"/>
          </a:solidFill>
          <a:ln/>
        </p:spPr>
      </p:sp>
      <p:sp>
        <p:nvSpPr>
          <p:cNvPr id="15" name="Shape 13"/>
          <p:cNvSpPr/>
          <p:nvPr/>
        </p:nvSpPr>
        <p:spPr>
          <a:xfrm>
            <a:off x="804672" y="2432304"/>
            <a:ext cx="384048" cy="384048"/>
          </a:xfrm>
          <a:prstGeom prst="ellipse">
            <a:avLst/>
          </a:prstGeom>
          <a:solidFill>
            <a:srgbClr val="44555E"/>
          </a:solidFill>
          <a:ln/>
        </p:spPr>
      </p:sp>
      <p:sp>
        <p:nvSpPr>
          <p:cNvPr id="16" name="Text 14"/>
          <p:cNvSpPr txBox="1"/>
          <p:nvPr/>
        </p:nvSpPr>
        <p:spPr>
          <a:xfrm>
            <a:off x="804672" y="24323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1316736" y="2340864"/>
            <a:ext cx="214884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Méthode</a:t>
            </a:r>
            <a:endParaRPr lang="en-US" sz="1500" dirty="0"/>
          </a:p>
        </p:txBody>
      </p:sp>
      <p:sp>
        <p:nvSpPr>
          <p:cNvPr id="18" name="Text 16"/>
          <p:cNvSpPr txBox="1"/>
          <p:nvPr/>
        </p:nvSpPr>
        <p:spPr>
          <a:xfrm>
            <a:off x="1316736" y="2624328"/>
            <a:ext cx="2148840" cy="365760"/>
          </a:xfrm>
          <a:prstGeom prst="rect">
            <a:avLst/>
          </a:prstGeom>
          <a:noFill/>
          <a:ln/>
        </p:spPr>
        <p:txBody>
          <a:bodyPr wrap="square" lIns="0" tIns="0" rIns="0" bIns="0" rtlCol="0" anchor="ctr"/>
          <a:lstStyle/>
          <a:p>
            <a:pPr indent="0" marL="0">
              <a:lnSpc>
                <a:spcPct val="102000"/>
              </a:lnSpc>
              <a:buNone/>
            </a:pPr>
            <a:r>
              <a:rPr lang="en-US" sz="950" i="1" dirty="0">
                <a:solidFill>
                  <a:srgbClr val="78868D"/>
                </a:solidFill>
                <a:latin typeface="Calibri" pitchFamily="34" charset="0"/>
                <a:ea typeface="Calibri" pitchFamily="34" charset="-122"/>
                <a:cs typeface="Calibri" pitchFamily="34" charset="-120"/>
              </a:rPr>
              <a:t>Ce qu'il fait avant de produire.</a:t>
            </a:r>
            <a:endParaRPr lang="en-US" sz="950" dirty="0"/>
          </a:p>
        </p:txBody>
      </p:sp>
      <p:sp>
        <p:nvSpPr>
          <p:cNvPr id="19" name="Text 17"/>
          <p:cNvSpPr txBox="1"/>
          <p:nvPr/>
        </p:nvSpPr>
        <p:spPr>
          <a:xfrm>
            <a:off x="3630168" y="2231136"/>
            <a:ext cx="7720279" cy="786384"/>
          </a:xfrm>
          <a:prstGeom prst="rect">
            <a:avLst/>
          </a:prstGeom>
          <a:noFill/>
          <a:ln/>
        </p:spPr>
        <p:txBody>
          <a:bodyPr wrap="square" lIns="0" tIns="0" rIns="0" bIns="0" rtlCol="0" anchor="ctr"/>
          <a:lstStyle/>
          <a:p>
            <a:pPr indent="0" marL="0">
              <a:lnSpc>
                <a:spcPct val="110000"/>
              </a:lnSpc>
              <a:buNone/>
            </a:pPr>
            <a:r>
              <a:rPr lang="en-US" sz="1150" dirty="0">
                <a:solidFill>
                  <a:srgbClr val="44555E"/>
                </a:solidFill>
                <a:latin typeface="Calibri" pitchFamily="34" charset="0"/>
                <a:ea typeface="Calibri" pitchFamily="34" charset="-122"/>
                <a:cs typeface="Calibri" pitchFamily="34" charset="-120"/>
              </a:rPr>
              <a:t>« Avant de rédiger, tu poses systématiquement trois questions : le destinataire, la phase du projet, la longueur attendue. Tu ne rédiges pas sans les réponses. »</a:t>
            </a:r>
            <a:endParaRPr lang="en-US" sz="1150" dirty="0"/>
          </a:p>
        </p:txBody>
      </p:sp>
      <p:sp>
        <p:nvSpPr>
          <p:cNvPr id="20" name="Shape 18"/>
          <p:cNvSpPr/>
          <p:nvPr/>
        </p:nvSpPr>
        <p:spPr>
          <a:xfrm>
            <a:off x="566928" y="3072384"/>
            <a:ext cx="11057839" cy="786384"/>
          </a:xfrm>
          <a:prstGeom prst="roundRect">
            <a:avLst>
              <a:gd name="adj" fmla="val 9302"/>
            </a:avLst>
          </a:prstGeom>
          <a:solidFill>
            <a:srgbClr val="EFF1F2"/>
          </a:solidFill>
          <a:ln/>
        </p:spPr>
      </p:sp>
      <p:sp>
        <p:nvSpPr>
          <p:cNvPr id="21" name="Shape 19"/>
          <p:cNvSpPr/>
          <p:nvPr/>
        </p:nvSpPr>
        <p:spPr>
          <a:xfrm>
            <a:off x="804672" y="3273552"/>
            <a:ext cx="384048" cy="384048"/>
          </a:xfrm>
          <a:prstGeom prst="ellipse">
            <a:avLst/>
          </a:prstGeom>
          <a:solidFill>
            <a:srgbClr val="44555E"/>
          </a:solidFill>
          <a:ln/>
        </p:spPr>
      </p:sp>
      <p:sp>
        <p:nvSpPr>
          <p:cNvPr id="22" name="Text 20"/>
          <p:cNvSpPr txBox="1"/>
          <p:nvPr/>
        </p:nvSpPr>
        <p:spPr>
          <a:xfrm>
            <a:off x="804672" y="3273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1316736" y="3182112"/>
            <a:ext cx="214884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Ton et interdits</a:t>
            </a:r>
            <a:endParaRPr lang="en-US" sz="1500" dirty="0"/>
          </a:p>
        </p:txBody>
      </p:sp>
      <p:sp>
        <p:nvSpPr>
          <p:cNvPr id="24" name="Text 22"/>
          <p:cNvSpPr txBox="1"/>
          <p:nvPr/>
        </p:nvSpPr>
        <p:spPr>
          <a:xfrm>
            <a:off x="1316736" y="3465576"/>
            <a:ext cx="2148840" cy="365760"/>
          </a:xfrm>
          <a:prstGeom prst="rect">
            <a:avLst/>
          </a:prstGeom>
          <a:noFill/>
          <a:ln/>
        </p:spPr>
        <p:txBody>
          <a:bodyPr wrap="square" lIns="0" tIns="0" rIns="0" bIns="0" rtlCol="0" anchor="ctr"/>
          <a:lstStyle/>
          <a:p>
            <a:pPr indent="0" marL="0">
              <a:lnSpc>
                <a:spcPct val="102000"/>
              </a:lnSpc>
              <a:buNone/>
            </a:pPr>
            <a:r>
              <a:rPr lang="en-US" sz="950" i="1" dirty="0">
                <a:solidFill>
                  <a:srgbClr val="78868D"/>
                </a:solidFill>
                <a:latin typeface="Calibri" pitchFamily="34" charset="0"/>
                <a:ea typeface="Calibri" pitchFamily="34" charset="-122"/>
                <a:cs typeface="Calibri" pitchFamily="34" charset="-120"/>
              </a:rPr>
              <a:t>Comment l'agence écrit — et n'écrit jamais.</a:t>
            </a:r>
            <a:endParaRPr lang="en-US" sz="950" dirty="0"/>
          </a:p>
        </p:txBody>
      </p:sp>
      <p:sp>
        <p:nvSpPr>
          <p:cNvPr id="25" name="Text 23"/>
          <p:cNvSpPr txBox="1"/>
          <p:nvPr/>
        </p:nvSpPr>
        <p:spPr>
          <a:xfrm>
            <a:off x="3630168" y="3072384"/>
            <a:ext cx="7720279" cy="786384"/>
          </a:xfrm>
          <a:prstGeom prst="rect">
            <a:avLst/>
          </a:prstGeom>
          <a:noFill/>
          <a:ln/>
        </p:spPr>
        <p:txBody>
          <a:bodyPr wrap="square" lIns="0" tIns="0" rIns="0" bIns="0" rtlCol="0" anchor="ctr"/>
          <a:lstStyle/>
          <a:p>
            <a:pPr indent="0" marL="0">
              <a:lnSpc>
                <a:spcPct val="110000"/>
              </a:lnSpc>
              <a:buNone/>
            </a:pPr>
            <a:r>
              <a:rPr lang="en-US" sz="1150" dirty="0">
                <a:solidFill>
                  <a:srgbClr val="44555E"/>
                </a:solidFill>
                <a:latin typeface="Calibri" pitchFamily="34" charset="0"/>
                <a:ea typeface="Calibri" pitchFamily="34" charset="-122"/>
                <a:cs typeface="Calibri" pitchFamily="34" charset="-120"/>
              </a:rPr>
              <a:t>« Phrases courtes, voix active, aucun superlatif. On n'écrit jamais « écrin », « skyline », « à taille humaine », « au service de ». Pas de point d'exclamation. »</a:t>
            </a:r>
            <a:endParaRPr lang="en-US" sz="1150" dirty="0"/>
          </a:p>
        </p:txBody>
      </p:sp>
      <p:sp>
        <p:nvSpPr>
          <p:cNvPr id="26" name="Shape 24"/>
          <p:cNvSpPr/>
          <p:nvPr/>
        </p:nvSpPr>
        <p:spPr>
          <a:xfrm>
            <a:off x="566928" y="3913632"/>
            <a:ext cx="11057839" cy="786384"/>
          </a:xfrm>
          <a:prstGeom prst="roundRect">
            <a:avLst>
              <a:gd name="adj" fmla="val 9302"/>
            </a:avLst>
          </a:prstGeom>
          <a:solidFill>
            <a:srgbClr val="EFF1F2"/>
          </a:solidFill>
          <a:ln/>
        </p:spPr>
      </p:sp>
      <p:sp>
        <p:nvSpPr>
          <p:cNvPr id="27" name="Shape 25"/>
          <p:cNvSpPr/>
          <p:nvPr/>
        </p:nvSpPr>
        <p:spPr>
          <a:xfrm>
            <a:off x="804672" y="4114800"/>
            <a:ext cx="384048" cy="384048"/>
          </a:xfrm>
          <a:prstGeom prst="ellipse">
            <a:avLst/>
          </a:prstGeom>
          <a:solidFill>
            <a:srgbClr val="44555E"/>
          </a:solidFill>
          <a:ln/>
        </p:spPr>
      </p:sp>
      <p:sp>
        <p:nvSpPr>
          <p:cNvPr id="28" name="Text 26"/>
          <p:cNvSpPr txBox="1"/>
          <p:nvPr/>
        </p:nvSpPr>
        <p:spPr>
          <a:xfrm>
            <a:off x="804672" y="4114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txBox="1"/>
          <p:nvPr/>
        </p:nvSpPr>
        <p:spPr>
          <a:xfrm>
            <a:off x="1316736" y="4023360"/>
            <a:ext cx="214884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Références</a:t>
            </a:r>
            <a:endParaRPr lang="en-US" sz="1500" dirty="0"/>
          </a:p>
        </p:txBody>
      </p:sp>
      <p:sp>
        <p:nvSpPr>
          <p:cNvPr id="30" name="Text 28"/>
          <p:cNvSpPr txBox="1"/>
          <p:nvPr/>
        </p:nvSpPr>
        <p:spPr>
          <a:xfrm>
            <a:off x="1316736" y="4306824"/>
            <a:ext cx="2148840" cy="365760"/>
          </a:xfrm>
          <a:prstGeom prst="rect">
            <a:avLst/>
          </a:prstGeom>
          <a:noFill/>
          <a:ln/>
        </p:spPr>
        <p:txBody>
          <a:bodyPr wrap="square" lIns="0" tIns="0" rIns="0" bIns="0" rtlCol="0" anchor="ctr"/>
          <a:lstStyle/>
          <a:p>
            <a:pPr indent="0" marL="0">
              <a:lnSpc>
                <a:spcPct val="102000"/>
              </a:lnSpc>
              <a:buNone/>
            </a:pPr>
            <a:r>
              <a:rPr lang="en-US" sz="950" i="1" dirty="0">
                <a:solidFill>
                  <a:srgbClr val="78868D"/>
                </a:solidFill>
                <a:latin typeface="Calibri" pitchFamily="34" charset="0"/>
                <a:ea typeface="Calibri" pitchFamily="34" charset="-122"/>
                <a:cs typeface="Calibri" pitchFamily="34" charset="-120"/>
              </a:rPr>
              <a:t>Ce sur quoi il s'appuie.</a:t>
            </a:r>
            <a:endParaRPr lang="en-US" sz="950" dirty="0"/>
          </a:p>
        </p:txBody>
      </p:sp>
      <p:sp>
        <p:nvSpPr>
          <p:cNvPr id="31" name="Text 29"/>
          <p:cNvSpPr txBox="1"/>
          <p:nvPr/>
        </p:nvSpPr>
        <p:spPr>
          <a:xfrm>
            <a:off x="3630168" y="3913632"/>
            <a:ext cx="7720279" cy="786384"/>
          </a:xfrm>
          <a:prstGeom prst="rect">
            <a:avLst/>
          </a:prstGeom>
          <a:noFill/>
          <a:ln/>
        </p:spPr>
        <p:txBody>
          <a:bodyPr wrap="square" lIns="0" tIns="0" rIns="0" bIns="0" rtlCol="0" anchor="ctr"/>
          <a:lstStyle/>
          <a:p>
            <a:pPr indent="0" marL="0">
              <a:lnSpc>
                <a:spcPct val="110000"/>
              </a:lnSpc>
              <a:buNone/>
            </a:pPr>
            <a:r>
              <a:rPr lang="en-US" sz="1150" dirty="0">
                <a:solidFill>
                  <a:srgbClr val="44555E"/>
                </a:solidFill>
                <a:latin typeface="Calibri" pitchFamily="34" charset="0"/>
                <a:ea typeface="Calibri" pitchFamily="34" charset="-122"/>
                <a:cs typeface="Calibri" pitchFamily="34" charset="-120"/>
              </a:rPr>
              <a:t>« Les documents déposés : trois notes d'intention livrées, un descriptif type, la présentation de l'agence, un mail représentatif du ton. »</a:t>
            </a:r>
            <a:endParaRPr lang="en-US" sz="1150" dirty="0"/>
          </a:p>
        </p:txBody>
      </p:sp>
      <p:sp>
        <p:nvSpPr>
          <p:cNvPr id="32" name="Shape 30"/>
          <p:cNvSpPr/>
          <p:nvPr/>
        </p:nvSpPr>
        <p:spPr>
          <a:xfrm>
            <a:off x="566928" y="4754880"/>
            <a:ext cx="11057839" cy="786384"/>
          </a:xfrm>
          <a:prstGeom prst="roundRect">
            <a:avLst>
              <a:gd name="adj" fmla="val 9302"/>
            </a:avLst>
          </a:prstGeom>
          <a:solidFill>
            <a:srgbClr val="F6E7E0"/>
          </a:solidFill>
          <a:ln/>
        </p:spPr>
      </p:sp>
      <p:sp>
        <p:nvSpPr>
          <p:cNvPr id="33" name="Shape 31"/>
          <p:cNvSpPr/>
          <p:nvPr/>
        </p:nvSpPr>
        <p:spPr>
          <a:xfrm>
            <a:off x="804672" y="4956048"/>
            <a:ext cx="384048" cy="384048"/>
          </a:xfrm>
          <a:prstGeom prst="ellipse">
            <a:avLst/>
          </a:prstGeom>
          <a:solidFill>
            <a:srgbClr val="C0542A"/>
          </a:solidFill>
          <a:ln/>
        </p:spPr>
      </p:sp>
      <p:sp>
        <p:nvSpPr>
          <p:cNvPr id="34" name="Text 32"/>
          <p:cNvSpPr txBox="1"/>
          <p:nvPr/>
        </p:nvSpPr>
        <p:spPr>
          <a:xfrm>
            <a:off x="804672"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5" name="Text 33"/>
          <p:cNvSpPr txBox="1"/>
          <p:nvPr/>
        </p:nvSpPr>
        <p:spPr>
          <a:xfrm>
            <a:off x="1316736" y="4864608"/>
            <a:ext cx="2148840" cy="27432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Garde-fous</a:t>
            </a:r>
            <a:endParaRPr lang="en-US" sz="1500" dirty="0"/>
          </a:p>
        </p:txBody>
      </p:sp>
      <p:sp>
        <p:nvSpPr>
          <p:cNvPr id="36" name="Text 34"/>
          <p:cNvSpPr txBox="1"/>
          <p:nvPr/>
        </p:nvSpPr>
        <p:spPr>
          <a:xfrm>
            <a:off x="1316736" y="5148072"/>
            <a:ext cx="2148840" cy="365760"/>
          </a:xfrm>
          <a:prstGeom prst="rect">
            <a:avLst/>
          </a:prstGeom>
          <a:noFill/>
          <a:ln/>
        </p:spPr>
        <p:txBody>
          <a:bodyPr wrap="square" lIns="0" tIns="0" rIns="0" bIns="0" rtlCol="0" anchor="ctr"/>
          <a:lstStyle/>
          <a:p>
            <a:pPr indent="0" marL="0">
              <a:lnSpc>
                <a:spcPct val="102000"/>
              </a:lnSpc>
              <a:buNone/>
            </a:pPr>
            <a:r>
              <a:rPr lang="en-US" sz="950" i="1" dirty="0">
                <a:solidFill>
                  <a:srgbClr val="78868D"/>
                </a:solidFill>
                <a:latin typeface="Calibri" pitchFamily="34" charset="0"/>
                <a:ea typeface="Calibri" pitchFamily="34" charset="-122"/>
                <a:cs typeface="Calibri" pitchFamily="34" charset="-120"/>
              </a:rPr>
              <a:t>Ce qu'il n'a pas le droit de faire.</a:t>
            </a:r>
            <a:endParaRPr lang="en-US" sz="950" dirty="0"/>
          </a:p>
        </p:txBody>
      </p:sp>
      <p:sp>
        <p:nvSpPr>
          <p:cNvPr id="37" name="Text 35"/>
          <p:cNvSpPr txBox="1"/>
          <p:nvPr/>
        </p:nvSpPr>
        <p:spPr>
          <a:xfrm>
            <a:off x="3630168" y="4754880"/>
            <a:ext cx="7720279" cy="786384"/>
          </a:xfrm>
          <a:prstGeom prst="rect">
            <a:avLst/>
          </a:prstGeom>
          <a:noFill/>
          <a:ln/>
        </p:spPr>
        <p:txBody>
          <a:bodyPr wrap="square" lIns="0" tIns="0" rIns="0" bIns="0" rtlCol="0" anchor="ctr"/>
          <a:lstStyle/>
          <a:p>
            <a:pPr indent="0" marL="0">
              <a:lnSpc>
                <a:spcPct val="110000"/>
              </a:lnSpc>
              <a:buNone/>
            </a:pPr>
            <a:r>
              <a:rPr lang="en-US" sz="1150" dirty="0">
                <a:solidFill>
                  <a:srgbClr val="8A4A34"/>
                </a:solidFill>
                <a:latin typeface="Calibri" pitchFamily="34" charset="0"/>
                <a:ea typeface="Calibri" pitchFamily="34" charset="-122"/>
                <a:cs typeface="Calibri" pitchFamily="34" charset="-120"/>
              </a:rPr>
              <a:t>« Si une donnée manque — surface, budget, date, nom de la MOA — tu la demandes. Tu n'inventes jamais un chiffre, une référence de projet ou un nom propre. »</a:t>
            </a:r>
            <a:endParaRPr lang="en-US" sz="1150" dirty="0"/>
          </a:p>
        </p:txBody>
      </p:sp>
      <p:sp>
        <p:nvSpPr>
          <p:cNvPr id="38" name="Shape 36"/>
          <p:cNvSpPr/>
          <p:nvPr/>
        </p:nvSpPr>
        <p:spPr>
          <a:xfrm>
            <a:off x="566928" y="5632704"/>
            <a:ext cx="11057839" cy="603504"/>
          </a:xfrm>
          <a:prstGeom prst="roundRect">
            <a:avLst>
              <a:gd name="adj" fmla="val 12121"/>
            </a:avLst>
          </a:prstGeom>
          <a:solidFill>
            <a:srgbClr val="F6E7E0"/>
          </a:solidFill>
          <a:ln/>
        </p:spPr>
      </p:sp>
      <p:sp>
        <p:nvSpPr>
          <p:cNvPr id="39" name="Shape 37"/>
          <p:cNvSpPr/>
          <p:nvPr/>
        </p:nvSpPr>
        <p:spPr>
          <a:xfrm>
            <a:off x="786384" y="5788152"/>
            <a:ext cx="603504" cy="292608"/>
          </a:xfrm>
          <a:prstGeom prst="roundRect">
            <a:avLst>
              <a:gd name="adj" fmla="val 21875"/>
            </a:avLst>
          </a:prstGeom>
          <a:solidFill>
            <a:srgbClr val="C0542A"/>
          </a:solidFill>
          <a:ln/>
        </p:spPr>
      </p:sp>
      <p:sp>
        <p:nvSpPr>
          <p:cNvPr id="40" name="Text 38"/>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41" name="Text 39"/>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Le bloc 5 est celui que tout le monde oublie, et celui qui rend l'agent utilisable en production : sans garde-fou, il comble les trous par de la vraisemblance — et une surface inventée dans une note d'intention est un vrai risque.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02:30</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ATELIER · 20 MINUTES</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On construit l'agent en direct</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25</a:t>
            </a:r>
            <a:endParaRPr lang="en-US" sz="900" dirty="0"/>
          </a:p>
        </p:txBody>
      </p:sp>
      <p:sp>
        <p:nvSpPr>
          <p:cNvPr id="8" name="Shape 6"/>
          <p:cNvSpPr/>
          <p:nvPr/>
        </p:nvSpPr>
        <p:spPr>
          <a:xfrm>
            <a:off x="566928" y="1389888"/>
            <a:ext cx="5346040" cy="786384"/>
          </a:xfrm>
          <a:prstGeom prst="roundRect">
            <a:avLst>
              <a:gd name="adj" fmla="val 9302"/>
            </a:avLst>
          </a:prstGeom>
          <a:solidFill>
            <a:srgbClr val="EFF1F2"/>
          </a:solidFill>
          <a:ln/>
        </p:spPr>
      </p:sp>
      <p:sp>
        <p:nvSpPr>
          <p:cNvPr id="9" name="Text 7"/>
          <p:cNvSpPr txBox="1"/>
          <p:nvPr/>
        </p:nvSpPr>
        <p:spPr>
          <a:xfrm>
            <a:off x="804672" y="1389888"/>
            <a:ext cx="777240" cy="786384"/>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3 min</a:t>
            </a:r>
            <a:endParaRPr lang="en-US" sz="1600" dirty="0"/>
          </a:p>
        </p:txBody>
      </p:sp>
      <p:sp>
        <p:nvSpPr>
          <p:cNvPr id="10" name="Text 8"/>
          <p:cNvSpPr txBox="1"/>
          <p:nvPr/>
        </p:nvSpPr>
        <p:spPr>
          <a:xfrm>
            <a:off x="1664208" y="1517904"/>
            <a:ext cx="4020160" cy="274320"/>
          </a:xfrm>
          <a:prstGeom prst="rect">
            <a:avLst/>
          </a:prstGeom>
          <a:noFill/>
          <a:ln/>
        </p:spPr>
        <p:txBody>
          <a:bodyPr wrap="square" lIns="0" tIns="0" rIns="0" bIns="0" rtlCol="0" anchor="ctr"/>
          <a:lstStyle/>
          <a:p>
            <a:pPr indent="0" marL="0">
              <a:buNone/>
            </a:pPr>
            <a:r>
              <a:rPr lang="en-US" sz="1450" b="1" dirty="0">
                <a:solidFill>
                  <a:srgbClr val="14171A"/>
                </a:solidFill>
                <a:latin typeface="Cambria" pitchFamily="34" charset="0"/>
                <a:ea typeface="Cambria" pitchFamily="34" charset="-122"/>
                <a:cs typeface="Cambria" pitchFamily="34" charset="-120"/>
              </a:rPr>
              <a:t>Choisir l'agent</a:t>
            </a:r>
            <a:endParaRPr lang="en-US" sz="1450" dirty="0"/>
          </a:p>
        </p:txBody>
      </p:sp>
      <p:sp>
        <p:nvSpPr>
          <p:cNvPr id="11" name="Text 9"/>
          <p:cNvSpPr txBox="1"/>
          <p:nvPr/>
        </p:nvSpPr>
        <p:spPr>
          <a:xfrm>
            <a:off x="1664208" y="1810512"/>
            <a:ext cx="4020160" cy="292608"/>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Un seul, celui qui sert dès mardi.</a:t>
            </a:r>
            <a:endParaRPr lang="en-US" sz="1100" dirty="0"/>
          </a:p>
        </p:txBody>
      </p:sp>
      <p:sp>
        <p:nvSpPr>
          <p:cNvPr id="12" name="Shape 10"/>
          <p:cNvSpPr/>
          <p:nvPr/>
        </p:nvSpPr>
        <p:spPr>
          <a:xfrm>
            <a:off x="566928" y="2194560"/>
            <a:ext cx="5346040" cy="786384"/>
          </a:xfrm>
          <a:prstGeom prst="roundRect">
            <a:avLst>
              <a:gd name="adj" fmla="val 9302"/>
            </a:avLst>
          </a:prstGeom>
          <a:solidFill>
            <a:srgbClr val="EFF1F2"/>
          </a:solidFill>
          <a:ln/>
        </p:spPr>
      </p:sp>
      <p:sp>
        <p:nvSpPr>
          <p:cNvPr id="13" name="Text 11"/>
          <p:cNvSpPr txBox="1"/>
          <p:nvPr/>
        </p:nvSpPr>
        <p:spPr>
          <a:xfrm>
            <a:off x="804672" y="2194560"/>
            <a:ext cx="777240" cy="786384"/>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5 min</a:t>
            </a:r>
            <a:endParaRPr lang="en-US" sz="1600" dirty="0"/>
          </a:p>
        </p:txBody>
      </p:sp>
      <p:sp>
        <p:nvSpPr>
          <p:cNvPr id="14" name="Text 12"/>
          <p:cNvSpPr txBox="1"/>
          <p:nvPr/>
        </p:nvSpPr>
        <p:spPr>
          <a:xfrm>
            <a:off x="1664208" y="2322576"/>
            <a:ext cx="4020160" cy="274320"/>
          </a:xfrm>
          <a:prstGeom prst="rect">
            <a:avLst/>
          </a:prstGeom>
          <a:noFill/>
          <a:ln/>
        </p:spPr>
        <p:txBody>
          <a:bodyPr wrap="square" lIns="0" tIns="0" rIns="0" bIns="0" rtlCol="0" anchor="ctr"/>
          <a:lstStyle/>
          <a:p>
            <a:pPr indent="0" marL="0">
              <a:buNone/>
            </a:pPr>
            <a:r>
              <a:rPr lang="en-US" sz="1450" b="1" dirty="0">
                <a:solidFill>
                  <a:srgbClr val="14171A"/>
                </a:solidFill>
                <a:latin typeface="Cambria" pitchFamily="34" charset="0"/>
                <a:ea typeface="Cambria" pitchFamily="34" charset="-122"/>
                <a:cs typeface="Cambria" pitchFamily="34" charset="-120"/>
              </a:rPr>
              <a:t>Écrire les cinq blocs</a:t>
            </a:r>
            <a:endParaRPr lang="en-US" sz="1450" dirty="0"/>
          </a:p>
        </p:txBody>
      </p:sp>
      <p:sp>
        <p:nvSpPr>
          <p:cNvPr id="15" name="Text 13"/>
          <p:cNvSpPr txBox="1"/>
          <p:nvPr/>
        </p:nvSpPr>
        <p:spPr>
          <a:xfrm>
            <a:off x="1664208" y="2615184"/>
            <a:ext cx="4020160" cy="292608"/>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Ensemble, à l'écran, avec leurs mots.</a:t>
            </a:r>
            <a:endParaRPr lang="en-US" sz="1100" dirty="0"/>
          </a:p>
        </p:txBody>
      </p:sp>
      <p:sp>
        <p:nvSpPr>
          <p:cNvPr id="16" name="Shape 14"/>
          <p:cNvSpPr/>
          <p:nvPr/>
        </p:nvSpPr>
        <p:spPr>
          <a:xfrm>
            <a:off x="566928" y="2999232"/>
            <a:ext cx="5346040" cy="786384"/>
          </a:xfrm>
          <a:prstGeom prst="roundRect">
            <a:avLst>
              <a:gd name="adj" fmla="val 9302"/>
            </a:avLst>
          </a:prstGeom>
          <a:solidFill>
            <a:srgbClr val="EFF1F2"/>
          </a:solidFill>
          <a:ln/>
        </p:spPr>
      </p:sp>
      <p:sp>
        <p:nvSpPr>
          <p:cNvPr id="17" name="Text 15"/>
          <p:cNvSpPr txBox="1"/>
          <p:nvPr/>
        </p:nvSpPr>
        <p:spPr>
          <a:xfrm>
            <a:off x="804672" y="2999232"/>
            <a:ext cx="777240" cy="786384"/>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5 min</a:t>
            </a:r>
            <a:endParaRPr lang="en-US" sz="1600" dirty="0"/>
          </a:p>
        </p:txBody>
      </p:sp>
      <p:sp>
        <p:nvSpPr>
          <p:cNvPr id="18" name="Text 16"/>
          <p:cNvSpPr txBox="1"/>
          <p:nvPr/>
        </p:nvSpPr>
        <p:spPr>
          <a:xfrm>
            <a:off x="1664208" y="3127248"/>
            <a:ext cx="4020160" cy="274320"/>
          </a:xfrm>
          <a:prstGeom prst="rect">
            <a:avLst/>
          </a:prstGeom>
          <a:noFill/>
          <a:ln/>
        </p:spPr>
        <p:txBody>
          <a:bodyPr wrap="square" lIns="0" tIns="0" rIns="0" bIns="0" rtlCol="0" anchor="ctr"/>
          <a:lstStyle/>
          <a:p>
            <a:pPr indent="0" marL="0">
              <a:buNone/>
            </a:pPr>
            <a:r>
              <a:rPr lang="en-US" sz="1450" b="1" dirty="0">
                <a:solidFill>
                  <a:srgbClr val="14171A"/>
                </a:solidFill>
                <a:latin typeface="Cambria" pitchFamily="34" charset="0"/>
                <a:ea typeface="Cambria" pitchFamily="34" charset="-122"/>
                <a:cs typeface="Cambria" pitchFamily="34" charset="-120"/>
              </a:rPr>
              <a:t>Déposer les documents</a:t>
            </a:r>
            <a:endParaRPr lang="en-US" sz="1450" dirty="0"/>
          </a:p>
        </p:txBody>
      </p:sp>
      <p:sp>
        <p:nvSpPr>
          <p:cNvPr id="19" name="Text 17"/>
          <p:cNvSpPr txBox="1"/>
          <p:nvPr/>
        </p:nvSpPr>
        <p:spPr>
          <a:xfrm>
            <a:off x="1664208" y="3419856"/>
            <a:ext cx="4020160" cy="292608"/>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Trois à cinq documents réels de l'agence.</a:t>
            </a:r>
            <a:endParaRPr lang="en-US" sz="1100" dirty="0"/>
          </a:p>
        </p:txBody>
      </p:sp>
      <p:sp>
        <p:nvSpPr>
          <p:cNvPr id="20" name="Shape 18"/>
          <p:cNvSpPr/>
          <p:nvPr/>
        </p:nvSpPr>
        <p:spPr>
          <a:xfrm>
            <a:off x="566928" y="3803904"/>
            <a:ext cx="5346040" cy="786384"/>
          </a:xfrm>
          <a:prstGeom prst="roundRect">
            <a:avLst>
              <a:gd name="adj" fmla="val 9302"/>
            </a:avLst>
          </a:prstGeom>
          <a:solidFill>
            <a:srgbClr val="F6E7E0"/>
          </a:solidFill>
          <a:ln/>
        </p:spPr>
      </p:sp>
      <p:sp>
        <p:nvSpPr>
          <p:cNvPr id="21" name="Text 19"/>
          <p:cNvSpPr txBox="1"/>
          <p:nvPr/>
        </p:nvSpPr>
        <p:spPr>
          <a:xfrm>
            <a:off x="804672" y="3803904"/>
            <a:ext cx="777240" cy="786384"/>
          </a:xfrm>
          <a:prstGeom prst="rect">
            <a:avLst/>
          </a:prstGeom>
          <a:noFill/>
          <a:ln/>
        </p:spPr>
        <p:txBody>
          <a:bodyPr wrap="square" lIns="0" tIns="0" rIns="0" bIns="0" rtlCol="0" anchor="ctr"/>
          <a:lstStyle/>
          <a:p>
            <a:pPr indent="0" marL="0">
              <a:buNone/>
            </a:pPr>
            <a:r>
              <a:rPr lang="en-US" sz="1600" b="1" dirty="0">
                <a:solidFill>
                  <a:srgbClr val="C0542A"/>
                </a:solidFill>
                <a:latin typeface="Cambria" pitchFamily="34" charset="0"/>
                <a:ea typeface="Cambria" pitchFamily="34" charset="-122"/>
                <a:cs typeface="Cambria" pitchFamily="34" charset="-120"/>
              </a:rPr>
              <a:t>5 min</a:t>
            </a:r>
            <a:endParaRPr lang="en-US" sz="1600" dirty="0"/>
          </a:p>
        </p:txBody>
      </p:sp>
      <p:sp>
        <p:nvSpPr>
          <p:cNvPr id="22" name="Text 20"/>
          <p:cNvSpPr txBox="1"/>
          <p:nvPr/>
        </p:nvSpPr>
        <p:spPr>
          <a:xfrm>
            <a:off x="1664208" y="3931920"/>
            <a:ext cx="4020160" cy="274320"/>
          </a:xfrm>
          <a:prstGeom prst="rect">
            <a:avLst/>
          </a:prstGeom>
          <a:noFill/>
          <a:ln/>
        </p:spPr>
        <p:txBody>
          <a:bodyPr wrap="square" lIns="0" tIns="0" rIns="0" bIns="0" rtlCol="0" anchor="ctr"/>
          <a:lstStyle/>
          <a:p>
            <a:pPr indent="0" marL="0">
              <a:buNone/>
            </a:pPr>
            <a:r>
              <a:rPr lang="en-US" sz="1450" b="1" dirty="0">
                <a:solidFill>
                  <a:srgbClr val="14171A"/>
                </a:solidFill>
                <a:latin typeface="Cambria" pitchFamily="34" charset="0"/>
                <a:ea typeface="Cambria" pitchFamily="34" charset="-122"/>
                <a:cs typeface="Cambria" pitchFamily="34" charset="-120"/>
              </a:rPr>
              <a:t>Le tester sur un vrai cas</a:t>
            </a:r>
            <a:endParaRPr lang="en-US" sz="1450" dirty="0"/>
          </a:p>
        </p:txBody>
      </p:sp>
      <p:sp>
        <p:nvSpPr>
          <p:cNvPr id="23" name="Text 21"/>
          <p:cNvSpPr txBox="1"/>
          <p:nvPr/>
        </p:nvSpPr>
        <p:spPr>
          <a:xfrm>
            <a:off x="1664208" y="4224528"/>
            <a:ext cx="4020160" cy="292608"/>
          </a:xfrm>
          <a:prstGeom prst="rect">
            <a:avLst/>
          </a:prstGeom>
          <a:noFill/>
          <a:ln/>
        </p:spPr>
        <p:txBody>
          <a:bodyPr wrap="square" lIns="0" tIns="0" rIns="0" bIns="0" rtlCol="0" anchor="ctr"/>
          <a:lstStyle/>
          <a:p>
            <a:pPr indent="0" marL="0">
              <a:buNone/>
            </a:pPr>
            <a:r>
              <a:rPr lang="en-US" sz="1100" dirty="0">
                <a:solidFill>
                  <a:srgbClr val="8A4A34"/>
                </a:solidFill>
                <a:latin typeface="Calibri" pitchFamily="34" charset="0"/>
                <a:ea typeface="Calibri" pitchFamily="34" charset="-122"/>
                <a:cs typeface="Calibri" pitchFamily="34" charset="-120"/>
              </a:rPr>
              <a:t>Une note d'intention réellement en cours.</a:t>
            </a:r>
            <a:endParaRPr lang="en-US" sz="1100" dirty="0"/>
          </a:p>
        </p:txBody>
      </p:sp>
      <p:sp>
        <p:nvSpPr>
          <p:cNvPr id="24" name="Shape 22"/>
          <p:cNvSpPr/>
          <p:nvPr/>
        </p:nvSpPr>
        <p:spPr>
          <a:xfrm>
            <a:off x="566928" y="4608576"/>
            <a:ext cx="5346040" cy="786384"/>
          </a:xfrm>
          <a:prstGeom prst="roundRect">
            <a:avLst>
              <a:gd name="adj" fmla="val 9302"/>
            </a:avLst>
          </a:prstGeom>
          <a:solidFill>
            <a:srgbClr val="EFF1F2"/>
          </a:solidFill>
          <a:ln/>
        </p:spPr>
      </p:sp>
      <p:sp>
        <p:nvSpPr>
          <p:cNvPr id="25" name="Text 23"/>
          <p:cNvSpPr txBox="1"/>
          <p:nvPr/>
        </p:nvSpPr>
        <p:spPr>
          <a:xfrm>
            <a:off x="804672" y="4608576"/>
            <a:ext cx="777240" cy="786384"/>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2 min</a:t>
            </a:r>
            <a:endParaRPr lang="en-US" sz="1600" dirty="0"/>
          </a:p>
        </p:txBody>
      </p:sp>
      <p:sp>
        <p:nvSpPr>
          <p:cNvPr id="26" name="Text 24"/>
          <p:cNvSpPr txBox="1"/>
          <p:nvPr/>
        </p:nvSpPr>
        <p:spPr>
          <a:xfrm>
            <a:off x="1664208" y="4736592"/>
            <a:ext cx="4020160" cy="274320"/>
          </a:xfrm>
          <a:prstGeom prst="rect">
            <a:avLst/>
          </a:prstGeom>
          <a:noFill/>
          <a:ln/>
        </p:spPr>
        <p:txBody>
          <a:bodyPr wrap="square" lIns="0" tIns="0" rIns="0" bIns="0" rtlCol="0" anchor="ctr"/>
          <a:lstStyle/>
          <a:p>
            <a:pPr indent="0" marL="0">
              <a:buNone/>
            </a:pPr>
            <a:r>
              <a:rPr lang="en-US" sz="1450" b="1" dirty="0">
                <a:solidFill>
                  <a:srgbClr val="14171A"/>
                </a:solidFill>
                <a:latin typeface="Cambria" pitchFamily="34" charset="0"/>
                <a:ea typeface="Cambria" pitchFamily="34" charset="-122"/>
                <a:cs typeface="Cambria" pitchFamily="34" charset="-120"/>
              </a:rPr>
              <a:t>Corriger les instructions</a:t>
            </a:r>
            <a:endParaRPr lang="en-US" sz="1450" dirty="0"/>
          </a:p>
        </p:txBody>
      </p:sp>
      <p:sp>
        <p:nvSpPr>
          <p:cNvPr id="27" name="Text 25"/>
          <p:cNvSpPr txBox="1"/>
          <p:nvPr/>
        </p:nvSpPr>
        <p:spPr>
          <a:xfrm>
            <a:off x="1664208" y="5029200"/>
            <a:ext cx="4020160" cy="292608"/>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À partir de ce qui a raté au test.</a:t>
            </a:r>
            <a:endParaRPr lang="en-US" sz="1100" dirty="0"/>
          </a:p>
        </p:txBody>
      </p:sp>
      <p:sp>
        <p:nvSpPr>
          <p:cNvPr id="28" name="Shape 26"/>
          <p:cNvSpPr/>
          <p:nvPr/>
        </p:nvSpPr>
        <p:spPr>
          <a:xfrm>
            <a:off x="6278728" y="1389888"/>
            <a:ext cx="5346040" cy="2286000"/>
          </a:xfrm>
          <a:prstGeom prst="roundRect">
            <a:avLst>
              <a:gd name="adj" fmla="val 3200"/>
            </a:avLst>
          </a:prstGeom>
          <a:solidFill>
            <a:srgbClr val="EFF1F2"/>
          </a:solidFill>
          <a:ln/>
        </p:spPr>
      </p:sp>
      <p:sp>
        <p:nvSpPr>
          <p:cNvPr id="29" name="Text 27"/>
          <p:cNvSpPr txBox="1"/>
          <p:nvPr/>
        </p:nvSpPr>
        <p:spPr>
          <a:xfrm>
            <a:off x="65530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LES DOCUMENTS À DÉPOSER</a:t>
            </a:r>
            <a:endParaRPr lang="en-US" sz="1000" dirty="0"/>
          </a:p>
        </p:txBody>
      </p:sp>
      <p:sp>
        <p:nvSpPr>
          <p:cNvPr id="30" name="Text 28"/>
          <p:cNvSpPr txBox="1"/>
          <p:nvPr/>
        </p:nvSpPr>
        <p:spPr>
          <a:xfrm>
            <a:off x="6553048" y="1865376"/>
            <a:ext cx="4797400" cy="16916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Deux à trois notes d'intention déjà livrées — les meilleures, pas les dernières</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Un descriptif ou un CCTP type de l'agence</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La plaquette ou la présentation de l'agence</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Un mail à une MOA, représentatif du ton</a:t>
            </a:r>
            <a:endParaRPr lang="en-US" sz="1150" dirty="0"/>
          </a:p>
          <a:p>
            <a:pPr marL="342900" indent="-342900">
              <a:spcAft>
                <a:spcPts val="700"/>
              </a:spcAft>
              <a:buSzPct val="100000"/>
              <a:buChar char="–"/>
            </a:pPr>
            <a:r>
              <a:rPr lang="en-US" sz="1150" dirty="0">
                <a:solidFill>
                  <a:srgbClr val="44555E"/>
                </a:solidFill>
                <a:latin typeface="Calibri" pitchFamily="34" charset="0"/>
                <a:ea typeface="Calibri" pitchFamily="34" charset="-122"/>
                <a:cs typeface="Calibri" pitchFamily="34" charset="-120"/>
              </a:rPr>
              <a:t>La liste des mots bannis, écrite pendant l'atelier</a:t>
            </a:r>
            <a:endParaRPr lang="en-US" sz="1150" dirty="0"/>
          </a:p>
        </p:txBody>
      </p:sp>
      <p:sp>
        <p:nvSpPr>
          <p:cNvPr id="31" name="Shape 29"/>
          <p:cNvSpPr/>
          <p:nvPr/>
        </p:nvSpPr>
        <p:spPr>
          <a:xfrm>
            <a:off x="6278728" y="3803904"/>
            <a:ext cx="5346040" cy="1700784"/>
          </a:xfrm>
          <a:prstGeom prst="roundRect">
            <a:avLst>
              <a:gd name="adj" fmla="val 4301"/>
            </a:avLst>
          </a:prstGeom>
          <a:solidFill>
            <a:srgbClr val="14171A"/>
          </a:solidFill>
          <a:ln/>
        </p:spPr>
      </p:sp>
      <p:sp>
        <p:nvSpPr>
          <p:cNvPr id="32" name="Text 30"/>
          <p:cNvSpPr txBox="1"/>
          <p:nvPr/>
        </p:nvSpPr>
        <p:spPr>
          <a:xfrm>
            <a:off x="6553048" y="3986784"/>
            <a:ext cx="4797400" cy="237744"/>
          </a:xfrm>
          <a:prstGeom prst="rect">
            <a:avLst/>
          </a:prstGeom>
          <a:noFill/>
          <a:ln/>
        </p:spPr>
        <p:txBody>
          <a:bodyPr wrap="square" lIns="0" tIns="0" rIns="0" bIns="0" rtlCol="0" anchor="ctr"/>
          <a:lstStyle/>
          <a:p>
            <a:pPr indent="0" marL="0">
              <a:buNone/>
            </a:pPr>
            <a:r>
              <a:rPr lang="en-US" sz="1000" b="1" spc="120" kern="0" dirty="0">
                <a:solidFill>
                  <a:srgbClr val="C0542A"/>
                </a:solidFill>
                <a:latin typeface="Calibri" pitchFamily="34" charset="0"/>
                <a:ea typeface="Calibri" pitchFamily="34" charset="-122"/>
                <a:cs typeface="Calibri" pitchFamily="34" charset="-120"/>
              </a:rPr>
              <a:t>SORTIE ATTENDUE</a:t>
            </a:r>
            <a:endParaRPr lang="en-US" sz="1000" dirty="0"/>
          </a:p>
        </p:txBody>
      </p:sp>
      <p:sp>
        <p:nvSpPr>
          <p:cNvPr id="33" name="Text 31"/>
          <p:cNvSpPr txBox="1"/>
          <p:nvPr/>
        </p:nvSpPr>
        <p:spPr>
          <a:xfrm>
            <a:off x="6553048" y="4279392"/>
            <a:ext cx="4797400" cy="1097280"/>
          </a:xfrm>
          <a:prstGeom prst="rect">
            <a:avLst/>
          </a:prstGeom>
          <a:noFill/>
          <a:ln/>
        </p:spPr>
        <p:txBody>
          <a:bodyPr wrap="square" lIns="0" tIns="0" rIns="0" bIns="0" rtlCol="0" anchor="t"/>
          <a:lstStyle/>
          <a:p>
            <a:pPr indent="0" marL="0">
              <a:lnSpc>
                <a:spcPct val="114000"/>
              </a:lnSpc>
              <a:buNone/>
            </a:pPr>
            <a:r>
              <a:rPr lang="en-US" sz="1150" dirty="0">
                <a:solidFill>
                  <a:srgbClr val="C8D0D4"/>
                </a:solidFill>
                <a:latin typeface="Calibri" pitchFamily="34" charset="0"/>
                <a:ea typeface="Calibri" pitchFamily="34" charset="-122"/>
                <a:cs typeface="Calibri" pitchFamily="34" charset="-120"/>
              </a:rPr>
              <a:t>Leur agent tourne avant qu'ils quittent la salle, et il a produit au moins un texte qu'ils garderaient.</a:t>
            </a:r>
            <a:endParaRPr lang="en-US" sz="1150" dirty="0"/>
          </a:p>
          <a:p>
            <a:pPr indent="0" marL="0">
              <a:lnSpc>
                <a:spcPct val="114000"/>
              </a:lnSpc>
              <a:buNone/>
            </a:pPr>
            <a:endParaRPr lang="en-US" sz="1150" dirty="0"/>
          </a:p>
          <a:p>
            <a:pPr indent="0" marL="0">
              <a:lnSpc>
                <a:spcPct val="114000"/>
              </a:lnSpc>
              <a:buNone/>
            </a:pPr>
            <a:r>
              <a:rPr lang="en-US" sz="1150" dirty="0">
                <a:solidFill>
                  <a:srgbClr val="C8D0D4"/>
                </a:solidFill>
                <a:latin typeface="Calibri" pitchFamily="34" charset="0"/>
                <a:ea typeface="Calibri" pitchFamily="34" charset="-122"/>
                <a:cs typeface="Calibri" pitchFamily="34" charset="-120"/>
              </a:rPr>
              <a:t>C'est le livrable numéro 3 du programme : « votre agent, opérationnel dès le lendemain ». Il doit être vrai au sens strict.</a:t>
            </a:r>
            <a:endParaRPr lang="en-US" sz="1150" dirty="0"/>
          </a:p>
        </p:txBody>
      </p:sp>
      <p:sp>
        <p:nvSpPr>
          <p:cNvPr id="34" name="Shape 32"/>
          <p:cNvSpPr/>
          <p:nvPr/>
        </p:nvSpPr>
        <p:spPr>
          <a:xfrm>
            <a:off x="566928" y="5632704"/>
            <a:ext cx="11057839" cy="603504"/>
          </a:xfrm>
          <a:prstGeom prst="roundRect">
            <a:avLst>
              <a:gd name="adj" fmla="val 12121"/>
            </a:avLst>
          </a:prstGeom>
          <a:solidFill>
            <a:srgbClr val="F6E7E0"/>
          </a:solidFill>
          <a:ln/>
        </p:spPr>
      </p:sp>
      <p:sp>
        <p:nvSpPr>
          <p:cNvPr id="35" name="Shape 33"/>
          <p:cNvSpPr/>
          <p:nvPr/>
        </p:nvSpPr>
        <p:spPr>
          <a:xfrm>
            <a:off x="786384" y="5788152"/>
            <a:ext cx="603504" cy="292608"/>
          </a:xfrm>
          <a:prstGeom prst="roundRect">
            <a:avLst>
              <a:gd name="adj" fmla="val 21875"/>
            </a:avLst>
          </a:prstGeom>
          <a:solidFill>
            <a:srgbClr val="C0542A"/>
          </a:solidFill>
          <a:ln/>
        </p:spPr>
      </p:sp>
      <p:sp>
        <p:nvSpPr>
          <p:cNvPr id="36" name="Text 34"/>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7" name="Text 35"/>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Ce sont les documents qui font la valeur, pas les instructions. Un agent sans documents n'est qu'un prompt un peu long. Si le temps manque, sacrifiez l'étape 5, jamais l'étape 3.</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9418320" y="320040"/>
            <a:ext cx="2377440" cy="2377440"/>
          </a:xfrm>
          <a:prstGeom prst="rect">
            <a:avLst/>
          </a:prstGeom>
          <a:noFill/>
          <a:ln/>
        </p:spPr>
        <p:txBody>
          <a:bodyPr wrap="square" lIns="0" tIns="0" rIns="0" bIns="0" rtlCol="0" anchor="ctr"/>
          <a:lstStyle/>
          <a:p>
            <a:pPr algn="ctr" indent="0" marL="0">
              <a:buNone/>
            </a:pPr>
            <a:r>
              <a:rPr lang="en-US" sz="15000" b="1" dirty="0">
                <a:solidFill>
                  <a:srgbClr val="1F252A"/>
                </a:solidFill>
                <a:latin typeface="Cambria" pitchFamily="34" charset="0"/>
                <a:ea typeface="Cambria" pitchFamily="34" charset="-122"/>
                <a:cs typeface="Cambria" pitchFamily="34" charset="-120"/>
              </a:rPr>
              <a:t>6</a:t>
            </a:r>
            <a:endParaRPr lang="en-US" sz="15000" dirty="0"/>
          </a:p>
        </p:txBody>
      </p:sp>
      <p:sp>
        <p:nvSpPr>
          <p:cNvPr id="3" name="Text 1"/>
          <p:cNvSpPr txBox="1"/>
          <p:nvPr/>
        </p:nvSpPr>
        <p:spPr>
          <a:xfrm>
            <a:off x="566928" y="713232"/>
            <a:ext cx="8595360" cy="292608"/>
          </a:xfrm>
          <a:prstGeom prst="rect">
            <a:avLst/>
          </a:prstGeom>
          <a:noFill/>
          <a:ln/>
        </p:spPr>
        <p:txBody>
          <a:bodyPr wrap="square" lIns="0" tIns="0" rIns="0" bIns="0" rtlCol="0" anchor="ctr"/>
          <a:lstStyle/>
          <a:p>
            <a:pPr indent="0" marL="0">
              <a:buNone/>
            </a:pPr>
            <a:r>
              <a:rPr lang="en-US" sz="1200" b="1" spc="180" kern="0" dirty="0">
                <a:solidFill>
                  <a:srgbClr val="C0542A"/>
                </a:solidFill>
                <a:latin typeface="Calibri" pitchFamily="34" charset="0"/>
                <a:ea typeface="Calibri" pitchFamily="34" charset="-122"/>
                <a:cs typeface="Calibri" pitchFamily="34" charset="-120"/>
              </a:rPr>
              <a:t>02:50 → 03:00  ·  10 MINUTES</a:t>
            </a:r>
            <a:endParaRPr lang="en-US" sz="1200" dirty="0"/>
          </a:p>
        </p:txBody>
      </p:sp>
      <p:sp>
        <p:nvSpPr>
          <p:cNvPr id="4" name="Text 2"/>
          <p:cNvSpPr txBox="1"/>
          <p:nvPr/>
        </p:nvSpPr>
        <p:spPr>
          <a:xfrm>
            <a:off x="566928" y="1060704"/>
            <a:ext cx="8778240" cy="8686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Passage à l'échelle</a:t>
            </a:r>
            <a:endParaRPr lang="en-US" sz="4000" dirty="0"/>
          </a:p>
        </p:txBody>
      </p:sp>
      <p:sp>
        <p:nvSpPr>
          <p:cNvPr id="5" name="Text 3"/>
          <p:cNvSpPr txBox="1"/>
          <p:nvPr/>
        </p:nvSpPr>
        <p:spPr>
          <a:xfrm>
            <a:off x="566928" y="1956816"/>
            <a:ext cx="9692640" cy="384048"/>
          </a:xfrm>
          <a:prstGeom prst="rect">
            <a:avLst/>
          </a:prstGeom>
          <a:noFill/>
          <a:ln/>
        </p:spPr>
        <p:txBody>
          <a:bodyPr wrap="square" lIns="0" tIns="0" rIns="0" bIns="0" rtlCol="0" anchor="ctr"/>
          <a:lstStyle/>
          <a:p>
            <a:pPr indent="0" marL="0">
              <a:buNone/>
            </a:pPr>
            <a:r>
              <a:rPr lang="en-US" sz="1350" i="1" dirty="0">
                <a:solidFill>
                  <a:srgbClr val="9AA6AC"/>
                </a:solidFill>
                <a:latin typeface="Calibri" pitchFamily="34" charset="0"/>
                <a:ea typeface="Calibri" pitchFamily="34" charset="-122"/>
                <a:cs typeface="Calibri" pitchFamily="34" charset="-120"/>
              </a:rPr>
              <a:t>Ce qui transforme une bonne journée en changement de pratique.</a:t>
            </a:r>
            <a:endParaRPr lang="en-US" sz="135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9AA6AC"/>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9AA6AC"/>
                </a:solidFill>
                <a:latin typeface="Calibri" pitchFamily="34" charset="0"/>
                <a:ea typeface="Calibri" pitchFamily="34" charset="-122"/>
                <a:cs typeface="Calibri" pitchFamily="34" charset="-120"/>
              </a:rPr>
              <a:t>26</a:t>
            </a:r>
            <a:endParaRPr lang="en-US" sz="900" dirty="0"/>
          </a:p>
        </p:txBody>
      </p:sp>
      <p:sp>
        <p:nvSpPr>
          <p:cNvPr id="8" name="Shape 6"/>
          <p:cNvSpPr/>
          <p:nvPr/>
        </p:nvSpPr>
        <p:spPr>
          <a:xfrm>
            <a:off x="566928" y="3310128"/>
            <a:ext cx="3533546" cy="1444752"/>
          </a:xfrm>
          <a:prstGeom prst="roundRect">
            <a:avLst>
              <a:gd name="adj" fmla="val 5063"/>
            </a:avLst>
          </a:prstGeom>
          <a:solidFill>
            <a:srgbClr val="23292E"/>
          </a:solidFill>
          <a:ln/>
        </p:spPr>
      </p:sp>
      <p:sp>
        <p:nvSpPr>
          <p:cNvPr id="9" name="Text 7"/>
          <p:cNvSpPr txBox="1"/>
          <p:nvPr/>
        </p:nvSpPr>
        <p:spPr>
          <a:xfrm>
            <a:off x="804672" y="3511296"/>
            <a:ext cx="3058058" cy="329184"/>
          </a:xfrm>
          <a:prstGeom prst="rect">
            <a:avLst/>
          </a:prstGeom>
          <a:noFill/>
          <a:ln/>
        </p:spPr>
        <p:txBody>
          <a:bodyPr wrap="square" lIns="0" tIns="0" rIns="0" bIns="0" rtlCol="0" anchor="ctr"/>
          <a:lstStyle/>
          <a:p>
            <a:pPr indent="0" marL="0">
              <a:buNone/>
            </a:pPr>
            <a:r>
              <a:rPr lang="en-US" sz="1900" b="1" dirty="0">
                <a:solidFill>
                  <a:srgbClr val="C0542A"/>
                </a:solidFill>
                <a:latin typeface="Cambria" pitchFamily="34" charset="0"/>
                <a:ea typeface="Cambria" pitchFamily="34" charset="-122"/>
                <a:cs typeface="Cambria" pitchFamily="34" charset="-120"/>
              </a:rPr>
              <a:t>3 min</a:t>
            </a:r>
            <a:endParaRPr lang="en-US" sz="1900" dirty="0"/>
          </a:p>
        </p:txBody>
      </p:sp>
      <p:sp>
        <p:nvSpPr>
          <p:cNvPr id="10" name="Text 8"/>
          <p:cNvSpPr txBox="1"/>
          <p:nvPr/>
        </p:nvSpPr>
        <p:spPr>
          <a:xfrm>
            <a:off x="804672" y="3895344"/>
            <a:ext cx="3058058" cy="786384"/>
          </a:xfrm>
          <a:prstGeom prst="rect">
            <a:avLst/>
          </a:prstGeom>
          <a:noFill/>
          <a:ln/>
        </p:spPr>
        <p:txBody>
          <a:bodyPr wrap="square" lIns="0" tIns="0" rIns="0" bIns="0" rtlCol="0" anchor="t"/>
          <a:lstStyle/>
          <a:p>
            <a:pPr indent="0" marL="0">
              <a:lnSpc>
                <a:spcPct val="112000"/>
              </a:lnSpc>
              <a:buNone/>
            </a:pPr>
            <a:r>
              <a:rPr lang="en-US" sz="1200" dirty="0">
                <a:solidFill>
                  <a:srgbClr val="9AA6AC"/>
                </a:solidFill>
                <a:latin typeface="Calibri" pitchFamily="34" charset="0"/>
                <a:ea typeface="Calibri" pitchFamily="34" charset="-122"/>
                <a:cs typeface="Calibri" pitchFamily="34" charset="-120"/>
              </a:rPr>
              <a:t>Quels outils garder, à quel budget</a:t>
            </a:r>
            <a:endParaRPr lang="en-US" sz="1200" dirty="0"/>
          </a:p>
        </p:txBody>
      </p:sp>
      <p:sp>
        <p:nvSpPr>
          <p:cNvPr id="11" name="Shape 9"/>
          <p:cNvSpPr/>
          <p:nvPr/>
        </p:nvSpPr>
        <p:spPr>
          <a:xfrm>
            <a:off x="4329074" y="3310128"/>
            <a:ext cx="3533546" cy="1444752"/>
          </a:xfrm>
          <a:prstGeom prst="roundRect">
            <a:avLst>
              <a:gd name="adj" fmla="val 5063"/>
            </a:avLst>
          </a:prstGeom>
          <a:solidFill>
            <a:srgbClr val="23292E"/>
          </a:solidFill>
          <a:ln/>
        </p:spPr>
      </p:sp>
      <p:sp>
        <p:nvSpPr>
          <p:cNvPr id="12" name="Text 10"/>
          <p:cNvSpPr txBox="1"/>
          <p:nvPr/>
        </p:nvSpPr>
        <p:spPr>
          <a:xfrm>
            <a:off x="4566818" y="3511296"/>
            <a:ext cx="3058058" cy="329184"/>
          </a:xfrm>
          <a:prstGeom prst="rect">
            <a:avLst/>
          </a:prstGeom>
          <a:noFill/>
          <a:ln/>
        </p:spPr>
        <p:txBody>
          <a:bodyPr wrap="square" lIns="0" tIns="0" rIns="0" bIns="0" rtlCol="0" anchor="ctr"/>
          <a:lstStyle/>
          <a:p>
            <a:pPr indent="0" marL="0">
              <a:buNone/>
            </a:pPr>
            <a:r>
              <a:rPr lang="en-US" sz="1900" b="1" dirty="0">
                <a:solidFill>
                  <a:srgbClr val="C0542A"/>
                </a:solidFill>
                <a:latin typeface="Cambria" pitchFamily="34" charset="0"/>
                <a:ea typeface="Cambria" pitchFamily="34" charset="-122"/>
                <a:cs typeface="Cambria" pitchFamily="34" charset="-120"/>
              </a:rPr>
              <a:t>4 min</a:t>
            </a:r>
            <a:endParaRPr lang="en-US" sz="1900" dirty="0"/>
          </a:p>
        </p:txBody>
      </p:sp>
      <p:sp>
        <p:nvSpPr>
          <p:cNvPr id="13" name="Text 11"/>
          <p:cNvSpPr txBox="1"/>
          <p:nvPr/>
        </p:nvSpPr>
        <p:spPr>
          <a:xfrm>
            <a:off x="4566818" y="3895344"/>
            <a:ext cx="3058058" cy="786384"/>
          </a:xfrm>
          <a:prstGeom prst="rect">
            <a:avLst/>
          </a:prstGeom>
          <a:noFill/>
          <a:ln/>
        </p:spPr>
        <p:txBody>
          <a:bodyPr wrap="square" lIns="0" tIns="0" rIns="0" bIns="0" rtlCol="0" anchor="t"/>
          <a:lstStyle/>
          <a:p>
            <a:pPr indent="0" marL="0">
              <a:lnSpc>
                <a:spcPct val="112000"/>
              </a:lnSpc>
              <a:buNone/>
            </a:pPr>
            <a:r>
              <a:rPr lang="en-US" sz="1200" dirty="0">
                <a:solidFill>
                  <a:srgbClr val="9AA6AC"/>
                </a:solidFill>
                <a:latin typeface="Calibri" pitchFamily="34" charset="0"/>
                <a:ea typeface="Calibri" pitchFamily="34" charset="-122"/>
                <a:cs typeface="Calibri" pitchFamily="34" charset="-120"/>
              </a:rPr>
              <a:t>Le plan de démarrage sur trente jours</a:t>
            </a:r>
            <a:endParaRPr lang="en-US" sz="1200" dirty="0"/>
          </a:p>
        </p:txBody>
      </p:sp>
      <p:sp>
        <p:nvSpPr>
          <p:cNvPr id="14" name="Shape 12"/>
          <p:cNvSpPr/>
          <p:nvPr/>
        </p:nvSpPr>
        <p:spPr>
          <a:xfrm>
            <a:off x="8091221" y="3310128"/>
            <a:ext cx="3533546" cy="1444752"/>
          </a:xfrm>
          <a:prstGeom prst="roundRect">
            <a:avLst>
              <a:gd name="adj" fmla="val 5063"/>
            </a:avLst>
          </a:prstGeom>
          <a:solidFill>
            <a:srgbClr val="23292E"/>
          </a:solidFill>
          <a:ln/>
        </p:spPr>
      </p:sp>
      <p:sp>
        <p:nvSpPr>
          <p:cNvPr id="15" name="Text 13"/>
          <p:cNvSpPr txBox="1"/>
          <p:nvPr/>
        </p:nvSpPr>
        <p:spPr>
          <a:xfrm>
            <a:off x="8328965" y="3511296"/>
            <a:ext cx="3058058" cy="329184"/>
          </a:xfrm>
          <a:prstGeom prst="rect">
            <a:avLst/>
          </a:prstGeom>
          <a:noFill/>
          <a:ln/>
        </p:spPr>
        <p:txBody>
          <a:bodyPr wrap="square" lIns="0" tIns="0" rIns="0" bIns="0" rtlCol="0" anchor="ctr"/>
          <a:lstStyle/>
          <a:p>
            <a:pPr indent="0" marL="0">
              <a:buNone/>
            </a:pPr>
            <a:r>
              <a:rPr lang="en-US" sz="1900" b="1" dirty="0">
                <a:solidFill>
                  <a:srgbClr val="C0542A"/>
                </a:solidFill>
                <a:latin typeface="Cambria" pitchFamily="34" charset="0"/>
                <a:ea typeface="Cambria" pitchFamily="34" charset="-122"/>
                <a:cs typeface="Cambria" pitchFamily="34" charset="-120"/>
              </a:rPr>
              <a:t>3 min</a:t>
            </a:r>
            <a:endParaRPr lang="en-US" sz="1900" dirty="0"/>
          </a:p>
        </p:txBody>
      </p:sp>
      <p:sp>
        <p:nvSpPr>
          <p:cNvPr id="16" name="Text 14"/>
          <p:cNvSpPr txBox="1"/>
          <p:nvPr/>
        </p:nvSpPr>
        <p:spPr>
          <a:xfrm>
            <a:off x="8328965" y="3895344"/>
            <a:ext cx="3058058" cy="786384"/>
          </a:xfrm>
          <a:prstGeom prst="rect">
            <a:avLst/>
          </a:prstGeom>
          <a:noFill/>
          <a:ln/>
        </p:spPr>
        <p:txBody>
          <a:bodyPr wrap="square" lIns="0" tIns="0" rIns="0" bIns="0" rtlCol="0" anchor="t"/>
          <a:lstStyle/>
          <a:p>
            <a:pPr indent="0" marL="0">
              <a:lnSpc>
                <a:spcPct val="112000"/>
              </a:lnSpc>
              <a:buNone/>
            </a:pPr>
            <a:r>
              <a:rPr lang="en-US" sz="1200" dirty="0">
                <a:solidFill>
                  <a:srgbClr val="9AA6AC"/>
                </a:solidFill>
                <a:latin typeface="Calibri" pitchFamily="34" charset="0"/>
                <a:ea typeface="Calibri" pitchFamily="34" charset="-122"/>
                <a:cs typeface="Calibri" pitchFamily="34" charset="-120"/>
              </a:rPr>
              <a:t>Ce qu'ils emportent, point par point</a:t>
            </a:r>
            <a:endParaRPr lang="en-US" sz="1200" dirty="0"/>
          </a:p>
        </p:txBody>
      </p:sp>
      <p:sp>
        <p:nvSpPr>
          <p:cNvPr id="17" name="Shape 15"/>
          <p:cNvSpPr/>
          <p:nvPr/>
        </p:nvSpPr>
        <p:spPr>
          <a:xfrm>
            <a:off x="566928" y="5632704"/>
            <a:ext cx="11057839" cy="603504"/>
          </a:xfrm>
          <a:prstGeom prst="roundRect">
            <a:avLst>
              <a:gd name="adj" fmla="val 12121"/>
            </a:avLst>
          </a:prstGeom>
          <a:solidFill>
            <a:srgbClr val="23292E"/>
          </a:solidFill>
          <a:ln/>
        </p:spPr>
      </p:sp>
      <p:sp>
        <p:nvSpPr>
          <p:cNvPr id="18" name="Shape 16"/>
          <p:cNvSpPr/>
          <p:nvPr/>
        </p:nvSpPr>
        <p:spPr>
          <a:xfrm>
            <a:off x="786384" y="5788152"/>
            <a:ext cx="603504" cy="292608"/>
          </a:xfrm>
          <a:prstGeom prst="roundRect">
            <a:avLst>
              <a:gd name="adj" fmla="val 21875"/>
            </a:avLst>
          </a:prstGeom>
          <a:solidFill>
            <a:srgbClr val="C0542A"/>
          </a:solidFill>
          <a:ln/>
        </p:spPr>
      </p:sp>
      <p:sp>
        <p:nvSpPr>
          <p:cNvPr id="19" name="Text 17"/>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0" name="Text 18"/>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C8D0D4"/>
                </a:solidFill>
                <a:latin typeface="Calibri" pitchFamily="34" charset="0"/>
                <a:ea typeface="Calibri" pitchFamily="34" charset="-122"/>
                <a:cs typeface="Calibri" pitchFamily="34" charset="-120"/>
              </a:rPr>
              <a:t>C'est aussi le moment de reprendre les questions de droits et de confidentialité que vous avez repoussées au cadrage. Vous leur aviez promis d'y revenir : tenez-le.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38383" y="384048"/>
            <a:ext cx="786384" cy="786384"/>
          </a:xfrm>
          <a:prstGeom prst="ellipse">
            <a:avLst/>
          </a:prstGeom>
          <a:solidFill>
            <a:srgbClr val="C0542A"/>
          </a:solidFill>
          <a:ln/>
        </p:spPr>
      </p:sp>
      <p:sp>
        <p:nvSpPr>
          <p:cNvPr id="3" name="Text 1"/>
          <p:cNvSpPr txBox="1"/>
          <p:nvPr/>
        </p:nvSpPr>
        <p:spPr>
          <a:xfrm>
            <a:off x="10838383" y="384048"/>
            <a:ext cx="786384" cy="7863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02:50</a:t>
            </a:r>
            <a:endParaRPr lang="en-US" sz="1300" dirty="0"/>
          </a:p>
        </p:txBody>
      </p:sp>
      <p:sp>
        <p:nvSpPr>
          <p:cNvPr id="4" name="Text 2"/>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LE DÉMARRAGE</a:t>
            </a:r>
            <a:endParaRPr lang="en-US" sz="1050" dirty="0"/>
          </a:p>
        </p:txBody>
      </p:sp>
      <p:sp>
        <p:nvSpPr>
          <p:cNvPr id="5" name="Text 3"/>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Quels outils garder, et le plan sur trente jours</a:t>
            </a:r>
            <a:endParaRPr lang="en-US" sz="2900" dirty="0"/>
          </a:p>
        </p:txBody>
      </p:sp>
      <p:sp>
        <p:nvSpPr>
          <p:cNvPr id="6" name="Text 4"/>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7" name="Text 5"/>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27</a:t>
            </a:r>
            <a:endParaRPr lang="en-US" sz="900" dirty="0"/>
          </a:p>
        </p:txBody>
      </p:sp>
      <p:sp>
        <p:nvSpPr>
          <p:cNvPr id="8" name="Shape 6"/>
          <p:cNvSpPr/>
          <p:nvPr/>
        </p:nvSpPr>
        <p:spPr>
          <a:xfrm>
            <a:off x="566928" y="1389888"/>
            <a:ext cx="5346040" cy="4114800"/>
          </a:xfrm>
          <a:prstGeom prst="roundRect">
            <a:avLst>
              <a:gd name="adj" fmla="val 1778"/>
            </a:avLst>
          </a:prstGeom>
          <a:solidFill>
            <a:srgbClr val="EFF1F2"/>
          </a:solidFill>
          <a:ln/>
        </p:spPr>
      </p:sp>
      <p:sp>
        <p:nvSpPr>
          <p:cNvPr id="9" name="Text 7"/>
          <p:cNvSpPr txBox="1"/>
          <p:nvPr/>
        </p:nvSpPr>
        <p:spPr>
          <a:xfrm>
            <a:off x="8412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LE BUDGET RÉEL</a:t>
            </a:r>
            <a:endParaRPr lang="en-US" sz="1000" dirty="0"/>
          </a:p>
        </p:txBody>
      </p:sp>
      <p:sp>
        <p:nvSpPr>
          <p:cNvPr id="10" name="Text 8"/>
          <p:cNvSpPr txBox="1"/>
          <p:nvPr/>
        </p:nvSpPr>
        <p:spPr>
          <a:xfrm>
            <a:off x="841248" y="1901952"/>
            <a:ext cx="4797400" cy="219456"/>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ChatGPT Plus</a:t>
            </a:r>
            <a:endParaRPr lang="en-US" sz="1200" dirty="0"/>
          </a:p>
        </p:txBody>
      </p:sp>
      <p:sp>
        <p:nvSpPr>
          <p:cNvPr id="11" name="Text 9"/>
          <p:cNvSpPr txBox="1"/>
          <p:nvPr/>
        </p:nvSpPr>
        <p:spPr>
          <a:xfrm>
            <a:off x="841248" y="2121408"/>
            <a:ext cx="4797400" cy="219456"/>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Image, itération, agent rendu  ·  ≈ 23 € / mois / personne</a:t>
            </a:r>
            <a:endParaRPr lang="en-US" sz="1100" dirty="0"/>
          </a:p>
        </p:txBody>
      </p:sp>
      <p:sp>
        <p:nvSpPr>
          <p:cNvPr id="12" name="Text 10"/>
          <p:cNvSpPr txBox="1"/>
          <p:nvPr/>
        </p:nvSpPr>
        <p:spPr>
          <a:xfrm>
            <a:off x="841248" y="2322576"/>
            <a:ext cx="4797400" cy="219456"/>
          </a:xfrm>
          <a:prstGeom prst="rect">
            <a:avLst/>
          </a:prstGeom>
          <a:noFill/>
          <a:ln/>
        </p:spPr>
        <p:txBody>
          <a:bodyPr wrap="square" lIns="0" tIns="0" rIns="0" bIns="0" rtlCol="0" anchor="ctr"/>
          <a:lstStyle/>
          <a:p>
            <a:pPr indent="0" marL="0">
              <a:buNone/>
            </a:pPr>
            <a:r>
              <a:rPr lang="en-US" sz="1100" b="1" dirty="0">
                <a:solidFill>
                  <a:srgbClr val="C0542A"/>
                </a:solidFill>
                <a:latin typeface="Calibri" pitchFamily="34" charset="0"/>
                <a:ea typeface="Calibri" pitchFamily="34" charset="-122"/>
                <a:cs typeface="Calibri" pitchFamily="34" charset="-120"/>
              </a:rPr>
              <a:t>Indispensable</a:t>
            </a:r>
            <a:endParaRPr lang="en-US" sz="1100" dirty="0"/>
          </a:p>
        </p:txBody>
      </p:sp>
      <p:sp>
        <p:nvSpPr>
          <p:cNvPr id="13" name="Text 11"/>
          <p:cNvSpPr txBox="1"/>
          <p:nvPr/>
        </p:nvSpPr>
        <p:spPr>
          <a:xfrm>
            <a:off x="841248" y="2670048"/>
            <a:ext cx="4797400" cy="219456"/>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Dreamina — Seedance</a:t>
            </a:r>
            <a:endParaRPr lang="en-US" sz="1200" dirty="0"/>
          </a:p>
        </p:txBody>
      </p:sp>
      <p:sp>
        <p:nvSpPr>
          <p:cNvPr id="14" name="Text 12"/>
          <p:cNvSpPr txBox="1"/>
          <p:nvPr/>
        </p:nvSpPr>
        <p:spPr>
          <a:xfrm>
            <a:off x="841248" y="2889504"/>
            <a:ext cx="4797400" cy="219456"/>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Vidéo courte, ponctuelle  ·  ≈ 10 à 25 € / mois, ou à la carte</a:t>
            </a:r>
            <a:endParaRPr lang="en-US" sz="1100" dirty="0"/>
          </a:p>
        </p:txBody>
      </p:sp>
      <p:sp>
        <p:nvSpPr>
          <p:cNvPr id="15" name="Text 13"/>
          <p:cNvSpPr txBox="1"/>
          <p:nvPr/>
        </p:nvSpPr>
        <p:spPr>
          <a:xfrm>
            <a:off x="841248" y="3090672"/>
            <a:ext cx="4797400" cy="219456"/>
          </a:xfrm>
          <a:prstGeom prst="rect">
            <a:avLst/>
          </a:prstGeom>
          <a:noFill/>
          <a:ln/>
        </p:spPr>
        <p:txBody>
          <a:bodyPr wrap="square" lIns="0" tIns="0" rIns="0" bIns="0" rtlCol="0" anchor="ctr"/>
          <a:lstStyle/>
          <a:p>
            <a:pPr indent="0" marL="0">
              <a:buNone/>
            </a:pPr>
            <a:r>
              <a:rPr lang="en-US" sz="1100" b="1" dirty="0">
                <a:solidFill>
                  <a:srgbClr val="44555E"/>
                </a:solidFill>
                <a:latin typeface="Calibri" pitchFamily="34" charset="0"/>
                <a:ea typeface="Calibri" pitchFamily="34" charset="-122"/>
                <a:cs typeface="Calibri" pitchFamily="34" charset="-120"/>
              </a:rPr>
              <a:t>Utile, à la demande</a:t>
            </a:r>
            <a:endParaRPr lang="en-US" sz="1100" dirty="0"/>
          </a:p>
        </p:txBody>
      </p:sp>
      <p:sp>
        <p:nvSpPr>
          <p:cNvPr id="16" name="Text 14"/>
          <p:cNvSpPr txBox="1"/>
          <p:nvPr/>
        </p:nvSpPr>
        <p:spPr>
          <a:xfrm>
            <a:off x="841248" y="3438144"/>
            <a:ext cx="4797400" cy="219456"/>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Claude Pro</a:t>
            </a:r>
            <a:endParaRPr lang="en-US" sz="1200" dirty="0"/>
          </a:p>
        </p:txBody>
      </p:sp>
      <p:sp>
        <p:nvSpPr>
          <p:cNvPr id="17" name="Text 15"/>
          <p:cNvSpPr txBox="1"/>
          <p:nvPr/>
        </p:nvSpPr>
        <p:spPr>
          <a:xfrm>
            <a:off x="841248" y="3657600"/>
            <a:ext cx="4797400" cy="219456"/>
          </a:xfrm>
          <a:prstGeom prst="rect">
            <a:avLst/>
          </a:prstGeom>
          <a:noFill/>
          <a:ln/>
        </p:spPr>
        <p:txBody>
          <a:bodyPr wrap="square" lIns="0" tIns="0" rIns="0" bIns="0" rtlCol="0" anchor="ctr"/>
          <a:lstStyle/>
          <a:p>
            <a:pPr indent="0" marL="0">
              <a:buNone/>
            </a:pPr>
            <a:r>
              <a:rPr lang="en-US" sz="1100" dirty="0">
                <a:solidFill>
                  <a:srgbClr val="44555E"/>
                </a:solidFill>
                <a:latin typeface="Calibri" pitchFamily="34" charset="0"/>
                <a:ea typeface="Calibri" pitchFamily="34" charset="-122"/>
                <a:cs typeface="Calibri" pitchFamily="34" charset="-120"/>
              </a:rPr>
              <a:t>Documents, notes, programmes  ·  ≈ 20 € / mois / personne</a:t>
            </a:r>
            <a:endParaRPr lang="en-US" sz="1100" dirty="0"/>
          </a:p>
        </p:txBody>
      </p:sp>
      <p:sp>
        <p:nvSpPr>
          <p:cNvPr id="18" name="Text 16"/>
          <p:cNvSpPr txBox="1"/>
          <p:nvPr/>
        </p:nvSpPr>
        <p:spPr>
          <a:xfrm>
            <a:off x="841248" y="3858768"/>
            <a:ext cx="4797400" cy="219456"/>
          </a:xfrm>
          <a:prstGeom prst="rect">
            <a:avLst/>
          </a:prstGeom>
          <a:noFill/>
          <a:ln/>
        </p:spPr>
        <p:txBody>
          <a:bodyPr wrap="square" lIns="0" tIns="0" rIns="0" bIns="0" rtlCol="0" anchor="ctr"/>
          <a:lstStyle/>
          <a:p>
            <a:pPr indent="0" marL="0">
              <a:buNone/>
            </a:pPr>
            <a:r>
              <a:rPr lang="en-US" sz="1100" b="1" dirty="0">
                <a:solidFill>
                  <a:srgbClr val="44555E"/>
                </a:solidFill>
                <a:latin typeface="Calibri" pitchFamily="34" charset="0"/>
                <a:ea typeface="Calibri" pitchFamily="34" charset="-122"/>
                <a:cs typeface="Calibri" pitchFamily="34" charset="-120"/>
              </a:rPr>
              <a:t>Si vous écrivez beaucoup</a:t>
            </a:r>
            <a:endParaRPr lang="en-US" sz="1100" dirty="0"/>
          </a:p>
        </p:txBody>
      </p:sp>
      <p:sp>
        <p:nvSpPr>
          <p:cNvPr id="19" name="Shape 17"/>
          <p:cNvSpPr/>
          <p:nvPr/>
        </p:nvSpPr>
        <p:spPr>
          <a:xfrm>
            <a:off x="841248" y="4261104"/>
            <a:ext cx="4797400" cy="658368"/>
          </a:xfrm>
          <a:prstGeom prst="roundRect">
            <a:avLst>
              <a:gd name="adj" fmla="val 11111"/>
            </a:avLst>
          </a:prstGeom>
          <a:solidFill>
            <a:srgbClr val="14171A"/>
          </a:solidFill>
          <a:ln/>
        </p:spPr>
      </p:sp>
      <p:sp>
        <p:nvSpPr>
          <p:cNvPr id="20" name="Text 18"/>
          <p:cNvSpPr txBox="1"/>
          <p:nvPr/>
        </p:nvSpPr>
        <p:spPr>
          <a:xfrm>
            <a:off x="1024128" y="4261104"/>
            <a:ext cx="443164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55 à 70 € / mois pour l'agence entière — à comparer à une demi-journée de perspectiviste.</a:t>
            </a:r>
            <a:endParaRPr lang="en-US" sz="1200" dirty="0"/>
          </a:p>
        </p:txBody>
      </p:sp>
      <p:sp>
        <p:nvSpPr>
          <p:cNvPr id="21" name="Text 19"/>
          <p:cNvSpPr txBox="1"/>
          <p:nvPr/>
        </p:nvSpPr>
        <p:spPr>
          <a:xfrm>
            <a:off x="841248" y="5029200"/>
            <a:ext cx="4797400" cy="384048"/>
          </a:xfrm>
          <a:prstGeom prst="rect">
            <a:avLst/>
          </a:prstGeom>
          <a:noFill/>
          <a:ln/>
        </p:spPr>
        <p:txBody>
          <a:bodyPr wrap="square" lIns="0" tIns="0" rIns="0" bIns="0" rtlCol="0" anchor="ctr"/>
          <a:lstStyle/>
          <a:p>
            <a:pPr indent="0" marL="0">
              <a:buNone/>
            </a:pPr>
            <a:r>
              <a:rPr lang="en-US" sz="1100" i="1" dirty="0">
                <a:solidFill>
                  <a:srgbClr val="78868D"/>
                </a:solidFill>
                <a:latin typeface="Calibri" pitchFamily="34" charset="0"/>
                <a:ea typeface="Calibri" pitchFamily="34" charset="-122"/>
                <a:cs typeface="Calibri" pitchFamily="34" charset="-120"/>
              </a:rPr>
              <a:t>On n'achète pas maintenant : les greffons de rendu spécial archi, Midjourney, les suites vidéo pro. À réévaluer dans six mois.</a:t>
            </a:r>
            <a:endParaRPr lang="en-US" sz="1100" dirty="0"/>
          </a:p>
        </p:txBody>
      </p:sp>
      <p:sp>
        <p:nvSpPr>
          <p:cNvPr id="22" name="Shape 20"/>
          <p:cNvSpPr/>
          <p:nvPr/>
        </p:nvSpPr>
        <p:spPr>
          <a:xfrm>
            <a:off x="6278728" y="1389888"/>
            <a:ext cx="5346040" cy="4114800"/>
          </a:xfrm>
          <a:prstGeom prst="roundRect">
            <a:avLst>
              <a:gd name="adj" fmla="val 1778"/>
            </a:avLst>
          </a:prstGeom>
          <a:solidFill>
            <a:srgbClr val="EFF1F2"/>
          </a:solidFill>
          <a:ln/>
        </p:spPr>
      </p:sp>
      <p:sp>
        <p:nvSpPr>
          <p:cNvPr id="23" name="Text 21"/>
          <p:cNvSpPr txBox="1"/>
          <p:nvPr/>
        </p:nvSpPr>
        <p:spPr>
          <a:xfrm>
            <a:off x="65530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LE PLAN SUR TRENTE JOURS</a:t>
            </a:r>
            <a:endParaRPr lang="en-US" sz="1000" dirty="0"/>
          </a:p>
        </p:txBody>
      </p:sp>
      <p:sp>
        <p:nvSpPr>
          <p:cNvPr id="24" name="Text 22"/>
          <p:cNvSpPr txBox="1"/>
          <p:nvPr/>
        </p:nvSpPr>
        <p:spPr>
          <a:xfrm>
            <a:off x="6553048" y="1901952"/>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Semaine 1 · Ancrer</a:t>
            </a:r>
            <a:endParaRPr lang="en-US" sz="1200" dirty="0"/>
          </a:p>
        </p:txBody>
      </p:sp>
      <p:sp>
        <p:nvSpPr>
          <p:cNvPr id="25" name="Text 23"/>
          <p:cNvSpPr txBox="1"/>
          <p:nvPr/>
        </p:nvSpPr>
        <p:spPr>
          <a:xfrm>
            <a:off x="6553048" y="2139696"/>
            <a:ext cx="4797400" cy="512064"/>
          </a:xfrm>
          <a:prstGeom prst="rect">
            <a:avLst/>
          </a:prstGeom>
          <a:noFill/>
          <a:ln/>
        </p:spPr>
        <p:txBody>
          <a:bodyPr wrap="square" lIns="0" tIns="0" rIns="0" bIns="0" rtlCol="0" anchor="t"/>
          <a:lstStyle/>
          <a:p>
            <a:pPr indent="0" marL="0">
              <a:lnSpc>
                <a:spcPct val="106000"/>
              </a:lnSpc>
              <a:buNone/>
            </a:pPr>
            <a:r>
              <a:rPr lang="en-US" sz="1100" dirty="0">
                <a:solidFill>
                  <a:srgbClr val="44555E"/>
                </a:solidFill>
                <a:latin typeface="Calibri" pitchFamily="34" charset="0"/>
                <a:ea typeface="Calibri" pitchFamily="34" charset="-122"/>
                <a:cs typeface="Calibri" pitchFamily="34" charset="-120"/>
              </a:rPr>
              <a:t>Une image par jour sur un projet réel, avec le contrôle de dérive. Quinze minutes suffisent. L'objectif est la méthode, pas le résultat.</a:t>
            </a:r>
            <a:endParaRPr lang="en-US" sz="1100" dirty="0"/>
          </a:p>
        </p:txBody>
      </p:sp>
      <p:sp>
        <p:nvSpPr>
          <p:cNvPr id="26" name="Text 24"/>
          <p:cNvSpPr txBox="1"/>
          <p:nvPr/>
        </p:nvSpPr>
        <p:spPr>
          <a:xfrm>
            <a:off x="6553048" y="2688336"/>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Semaine 2 · Industrialiser</a:t>
            </a:r>
            <a:endParaRPr lang="en-US" sz="1200" dirty="0"/>
          </a:p>
        </p:txBody>
      </p:sp>
      <p:sp>
        <p:nvSpPr>
          <p:cNvPr id="27" name="Text 25"/>
          <p:cNvSpPr txBox="1"/>
          <p:nvPr/>
        </p:nvSpPr>
        <p:spPr>
          <a:xfrm>
            <a:off x="6553048" y="2926080"/>
            <a:ext cx="4797400" cy="512064"/>
          </a:xfrm>
          <a:prstGeom prst="rect">
            <a:avLst/>
          </a:prstGeom>
          <a:noFill/>
          <a:ln/>
        </p:spPr>
        <p:txBody>
          <a:bodyPr wrap="square" lIns="0" tIns="0" rIns="0" bIns="0" rtlCol="0" anchor="t"/>
          <a:lstStyle/>
          <a:p>
            <a:pPr indent="0" marL="0">
              <a:lnSpc>
                <a:spcPct val="106000"/>
              </a:lnSpc>
              <a:buNone/>
            </a:pPr>
            <a:r>
              <a:rPr lang="en-US" sz="1100" dirty="0">
                <a:solidFill>
                  <a:srgbClr val="44555E"/>
                </a:solidFill>
                <a:latin typeface="Calibri" pitchFamily="34" charset="0"/>
                <a:ea typeface="Calibri" pitchFamily="34" charset="-122"/>
                <a:cs typeface="Calibri" pitchFamily="34" charset="-120"/>
              </a:rPr>
              <a:t>La bibliothèque de prompts de l'agence : un fichier partagé, un prompt par typologie, et le dossier de références matières.</a:t>
            </a:r>
            <a:endParaRPr lang="en-US" sz="1100" dirty="0"/>
          </a:p>
        </p:txBody>
      </p:sp>
      <p:sp>
        <p:nvSpPr>
          <p:cNvPr id="28" name="Text 26"/>
          <p:cNvSpPr txBox="1"/>
          <p:nvPr/>
        </p:nvSpPr>
        <p:spPr>
          <a:xfrm>
            <a:off x="6553048" y="3474720"/>
            <a:ext cx="4797400" cy="237744"/>
          </a:xfrm>
          <a:prstGeom prst="rect">
            <a:avLst/>
          </a:prstGeom>
          <a:noFill/>
          <a:ln/>
        </p:spPr>
        <p:txBody>
          <a:bodyPr wrap="square" lIns="0" tIns="0" rIns="0" bIns="0" rtlCol="0" anchor="ctr"/>
          <a:lstStyle/>
          <a:p>
            <a:pPr indent="0" marL="0">
              <a:buNone/>
            </a:pPr>
            <a:r>
              <a:rPr lang="en-US" sz="1200" b="1" dirty="0">
                <a:solidFill>
                  <a:srgbClr val="C0542A"/>
                </a:solidFill>
                <a:latin typeface="Calibri" pitchFamily="34" charset="0"/>
                <a:ea typeface="Calibri" pitchFamily="34" charset="-122"/>
                <a:cs typeface="Calibri" pitchFamily="34" charset="-120"/>
              </a:rPr>
              <a:t>Semaine 3 · Sortir</a:t>
            </a:r>
            <a:endParaRPr lang="en-US" sz="1200" dirty="0"/>
          </a:p>
        </p:txBody>
      </p:sp>
      <p:sp>
        <p:nvSpPr>
          <p:cNvPr id="29" name="Text 27"/>
          <p:cNvSpPr txBox="1"/>
          <p:nvPr/>
        </p:nvSpPr>
        <p:spPr>
          <a:xfrm>
            <a:off x="6553048" y="3712464"/>
            <a:ext cx="4797400" cy="512064"/>
          </a:xfrm>
          <a:prstGeom prst="rect">
            <a:avLst/>
          </a:prstGeom>
          <a:noFill/>
          <a:ln/>
        </p:spPr>
        <p:txBody>
          <a:bodyPr wrap="square" lIns="0" tIns="0" rIns="0" bIns="0" rtlCol="0" anchor="t"/>
          <a:lstStyle/>
          <a:p>
            <a:pPr indent="0" marL="0">
              <a:lnSpc>
                <a:spcPct val="106000"/>
              </a:lnSpc>
              <a:buNone/>
            </a:pPr>
            <a:r>
              <a:rPr lang="en-US" sz="1100" dirty="0">
                <a:solidFill>
                  <a:srgbClr val="8A4A34"/>
                </a:solidFill>
                <a:latin typeface="Calibri" pitchFamily="34" charset="0"/>
                <a:ea typeface="Calibri" pitchFamily="34" charset="-122"/>
                <a:cs typeface="Calibri" pitchFamily="34" charset="-120"/>
              </a:rPr>
              <a:t>Une image et un clip de six secondes sur un projet à communiquer. Passage réel devant un client. C'est le test de vérité.</a:t>
            </a:r>
            <a:endParaRPr lang="en-US" sz="1100" dirty="0"/>
          </a:p>
        </p:txBody>
      </p:sp>
      <p:sp>
        <p:nvSpPr>
          <p:cNvPr id="30" name="Text 28"/>
          <p:cNvSpPr txBox="1"/>
          <p:nvPr/>
        </p:nvSpPr>
        <p:spPr>
          <a:xfrm>
            <a:off x="6553048" y="4261104"/>
            <a:ext cx="4797400" cy="237744"/>
          </a:xfrm>
          <a:prstGeom prst="rect">
            <a:avLst/>
          </a:prstGeom>
          <a:noFill/>
          <a:ln/>
        </p:spPr>
        <p:txBody>
          <a:bodyPr wrap="square" lIns="0" tIns="0" rIns="0" bIns="0" rtlCol="0" anchor="ctr"/>
          <a:lstStyle/>
          <a:p>
            <a:pPr indent="0" marL="0">
              <a:buNone/>
            </a:pPr>
            <a:r>
              <a:rPr lang="en-US" sz="1200" b="1" dirty="0">
                <a:solidFill>
                  <a:srgbClr val="14171A"/>
                </a:solidFill>
                <a:latin typeface="Calibri" pitchFamily="34" charset="0"/>
                <a:ea typeface="Calibri" pitchFamily="34" charset="-122"/>
                <a:cs typeface="Calibri" pitchFamily="34" charset="-120"/>
              </a:rPr>
              <a:t>Semaine 4 · Cadrer</a:t>
            </a:r>
            <a:endParaRPr lang="en-US" sz="1200" dirty="0"/>
          </a:p>
        </p:txBody>
      </p:sp>
      <p:sp>
        <p:nvSpPr>
          <p:cNvPr id="31" name="Text 29"/>
          <p:cNvSpPr txBox="1"/>
          <p:nvPr/>
        </p:nvSpPr>
        <p:spPr>
          <a:xfrm>
            <a:off x="6553048" y="4498848"/>
            <a:ext cx="4797400" cy="512064"/>
          </a:xfrm>
          <a:prstGeom prst="rect">
            <a:avLst/>
          </a:prstGeom>
          <a:noFill/>
          <a:ln/>
        </p:spPr>
        <p:txBody>
          <a:bodyPr wrap="square" lIns="0" tIns="0" rIns="0" bIns="0" rtlCol="0" anchor="t"/>
          <a:lstStyle/>
          <a:p>
            <a:pPr indent="0" marL="0">
              <a:lnSpc>
                <a:spcPct val="106000"/>
              </a:lnSpc>
              <a:buNone/>
            </a:pPr>
            <a:r>
              <a:rPr lang="en-US" sz="1100" dirty="0">
                <a:solidFill>
                  <a:srgbClr val="44555E"/>
                </a:solidFill>
                <a:latin typeface="Calibri" pitchFamily="34" charset="0"/>
                <a:ea typeface="Calibri" pitchFamily="34" charset="-122"/>
                <a:cs typeface="Calibri" pitchFamily="34" charset="-120"/>
              </a:rPr>
              <a:t>La règle d'agence en cinq lignes : ce qui va dans l'IA, ce qui n'y va jamais, la mention qui accompagne toute image.</a:t>
            </a:r>
            <a:endParaRPr lang="en-US" sz="1100" dirty="0"/>
          </a:p>
        </p:txBody>
      </p:sp>
      <p:sp>
        <p:nvSpPr>
          <p:cNvPr id="32" name="Text 30"/>
          <p:cNvSpPr txBox="1"/>
          <p:nvPr/>
        </p:nvSpPr>
        <p:spPr>
          <a:xfrm>
            <a:off x="6553048" y="5084064"/>
            <a:ext cx="4797400" cy="384048"/>
          </a:xfrm>
          <a:prstGeom prst="rect">
            <a:avLst/>
          </a:prstGeom>
          <a:noFill/>
          <a:ln/>
        </p:spPr>
        <p:txBody>
          <a:bodyPr wrap="square" lIns="0" tIns="0" rIns="0" bIns="0" rtlCol="0" anchor="ctr"/>
          <a:lstStyle/>
          <a:p>
            <a:pPr indent="0" marL="0">
              <a:buNone/>
            </a:pPr>
            <a:r>
              <a:rPr lang="en-US" sz="1100" i="1" dirty="0">
                <a:solidFill>
                  <a:srgbClr val="78868D"/>
                </a:solidFill>
                <a:latin typeface="Calibri" pitchFamily="34" charset="0"/>
                <a:ea typeface="Calibri" pitchFamily="34" charset="-122"/>
                <a:cs typeface="Calibri" pitchFamily="34" charset="-120"/>
              </a:rPr>
              <a:t>Le vrai coût n'est pas l'abonnement, c'est le temps d'apprentissage — et vous venez de le payer.</a:t>
            </a:r>
            <a:endParaRPr lang="en-US" sz="1100" dirty="0"/>
          </a:p>
        </p:txBody>
      </p:sp>
      <p:sp>
        <p:nvSpPr>
          <p:cNvPr id="33" name="Shape 31"/>
          <p:cNvSpPr/>
          <p:nvPr/>
        </p:nvSpPr>
        <p:spPr>
          <a:xfrm>
            <a:off x="566928" y="5632704"/>
            <a:ext cx="11057839" cy="603504"/>
          </a:xfrm>
          <a:prstGeom prst="roundRect">
            <a:avLst>
              <a:gd name="adj" fmla="val 12121"/>
            </a:avLst>
          </a:prstGeom>
          <a:solidFill>
            <a:srgbClr val="F6E7E0"/>
          </a:solidFill>
          <a:ln/>
        </p:spPr>
      </p:sp>
      <p:sp>
        <p:nvSpPr>
          <p:cNvPr id="34" name="Shape 32"/>
          <p:cNvSpPr/>
          <p:nvPr/>
        </p:nvSpPr>
        <p:spPr>
          <a:xfrm>
            <a:off x="786384" y="5788152"/>
            <a:ext cx="603504" cy="292608"/>
          </a:xfrm>
          <a:prstGeom prst="roundRect">
            <a:avLst>
              <a:gd name="adj" fmla="val 21875"/>
            </a:avLst>
          </a:prstGeom>
          <a:solidFill>
            <a:srgbClr val="C0542A"/>
          </a:solidFill>
          <a:ln/>
        </p:spPr>
      </p:sp>
      <p:sp>
        <p:nvSpPr>
          <p:cNvPr id="35" name="Text 33"/>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6" name="Text 34"/>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Faites-leur poser le rendez-vous J+30 dans leur agenda pendant que vous parlez, pas après. Trente minutes à deux pour décider ce qu'on garde. Sans cette date, la semaine 3 n'arrive jamais.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566928" y="685800"/>
            <a:ext cx="11057839" cy="292608"/>
          </a:xfrm>
          <a:prstGeom prst="rect">
            <a:avLst/>
          </a:prstGeom>
          <a:noFill/>
          <a:ln/>
        </p:spPr>
        <p:txBody>
          <a:bodyPr wrap="square" lIns="0" tIns="0" rIns="0" bIns="0" rtlCol="0" anchor="ctr"/>
          <a:lstStyle/>
          <a:p>
            <a:pPr indent="0" marL="0">
              <a:buNone/>
            </a:pPr>
            <a:r>
              <a:rPr lang="en-US" sz="1100" b="1" spc="200" kern="0" dirty="0">
                <a:solidFill>
                  <a:srgbClr val="C0542A"/>
                </a:solidFill>
                <a:latin typeface="Calibri" pitchFamily="34" charset="0"/>
                <a:ea typeface="Calibri" pitchFamily="34" charset="-122"/>
                <a:cs typeface="Calibri" pitchFamily="34" charset="-120"/>
              </a:rPr>
              <a:t>CLÔTURE  ·  03:00</a:t>
            </a:r>
            <a:endParaRPr lang="en-US" sz="1100" dirty="0"/>
          </a:p>
        </p:txBody>
      </p:sp>
      <p:sp>
        <p:nvSpPr>
          <p:cNvPr id="3" name="Text 1"/>
          <p:cNvSpPr txBox="1"/>
          <p:nvPr/>
        </p:nvSpPr>
        <p:spPr>
          <a:xfrm>
            <a:off x="566928" y="1051560"/>
            <a:ext cx="11057839"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Ce que vous emportez</a:t>
            </a:r>
            <a:endParaRPr lang="en-US" sz="4000" dirty="0"/>
          </a:p>
        </p:txBody>
      </p:sp>
      <p:sp>
        <p:nvSpPr>
          <p:cNvPr id="4" name="Shape 2"/>
          <p:cNvSpPr/>
          <p:nvPr/>
        </p:nvSpPr>
        <p:spPr>
          <a:xfrm>
            <a:off x="566928" y="2148840"/>
            <a:ext cx="2593010" cy="2286000"/>
          </a:xfrm>
          <a:prstGeom prst="roundRect">
            <a:avLst>
              <a:gd name="adj" fmla="val 3200"/>
            </a:avLst>
          </a:prstGeom>
          <a:solidFill>
            <a:srgbClr val="23292E"/>
          </a:solidFill>
          <a:ln/>
        </p:spPr>
      </p:sp>
      <p:sp>
        <p:nvSpPr>
          <p:cNvPr id="5" name="Text 3"/>
          <p:cNvSpPr txBox="1"/>
          <p:nvPr/>
        </p:nvSpPr>
        <p:spPr>
          <a:xfrm>
            <a:off x="804672" y="2340864"/>
            <a:ext cx="2117522" cy="457200"/>
          </a:xfrm>
          <a:prstGeom prst="rect">
            <a:avLst/>
          </a:prstGeom>
          <a:noFill/>
          <a:ln/>
        </p:spPr>
        <p:txBody>
          <a:bodyPr wrap="square" lIns="0" tIns="0" rIns="0" bIns="0" rtlCol="0" anchor="ctr"/>
          <a:lstStyle/>
          <a:p>
            <a:pPr indent="0" marL="0">
              <a:buNone/>
            </a:pPr>
            <a:r>
              <a:rPr lang="en-US" sz="2600" b="1" dirty="0">
                <a:solidFill>
                  <a:srgbClr val="C0542A"/>
                </a:solidFill>
                <a:latin typeface="Cambria" pitchFamily="34" charset="0"/>
                <a:ea typeface="Cambria" pitchFamily="34" charset="-122"/>
                <a:cs typeface="Cambria" pitchFamily="34" charset="-120"/>
              </a:rPr>
              <a:t>01</a:t>
            </a:r>
            <a:endParaRPr lang="en-US" sz="2600" dirty="0"/>
          </a:p>
        </p:txBody>
      </p:sp>
      <p:sp>
        <p:nvSpPr>
          <p:cNvPr id="6" name="Text 4"/>
          <p:cNvSpPr txBox="1"/>
          <p:nvPr/>
        </p:nvSpPr>
        <p:spPr>
          <a:xfrm>
            <a:off x="804672" y="2852928"/>
            <a:ext cx="2117522"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La bibliothèque de prompts</a:t>
            </a:r>
            <a:endParaRPr lang="en-US" sz="1600" dirty="0"/>
          </a:p>
        </p:txBody>
      </p:sp>
      <p:sp>
        <p:nvSpPr>
          <p:cNvPr id="7" name="Text 5"/>
          <p:cNvSpPr txBox="1"/>
          <p:nvPr/>
        </p:nvSpPr>
        <p:spPr>
          <a:xfrm>
            <a:off x="804672" y="3474720"/>
            <a:ext cx="2117522" cy="822960"/>
          </a:xfrm>
          <a:prstGeom prst="rect">
            <a:avLst/>
          </a:prstGeom>
          <a:noFill/>
          <a:ln/>
        </p:spPr>
        <p:txBody>
          <a:bodyPr wrap="square" lIns="0" tIns="0" rIns="0" bIns="0" rtlCol="0" anchor="t"/>
          <a:lstStyle/>
          <a:p>
            <a:pPr indent="0" marL="0">
              <a:lnSpc>
                <a:spcPct val="114000"/>
              </a:lnSpc>
              <a:buNone/>
            </a:pPr>
            <a:r>
              <a:rPr lang="en-US" sz="1150" dirty="0">
                <a:solidFill>
                  <a:srgbClr val="9AA6AC"/>
                </a:solidFill>
                <a:latin typeface="Calibri" pitchFamily="34" charset="0"/>
                <a:ea typeface="Calibri" pitchFamily="34" charset="-122"/>
                <a:cs typeface="Calibri" pitchFamily="34" charset="-120"/>
              </a:rPr>
              <a:t>Structurés, spécifiques à l'architecture, et déjà éprouvés sur vos projets.</a:t>
            </a:r>
            <a:endParaRPr lang="en-US" sz="1150" dirty="0"/>
          </a:p>
        </p:txBody>
      </p:sp>
      <p:sp>
        <p:nvSpPr>
          <p:cNvPr id="8" name="Shape 6"/>
          <p:cNvSpPr/>
          <p:nvPr/>
        </p:nvSpPr>
        <p:spPr>
          <a:xfrm>
            <a:off x="3388538" y="2148840"/>
            <a:ext cx="2593010" cy="2286000"/>
          </a:xfrm>
          <a:prstGeom prst="roundRect">
            <a:avLst>
              <a:gd name="adj" fmla="val 3200"/>
            </a:avLst>
          </a:prstGeom>
          <a:solidFill>
            <a:srgbClr val="23292E"/>
          </a:solidFill>
          <a:ln/>
        </p:spPr>
      </p:sp>
      <p:sp>
        <p:nvSpPr>
          <p:cNvPr id="9" name="Text 7"/>
          <p:cNvSpPr txBox="1"/>
          <p:nvPr/>
        </p:nvSpPr>
        <p:spPr>
          <a:xfrm>
            <a:off x="3626282" y="2340864"/>
            <a:ext cx="2117522" cy="457200"/>
          </a:xfrm>
          <a:prstGeom prst="rect">
            <a:avLst/>
          </a:prstGeom>
          <a:noFill/>
          <a:ln/>
        </p:spPr>
        <p:txBody>
          <a:bodyPr wrap="square" lIns="0" tIns="0" rIns="0" bIns="0" rtlCol="0" anchor="ctr"/>
          <a:lstStyle/>
          <a:p>
            <a:pPr indent="0" marL="0">
              <a:buNone/>
            </a:pPr>
            <a:r>
              <a:rPr lang="en-US" sz="2600" b="1" dirty="0">
                <a:solidFill>
                  <a:srgbClr val="C0542A"/>
                </a:solidFill>
                <a:latin typeface="Cambria" pitchFamily="34" charset="0"/>
                <a:ea typeface="Cambria" pitchFamily="34" charset="-122"/>
                <a:cs typeface="Cambria" pitchFamily="34" charset="-120"/>
              </a:rPr>
              <a:t>02</a:t>
            </a:r>
            <a:endParaRPr lang="en-US" sz="2600" dirty="0"/>
          </a:p>
        </p:txBody>
      </p:sp>
      <p:sp>
        <p:nvSpPr>
          <p:cNvPr id="10" name="Text 8"/>
          <p:cNvSpPr txBox="1"/>
          <p:nvPr/>
        </p:nvSpPr>
        <p:spPr>
          <a:xfrm>
            <a:off x="3626282" y="2852928"/>
            <a:ext cx="2117522"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La grille d'itération</a:t>
            </a:r>
            <a:endParaRPr lang="en-US" sz="1600" dirty="0"/>
          </a:p>
        </p:txBody>
      </p:sp>
      <p:sp>
        <p:nvSpPr>
          <p:cNvPr id="11" name="Text 9"/>
          <p:cNvSpPr txBox="1"/>
          <p:nvPr/>
        </p:nvSpPr>
        <p:spPr>
          <a:xfrm>
            <a:off x="3626282" y="3474720"/>
            <a:ext cx="2117522" cy="822960"/>
          </a:xfrm>
          <a:prstGeom prst="rect">
            <a:avLst/>
          </a:prstGeom>
          <a:noFill/>
          <a:ln/>
        </p:spPr>
        <p:txBody>
          <a:bodyPr wrap="square" lIns="0" tIns="0" rIns="0" bIns="0" rtlCol="0" anchor="t"/>
          <a:lstStyle/>
          <a:p>
            <a:pPr indent="0" marL="0">
              <a:lnSpc>
                <a:spcPct val="114000"/>
              </a:lnSpc>
              <a:buNone/>
            </a:pPr>
            <a:r>
              <a:rPr lang="en-US" sz="1150" dirty="0">
                <a:solidFill>
                  <a:srgbClr val="9AA6AC"/>
                </a:solidFill>
                <a:latin typeface="Calibri" pitchFamily="34" charset="0"/>
                <a:ea typeface="Calibri" pitchFamily="34" charset="-122"/>
                <a:cs typeface="Calibri" pitchFamily="34" charset="-120"/>
              </a:rPr>
              <a:t>Les trois ancrages et la checklist de contrôle de dérive.</a:t>
            </a:r>
            <a:endParaRPr lang="en-US" sz="1150" dirty="0"/>
          </a:p>
        </p:txBody>
      </p:sp>
      <p:sp>
        <p:nvSpPr>
          <p:cNvPr id="12" name="Shape 10"/>
          <p:cNvSpPr/>
          <p:nvPr/>
        </p:nvSpPr>
        <p:spPr>
          <a:xfrm>
            <a:off x="6210148" y="2148840"/>
            <a:ext cx="2593010" cy="2286000"/>
          </a:xfrm>
          <a:prstGeom prst="roundRect">
            <a:avLst>
              <a:gd name="adj" fmla="val 3200"/>
            </a:avLst>
          </a:prstGeom>
          <a:solidFill>
            <a:srgbClr val="23292E"/>
          </a:solidFill>
          <a:ln/>
        </p:spPr>
      </p:sp>
      <p:sp>
        <p:nvSpPr>
          <p:cNvPr id="13" name="Text 11"/>
          <p:cNvSpPr txBox="1"/>
          <p:nvPr/>
        </p:nvSpPr>
        <p:spPr>
          <a:xfrm>
            <a:off x="6447892" y="2340864"/>
            <a:ext cx="2117522" cy="457200"/>
          </a:xfrm>
          <a:prstGeom prst="rect">
            <a:avLst/>
          </a:prstGeom>
          <a:noFill/>
          <a:ln/>
        </p:spPr>
        <p:txBody>
          <a:bodyPr wrap="square" lIns="0" tIns="0" rIns="0" bIns="0" rtlCol="0" anchor="ctr"/>
          <a:lstStyle/>
          <a:p>
            <a:pPr indent="0" marL="0">
              <a:buNone/>
            </a:pPr>
            <a:r>
              <a:rPr lang="en-US" sz="2600" b="1" dirty="0">
                <a:solidFill>
                  <a:srgbClr val="C0542A"/>
                </a:solidFill>
                <a:latin typeface="Cambria" pitchFamily="34" charset="0"/>
                <a:ea typeface="Cambria" pitchFamily="34" charset="-122"/>
                <a:cs typeface="Cambria" pitchFamily="34" charset="-120"/>
              </a:rPr>
              <a:t>03</a:t>
            </a:r>
            <a:endParaRPr lang="en-US" sz="2600" dirty="0"/>
          </a:p>
        </p:txBody>
      </p:sp>
      <p:sp>
        <p:nvSpPr>
          <p:cNvPr id="14" name="Text 12"/>
          <p:cNvSpPr txBox="1"/>
          <p:nvPr/>
        </p:nvSpPr>
        <p:spPr>
          <a:xfrm>
            <a:off x="6447892" y="2852928"/>
            <a:ext cx="2117522"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Votre agent</a:t>
            </a:r>
            <a:endParaRPr lang="en-US" sz="1600" dirty="0"/>
          </a:p>
        </p:txBody>
      </p:sp>
      <p:sp>
        <p:nvSpPr>
          <p:cNvPr id="15" name="Text 13"/>
          <p:cNvSpPr txBox="1"/>
          <p:nvPr/>
        </p:nvSpPr>
        <p:spPr>
          <a:xfrm>
            <a:off x="6447892" y="3474720"/>
            <a:ext cx="2117522" cy="822960"/>
          </a:xfrm>
          <a:prstGeom prst="rect">
            <a:avLst/>
          </a:prstGeom>
          <a:noFill/>
          <a:ln/>
        </p:spPr>
        <p:txBody>
          <a:bodyPr wrap="square" lIns="0" tIns="0" rIns="0" bIns="0" rtlCol="0" anchor="t"/>
          <a:lstStyle/>
          <a:p>
            <a:pPr indent="0" marL="0">
              <a:lnSpc>
                <a:spcPct val="114000"/>
              </a:lnSpc>
              <a:buNone/>
            </a:pPr>
            <a:r>
              <a:rPr lang="en-US" sz="1150" dirty="0">
                <a:solidFill>
                  <a:srgbClr val="9AA6AC"/>
                </a:solidFill>
                <a:latin typeface="Calibri" pitchFamily="34" charset="0"/>
                <a:ea typeface="Calibri" pitchFamily="34" charset="-122"/>
                <a:cs typeface="Calibri" pitchFamily="34" charset="-120"/>
              </a:rPr>
              <a:t>Configuré, nourri de vos documents, opérationnel dès demain matin.</a:t>
            </a:r>
            <a:endParaRPr lang="en-US" sz="1150" dirty="0"/>
          </a:p>
        </p:txBody>
      </p:sp>
      <p:sp>
        <p:nvSpPr>
          <p:cNvPr id="16" name="Shape 14"/>
          <p:cNvSpPr/>
          <p:nvPr/>
        </p:nvSpPr>
        <p:spPr>
          <a:xfrm>
            <a:off x="9031757" y="2148840"/>
            <a:ext cx="2593010" cy="2286000"/>
          </a:xfrm>
          <a:prstGeom prst="roundRect">
            <a:avLst>
              <a:gd name="adj" fmla="val 3200"/>
            </a:avLst>
          </a:prstGeom>
          <a:solidFill>
            <a:srgbClr val="23292E"/>
          </a:solidFill>
          <a:ln/>
        </p:spPr>
      </p:sp>
      <p:sp>
        <p:nvSpPr>
          <p:cNvPr id="17" name="Text 15"/>
          <p:cNvSpPr txBox="1"/>
          <p:nvPr/>
        </p:nvSpPr>
        <p:spPr>
          <a:xfrm>
            <a:off x="9269501" y="2340864"/>
            <a:ext cx="2117522" cy="457200"/>
          </a:xfrm>
          <a:prstGeom prst="rect">
            <a:avLst/>
          </a:prstGeom>
          <a:noFill/>
          <a:ln/>
        </p:spPr>
        <p:txBody>
          <a:bodyPr wrap="square" lIns="0" tIns="0" rIns="0" bIns="0" rtlCol="0" anchor="ctr"/>
          <a:lstStyle/>
          <a:p>
            <a:pPr indent="0" marL="0">
              <a:buNone/>
            </a:pPr>
            <a:r>
              <a:rPr lang="en-US" sz="2600" b="1" dirty="0">
                <a:solidFill>
                  <a:srgbClr val="C0542A"/>
                </a:solidFill>
                <a:latin typeface="Cambria" pitchFamily="34" charset="0"/>
                <a:ea typeface="Cambria" pitchFamily="34" charset="-122"/>
                <a:cs typeface="Cambria" pitchFamily="34" charset="-120"/>
              </a:rPr>
              <a:t>04</a:t>
            </a:r>
            <a:endParaRPr lang="en-US" sz="2600" dirty="0"/>
          </a:p>
        </p:txBody>
      </p:sp>
      <p:sp>
        <p:nvSpPr>
          <p:cNvPr id="18" name="Text 16"/>
          <p:cNvSpPr txBox="1"/>
          <p:nvPr/>
        </p:nvSpPr>
        <p:spPr>
          <a:xfrm>
            <a:off x="9269501" y="2852928"/>
            <a:ext cx="2117522"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La sélection d'outils</a:t>
            </a:r>
            <a:endParaRPr lang="en-US" sz="1600" dirty="0"/>
          </a:p>
        </p:txBody>
      </p:sp>
      <p:sp>
        <p:nvSpPr>
          <p:cNvPr id="19" name="Text 17"/>
          <p:cNvSpPr txBox="1"/>
          <p:nvPr/>
        </p:nvSpPr>
        <p:spPr>
          <a:xfrm>
            <a:off x="9269501" y="3474720"/>
            <a:ext cx="2117522" cy="822960"/>
          </a:xfrm>
          <a:prstGeom prst="rect">
            <a:avLst/>
          </a:prstGeom>
          <a:noFill/>
          <a:ln/>
        </p:spPr>
        <p:txBody>
          <a:bodyPr wrap="square" lIns="0" tIns="0" rIns="0" bIns="0" rtlCol="0" anchor="t"/>
          <a:lstStyle/>
          <a:p>
            <a:pPr indent="0" marL="0">
              <a:lnSpc>
                <a:spcPct val="114000"/>
              </a:lnSpc>
              <a:buNone/>
            </a:pPr>
            <a:r>
              <a:rPr lang="en-US" sz="1150" dirty="0">
                <a:solidFill>
                  <a:srgbClr val="9AA6AC"/>
                </a:solidFill>
                <a:latin typeface="Calibri" pitchFamily="34" charset="0"/>
                <a:ea typeface="Calibri" pitchFamily="34" charset="-122"/>
                <a:cs typeface="Calibri" pitchFamily="34" charset="-120"/>
              </a:rPr>
              <a:t>À jour, avec les usages et les budgets associés.</a:t>
            </a:r>
            <a:endParaRPr lang="en-US" sz="1150" dirty="0"/>
          </a:p>
        </p:txBody>
      </p:sp>
      <p:sp>
        <p:nvSpPr>
          <p:cNvPr id="20" name="Shape 18"/>
          <p:cNvSpPr/>
          <p:nvPr/>
        </p:nvSpPr>
        <p:spPr>
          <a:xfrm>
            <a:off x="566928" y="4709160"/>
            <a:ext cx="11057839" cy="1207008"/>
          </a:xfrm>
          <a:prstGeom prst="roundRect">
            <a:avLst>
              <a:gd name="adj" fmla="val 6061"/>
            </a:avLst>
          </a:prstGeom>
          <a:solidFill>
            <a:srgbClr val="C0542A"/>
          </a:solidFill>
          <a:ln/>
        </p:spPr>
      </p:sp>
      <p:sp>
        <p:nvSpPr>
          <p:cNvPr id="21" name="Text 19"/>
          <p:cNvSpPr txBox="1"/>
          <p:nvPr/>
        </p:nvSpPr>
        <p:spPr>
          <a:xfrm>
            <a:off x="886968" y="4873752"/>
            <a:ext cx="10417759"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Et une phrase : une image générée est une image d'intention.</a:t>
            </a:r>
            <a:endParaRPr lang="en-US" sz="2200" dirty="0"/>
          </a:p>
        </p:txBody>
      </p:sp>
      <p:sp>
        <p:nvSpPr>
          <p:cNvPr id="22" name="Text 20"/>
          <p:cNvSpPr txBox="1"/>
          <p:nvPr/>
        </p:nvSpPr>
        <p:spPr>
          <a:xfrm>
            <a:off x="886968" y="5376672"/>
            <a:ext cx="10417759" cy="384048"/>
          </a:xfrm>
          <a:prstGeom prst="rect">
            <a:avLst/>
          </a:prstGeom>
          <a:noFill/>
          <a:ln/>
        </p:spPr>
        <p:txBody>
          <a:bodyPr wrap="square" lIns="0" tIns="0" rIns="0" bIns="0" rtlCol="0" anchor="ctr"/>
          <a:lstStyle/>
          <a:p>
            <a:pPr indent="0" marL="0">
              <a:buNone/>
            </a:pPr>
            <a:r>
              <a:rPr lang="en-US" sz="1300" dirty="0">
                <a:solidFill>
                  <a:srgbClr val="F6DCD1"/>
                </a:solidFill>
                <a:latin typeface="Calibri" pitchFamily="34" charset="0"/>
                <a:ea typeface="Calibri" pitchFamily="34" charset="-122"/>
                <a:cs typeface="Calibri" pitchFamily="34" charset="-120"/>
              </a:rPr>
              <a:t>Jamais un rendu conforme au modèle. Jamais une étude d'ensoleillement. C'est ce qui vous autorise à vous en servir devant un client.</a:t>
            </a:r>
            <a:endParaRPr lang="en-US" sz="1300" dirty="0"/>
          </a:p>
        </p:txBody>
      </p:sp>
      <p:sp>
        <p:nvSpPr>
          <p:cNvPr id="23" name="Text 21"/>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9AA6AC"/>
                </a:solidFill>
                <a:latin typeface="Calibri" pitchFamily="34" charset="0"/>
                <a:ea typeface="Calibri" pitchFamily="34" charset="-122"/>
                <a:cs typeface="Calibri" pitchFamily="34" charset="-120"/>
              </a:rPr>
              <a:t>L'IA au service du projet architectural</a:t>
            </a:r>
            <a:endParaRPr lang="en-US" sz="900" dirty="0"/>
          </a:p>
        </p:txBody>
      </p:sp>
      <p:sp>
        <p:nvSpPr>
          <p:cNvPr id="24" name="Text 22"/>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9AA6AC"/>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USAGE ANIMATEUR · NON PROJETÉ</a:t>
            </a:r>
            <a:endParaRPr lang="en-US" sz="1050" dirty="0"/>
          </a:p>
        </p:txBody>
      </p:sp>
      <p:sp>
        <p:nvSpPr>
          <p:cNvPr id="3" name="Text 1"/>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Antisèche : points de bascule et plans de repli</a:t>
            </a:r>
            <a:endParaRPr lang="en-US" sz="2900" dirty="0"/>
          </a:p>
        </p:txBody>
      </p:sp>
      <p:sp>
        <p:nvSpPr>
          <p:cNvPr id="4" name="Text 2"/>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5" name="Text 3"/>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566928" y="1389888"/>
            <a:ext cx="5346040" cy="2377440"/>
          </a:xfrm>
          <a:prstGeom prst="roundRect">
            <a:avLst>
              <a:gd name="adj" fmla="val 3077"/>
            </a:avLst>
          </a:prstGeom>
          <a:solidFill>
            <a:srgbClr val="EFF1F2"/>
          </a:solidFill>
          <a:ln/>
        </p:spPr>
      </p:sp>
      <p:sp>
        <p:nvSpPr>
          <p:cNvPr id="7" name="Text 5"/>
          <p:cNvSpPr txBox="1"/>
          <p:nvPr/>
        </p:nvSpPr>
        <p:spPr>
          <a:xfrm>
            <a:off x="8412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44555E"/>
                </a:solidFill>
                <a:latin typeface="Calibri" pitchFamily="34" charset="0"/>
                <a:ea typeface="Calibri" pitchFamily="34" charset="-122"/>
                <a:cs typeface="Calibri" pitchFamily="34" charset="-120"/>
              </a:rPr>
              <a:t>LES CINQ MOMENTS À SURVEILLER</a:t>
            </a:r>
            <a:endParaRPr lang="en-US" sz="1000" dirty="0"/>
          </a:p>
        </p:txBody>
      </p:sp>
      <p:sp>
        <p:nvSpPr>
          <p:cNvPr id="8" name="Text 6"/>
          <p:cNvSpPr txBox="1"/>
          <p:nvPr/>
        </p:nvSpPr>
        <p:spPr>
          <a:xfrm>
            <a:off x="841248" y="1883664"/>
            <a:ext cx="731520" cy="347472"/>
          </a:xfrm>
          <a:prstGeom prst="rect">
            <a:avLst/>
          </a:prstGeom>
          <a:noFill/>
          <a:ln/>
        </p:spPr>
        <p:txBody>
          <a:bodyPr wrap="square" lIns="0" tIns="0" rIns="0" bIns="0" rtlCol="0" anchor="t"/>
          <a:lstStyle/>
          <a:p>
            <a:pPr indent="0" marL="0">
              <a:buNone/>
            </a:pPr>
            <a:r>
              <a:rPr lang="en-US" sz="1200" b="1" dirty="0">
                <a:solidFill>
                  <a:srgbClr val="C0542A"/>
                </a:solidFill>
                <a:latin typeface="Calibri" pitchFamily="34" charset="0"/>
                <a:ea typeface="Calibri" pitchFamily="34" charset="-122"/>
                <a:cs typeface="Calibri" pitchFamily="34" charset="-120"/>
              </a:rPr>
              <a:t>00:12</a:t>
            </a:r>
            <a:endParaRPr lang="en-US" sz="1200" dirty="0"/>
          </a:p>
        </p:txBody>
      </p:sp>
      <p:sp>
        <p:nvSpPr>
          <p:cNvPr id="9" name="Text 7"/>
          <p:cNvSpPr txBox="1"/>
          <p:nvPr/>
        </p:nvSpPr>
        <p:spPr>
          <a:xfrm>
            <a:off x="1627632" y="1883664"/>
            <a:ext cx="4011016" cy="347472"/>
          </a:xfrm>
          <a:prstGeom prst="rect">
            <a:avLst/>
          </a:prstGeom>
          <a:noFill/>
          <a:ln/>
        </p:spPr>
        <p:txBody>
          <a:bodyPr wrap="square" lIns="0" tIns="0" rIns="0" bIns="0" rtlCol="0" anchor="t"/>
          <a:lstStyle/>
          <a:p>
            <a:pPr indent="0" marL="0">
              <a:buNone/>
            </a:pPr>
            <a:r>
              <a:rPr lang="en-US" sz="1150" dirty="0">
                <a:solidFill>
                  <a:srgbClr val="44555E"/>
                </a:solidFill>
                <a:latin typeface="Calibri" pitchFamily="34" charset="0"/>
                <a:ea typeface="Calibri" pitchFamily="34" charset="-122"/>
                <a:cs typeface="Calibri" pitchFamily="34" charset="-120"/>
              </a:rPr>
              <a:t>Si le débat sur les droits s'installe, le couper : on y revient à 02:50.</a:t>
            </a:r>
            <a:endParaRPr lang="en-US" sz="1150" dirty="0"/>
          </a:p>
        </p:txBody>
      </p:sp>
      <p:sp>
        <p:nvSpPr>
          <p:cNvPr id="10" name="Text 8"/>
          <p:cNvSpPr txBox="1"/>
          <p:nvPr/>
        </p:nvSpPr>
        <p:spPr>
          <a:xfrm>
            <a:off x="841248" y="2249424"/>
            <a:ext cx="731520" cy="347472"/>
          </a:xfrm>
          <a:prstGeom prst="rect">
            <a:avLst/>
          </a:prstGeom>
          <a:noFill/>
          <a:ln/>
        </p:spPr>
        <p:txBody>
          <a:bodyPr wrap="square" lIns="0" tIns="0" rIns="0" bIns="0" rtlCol="0" anchor="t"/>
          <a:lstStyle/>
          <a:p>
            <a:pPr indent="0" marL="0">
              <a:buNone/>
            </a:pPr>
            <a:r>
              <a:rPr lang="en-US" sz="1200" b="1" dirty="0">
                <a:solidFill>
                  <a:srgbClr val="C0542A"/>
                </a:solidFill>
                <a:latin typeface="Calibri" pitchFamily="34" charset="0"/>
                <a:ea typeface="Calibri" pitchFamily="34" charset="-122"/>
                <a:cs typeface="Calibri" pitchFamily="34" charset="-120"/>
              </a:rPr>
              <a:t>00:45</a:t>
            </a:r>
            <a:endParaRPr lang="en-US" sz="1200" dirty="0"/>
          </a:p>
        </p:txBody>
      </p:sp>
      <p:sp>
        <p:nvSpPr>
          <p:cNvPr id="11" name="Text 9"/>
          <p:cNvSpPr txBox="1"/>
          <p:nvPr/>
        </p:nvSpPr>
        <p:spPr>
          <a:xfrm>
            <a:off x="1627632" y="2249424"/>
            <a:ext cx="4011016" cy="347472"/>
          </a:xfrm>
          <a:prstGeom prst="rect">
            <a:avLst/>
          </a:prstGeom>
          <a:noFill/>
          <a:ln/>
        </p:spPr>
        <p:txBody>
          <a:bodyPr wrap="square" lIns="0" tIns="0" rIns="0" bIns="0" rtlCol="0" anchor="t"/>
          <a:lstStyle/>
          <a:p>
            <a:pPr indent="0" marL="0">
              <a:buNone/>
            </a:pPr>
            <a:r>
              <a:rPr lang="en-US" sz="1150" dirty="0">
                <a:solidFill>
                  <a:srgbClr val="44555E"/>
                </a:solidFill>
                <a:latin typeface="Calibri" pitchFamily="34" charset="0"/>
                <a:ea typeface="Calibri" pitchFamily="34" charset="-122"/>
                <a:cs typeface="Calibri" pitchFamily="34" charset="-120"/>
              </a:rPr>
              <a:t>Si l'exercice comparatif traîne, garder la manche 1, réduire le débrief.</a:t>
            </a:r>
            <a:endParaRPr lang="en-US" sz="1150" dirty="0"/>
          </a:p>
        </p:txBody>
      </p:sp>
      <p:sp>
        <p:nvSpPr>
          <p:cNvPr id="12" name="Text 10"/>
          <p:cNvSpPr txBox="1"/>
          <p:nvPr/>
        </p:nvSpPr>
        <p:spPr>
          <a:xfrm>
            <a:off x="841248" y="2615184"/>
            <a:ext cx="731520" cy="347472"/>
          </a:xfrm>
          <a:prstGeom prst="rect">
            <a:avLst/>
          </a:prstGeom>
          <a:noFill/>
          <a:ln/>
        </p:spPr>
        <p:txBody>
          <a:bodyPr wrap="square" lIns="0" tIns="0" rIns="0" bIns="0" rtlCol="0" anchor="t"/>
          <a:lstStyle/>
          <a:p>
            <a:pPr indent="0" marL="0">
              <a:buNone/>
            </a:pPr>
            <a:r>
              <a:rPr lang="en-US" sz="1200" b="1" dirty="0">
                <a:solidFill>
                  <a:srgbClr val="C0542A"/>
                </a:solidFill>
                <a:latin typeface="Calibri" pitchFamily="34" charset="0"/>
                <a:ea typeface="Calibri" pitchFamily="34" charset="-122"/>
                <a:cs typeface="Calibri" pitchFamily="34" charset="-120"/>
              </a:rPr>
              <a:t>01:17</a:t>
            </a:r>
            <a:endParaRPr lang="en-US" sz="1200" dirty="0"/>
          </a:p>
        </p:txBody>
      </p:sp>
      <p:sp>
        <p:nvSpPr>
          <p:cNvPr id="13" name="Text 11"/>
          <p:cNvSpPr txBox="1"/>
          <p:nvPr/>
        </p:nvSpPr>
        <p:spPr>
          <a:xfrm>
            <a:off x="1627632" y="2615184"/>
            <a:ext cx="4011016" cy="347472"/>
          </a:xfrm>
          <a:prstGeom prst="rect">
            <a:avLst/>
          </a:prstGeom>
          <a:noFill/>
          <a:ln/>
        </p:spPr>
        <p:txBody>
          <a:bodyPr wrap="square" lIns="0" tIns="0" rIns="0" bIns="0" rtlCol="0" anchor="t"/>
          <a:lstStyle/>
          <a:p>
            <a:pPr indent="0" marL="0">
              <a:buNone/>
            </a:pPr>
            <a:r>
              <a:rPr lang="en-US" sz="1150" dirty="0">
                <a:solidFill>
                  <a:srgbClr val="44555E"/>
                </a:solidFill>
                <a:latin typeface="Calibri" pitchFamily="34" charset="0"/>
                <a:ea typeface="Calibri" pitchFamily="34" charset="-122"/>
                <a:cs typeface="Calibri" pitchFamily="34" charset="-120"/>
              </a:rPr>
              <a:t>Le contrôle de dérive est LE moment de la session. Ne jamais le sacrifier.</a:t>
            </a:r>
            <a:endParaRPr lang="en-US" sz="1150" dirty="0"/>
          </a:p>
        </p:txBody>
      </p:sp>
      <p:sp>
        <p:nvSpPr>
          <p:cNvPr id="14" name="Text 12"/>
          <p:cNvSpPr txBox="1"/>
          <p:nvPr/>
        </p:nvSpPr>
        <p:spPr>
          <a:xfrm>
            <a:off x="841248" y="2980944"/>
            <a:ext cx="731520" cy="347472"/>
          </a:xfrm>
          <a:prstGeom prst="rect">
            <a:avLst/>
          </a:prstGeom>
          <a:noFill/>
          <a:ln/>
        </p:spPr>
        <p:txBody>
          <a:bodyPr wrap="square" lIns="0" tIns="0" rIns="0" bIns="0" rtlCol="0" anchor="t"/>
          <a:lstStyle/>
          <a:p>
            <a:pPr indent="0" marL="0">
              <a:buNone/>
            </a:pPr>
            <a:r>
              <a:rPr lang="en-US" sz="1200" b="1" dirty="0">
                <a:solidFill>
                  <a:srgbClr val="C0542A"/>
                </a:solidFill>
                <a:latin typeface="Calibri" pitchFamily="34" charset="0"/>
                <a:ea typeface="Calibri" pitchFamily="34" charset="-122"/>
                <a:cs typeface="Calibri" pitchFamily="34" charset="-120"/>
              </a:rPr>
              <a:t>02:10</a:t>
            </a:r>
            <a:endParaRPr lang="en-US" sz="1200" dirty="0"/>
          </a:p>
        </p:txBody>
      </p:sp>
      <p:sp>
        <p:nvSpPr>
          <p:cNvPr id="15" name="Text 13"/>
          <p:cNvSpPr txBox="1"/>
          <p:nvPr/>
        </p:nvSpPr>
        <p:spPr>
          <a:xfrm>
            <a:off x="1627632" y="2980944"/>
            <a:ext cx="4011016" cy="347472"/>
          </a:xfrm>
          <a:prstGeom prst="rect">
            <a:avLst/>
          </a:prstGeom>
          <a:noFill/>
          <a:ln/>
        </p:spPr>
        <p:txBody>
          <a:bodyPr wrap="square" lIns="0" tIns="0" rIns="0" bIns="0" rtlCol="0" anchor="t"/>
          <a:lstStyle/>
          <a:p>
            <a:pPr indent="0" marL="0">
              <a:buNone/>
            </a:pPr>
            <a:r>
              <a:rPr lang="en-US" sz="1150" dirty="0">
                <a:solidFill>
                  <a:srgbClr val="44555E"/>
                </a:solidFill>
                <a:latin typeface="Calibri" pitchFamily="34" charset="0"/>
                <a:ea typeface="Calibri" pitchFamily="34" charset="-122"/>
                <a:cs typeface="Calibri" pitchFamily="34" charset="-120"/>
              </a:rPr>
              <a:t>Si la vidéo échoue, basculer sur les clips préparés sans hésiter.</a:t>
            </a:r>
            <a:endParaRPr lang="en-US" sz="1150" dirty="0"/>
          </a:p>
        </p:txBody>
      </p:sp>
      <p:sp>
        <p:nvSpPr>
          <p:cNvPr id="16" name="Text 14"/>
          <p:cNvSpPr txBox="1"/>
          <p:nvPr/>
        </p:nvSpPr>
        <p:spPr>
          <a:xfrm>
            <a:off x="841248" y="3346704"/>
            <a:ext cx="731520" cy="347472"/>
          </a:xfrm>
          <a:prstGeom prst="rect">
            <a:avLst/>
          </a:prstGeom>
          <a:noFill/>
          <a:ln/>
        </p:spPr>
        <p:txBody>
          <a:bodyPr wrap="square" lIns="0" tIns="0" rIns="0" bIns="0" rtlCol="0" anchor="t"/>
          <a:lstStyle/>
          <a:p>
            <a:pPr indent="0" marL="0">
              <a:buNone/>
            </a:pPr>
            <a:r>
              <a:rPr lang="en-US" sz="1200" b="1" dirty="0">
                <a:solidFill>
                  <a:srgbClr val="C0542A"/>
                </a:solidFill>
                <a:latin typeface="Calibri" pitchFamily="34" charset="0"/>
                <a:ea typeface="Calibri" pitchFamily="34" charset="-122"/>
                <a:cs typeface="Calibri" pitchFamily="34" charset="-120"/>
              </a:rPr>
              <a:t>02:45</a:t>
            </a:r>
            <a:endParaRPr lang="en-US" sz="1200" dirty="0"/>
          </a:p>
        </p:txBody>
      </p:sp>
      <p:sp>
        <p:nvSpPr>
          <p:cNvPr id="17" name="Text 15"/>
          <p:cNvSpPr txBox="1"/>
          <p:nvPr/>
        </p:nvSpPr>
        <p:spPr>
          <a:xfrm>
            <a:off x="1627632" y="3346704"/>
            <a:ext cx="4011016" cy="347472"/>
          </a:xfrm>
          <a:prstGeom prst="rect">
            <a:avLst/>
          </a:prstGeom>
          <a:noFill/>
          <a:ln/>
        </p:spPr>
        <p:txBody>
          <a:bodyPr wrap="square" lIns="0" tIns="0" rIns="0" bIns="0" rtlCol="0" anchor="t"/>
          <a:lstStyle/>
          <a:p>
            <a:pPr indent="0" marL="0">
              <a:buNone/>
            </a:pPr>
            <a:r>
              <a:rPr lang="en-US" sz="1150" dirty="0">
                <a:solidFill>
                  <a:srgbClr val="44555E"/>
                </a:solidFill>
                <a:latin typeface="Calibri" pitchFamily="34" charset="0"/>
                <a:ea typeface="Calibri" pitchFamily="34" charset="-122"/>
                <a:cs typeface="Calibri" pitchFamily="34" charset="-120"/>
              </a:rPr>
              <a:t>L'agent doit tourner. Si retard, prendre sur le passage à l'échelle.</a:t>
            </a:r>
            <a:endParaRPr lang="en-US" sz="1150" dirty="0"/>
          </a:p>
        </p:txBody>
      </p:sp>
      <p:sp>
        <p:nvSpPr>
          <p:cNvPr id="18" name="Shape 16"/>
          <p:cNvSpPr/>
          <p:nvPr/>
        </p:nvSpPr>
        <p:spPr>
          <a:xfrm>
            <a:off x="6278728" y="1389888"/>
            <a:ext cx="5346040" cy="2377440"/>
          </a:xfrm>
          <a:prstGeom prst="roundRect">
            <a:avLst>
              <a:gd name="adj" fmla="val 3077"/>
            </a:avLst>
          </a:prstGeom>
          <a:solidFill>
            <a:srgbClr val="F7E9E4"/>
          </a:solidFill>
          <a:ln/>
        </p:spPr>
      </p:sp>
      <p:sp>
        <p:nvSpPr>
          <p:cNvPr id="19" name="Text 17"/>
          <p:cNvSpPr txBox="1"/>
          <p:nvPr/>
        </p:nvSpPr>
        <p:spPr>
          <a:xfrm>
            <a:off x="6553048" y="1572768"/>
            <a:ext cx="4797400" cy="237744"/>
          </a:xfrm>
          <a:prstGeom prst="rect">
            <a:avLst/>
          </a:prstGeom>
          <a:noFill/>
          <a:ln/>
        </p:spPr>
        <p:txBody>
          <a:bodyPr wrap="square" lIns="0" tIns="0" rIns="0" bIns="0" rtlCol="0" anchor="ctr"/>
          <a:lstStyle/>
          <a:p>
            <a:pPr indent="0" marL="0">
              <a:buNone/>
            </a:pPr>
            <a:r>
              <a:rPr lang="en-US" sz="1000" b="1" spc="120" kern="0" dirty="0">
                <a:solidFill>
                  <a:srgbClr val="C0542A"/>
                </a:solidFill>
                <a:latin typeface="Calibri" pitchFamily="34" charset="0"/>
                <a:ea typeface="Calibri" pitchFamily="34" charset="-122"/>
                <a:cs typeface="Calibri" pitchFamily="34" charset="-120"/>
              </a:rPr>
              <a:t>PLANS DE REPLI</a:t>
            </a:r>
            <a:endParaRPr lang="en-US" sz="1000" dirty="0"/>
          </a:p>
        </p:txBody>
      </p:sp>
      <p:sp>
        <p:nvSpPr>
          <p:cNvPr id="20" name="Text 18"/>
          <p:cNvSpPr txBox="1"/>
          <p:nvPr/>
        </p:nvSpPr>
        <p:spPr>
          <a:xfrm>
            <a:off x="6553048" y="1883664"/>
            <a:ext cx="1600200" cy="347472"/>
          </a:xfrm>
          <a:prstGeom prst="rect">
            <a:avLst/>
          </a:prstGeom>
          <a:noFill/>
          <a:ln/>
        </p:spPr>
        <p:txBody>
          <a:bodyPr wrap="square" lIns="0" tIns="0" rIns="0" bIns="0" rtlCol="0" anchor="t"/>
          <a:lstStyle/>
          <a:p>
            <a:pPr indent="0" marL="0">
              <a:buNone/>
            </a:pPr>
            <a:r>
              <a:rPr lang="en-US" sz="1150" b="1" dirty="0">
                <a:solidFill>
                  <a:srgbClr val="8A4A34"/>
                </a:solidFill>
                <a:latin typeface="Calibri" pitchFamily="34" charset="0"/>
                <a:ea typeface="Calibri" pitchFamily="34" charset="-122"/>
                <a:cs typeface="Calibri" pitchFamily="34" charset="-120"/>
              </a:rPr>
              <a:t>Connexion HS</a:t>
            </a:r>
            <a:endParaRPr lang="en-US" sz="1150" dirty="0"/>
          </a:p>
        </p:txBody>
      </p:sp>
      <p:sp>
        <p:nvSpPr>
          <p:cNvPr id="21" name="Text 19"/>
          <p:cNvSpPr txBox="1"/>
          <p:nvPr/>
        </p:nvSpPr>
        <p:spPr>
          <a:xfrm>
            <a:off x="8244688" y="1883664"/>
            <a:ext cx="3105760" cy="347472"/>
          </a:xfrm>
          <a:prstGeom prst="rect">
            <a:avLst/>
          </a:prstGeom>
          <a:noFill/>
          <a:ln/>
        </p:spPr>
        <p:txBody>
          <a:bodyPr wrap="square" lIns="0" tIns="0" rIns="0" bIns="0" rtlCol="0" anchor="t"/>
          <a:lstStyle/>
          <a:p>
            <a:pPr indent="0" marL="0">
              <a:buNone/>
            </a:pPr>
            <a:r>
              <a:rPr lang="en-US" sz="1150" dirty="0">
                <a:solidFill>
                  <a:srgbClr val="8A4A34"/>
                </a:solidFill>
                <a:latin typeface="Calibri" pitchFamily="34" charset="0"/>
                <a:ea typeface="Calibri" pitchFamily="34" charset="-122"/>
                <a:cs typeface="Calibri" pitchFamily="34" charset="-120"/>
              </a:rPr>
              <a:t>Partage 4G depuis votre téléphone, testé avant.</a:t>
            </a:r>
            <a:endParaRPr lang="en-US" sz="1150" dirty="0"/>
          </a:p>
        </p:txBody>
      </p:sp>
      <p:sp>
        <p:nvSpPr>
          <p:cNvPr id="22" name="Text 20"/>
          <p:cNvSpPr txBox="1"/>
          <p:nvPr/>
        </p:nvSpPr>
        <p:spPr>
          <a:xfrm>
            <a:off x="6553048" y="2249424"/>
            <a:ext cx="1600200" cy="347472"/>
          </a:xfrm>
          <a:prstGeom prst="rect">
            <a:avLst/>
          </a:prstGeom>
          <a:noFill/>
          <a:ln/>
        </p:spPr>
        <p:txBody>
          <a:bodyPr wrap="square" lIns="0" tIns="0" rIns="0" bIns="0" rtlCol="0" anchor="t"/>
          <a:lstStyle/>
          <a:p>
            <a:pPr indent="0" marL="0">
              <a:buNone/>
            </a:pPr>
            <a:r>
              <a:rPr lang="en-US" sz="1150" b="1" dirty="0">
                <a:solidFill>
                  <a:srgbClr val="8A4A34"/>
                </a:solidFill>
                <a:latin typeface="Calibri" pitchFamily="34" charset="0"/>
                <a:ea typeface="Calibri" pitchFamily="34" charset="-122"/>
                <a:cs typeface="Calibri" pitchFamily="34" charset="-120"/>
              </a:rPr>
              <a:t>Compte bloqué</a:t>
            </a:r>
            <a:endParaRPr lang="en-US" sz="1150" dirty="0"/>
          </a:p>
        </p:txBody>
      </p:sp>
      <p:sp>
        <p:nvSpPr>
          <p:cNvPr id="23" name="Text 21"/>
          <p:cNvSpPr txBox="1"/>
          <p:nvPr/>
        </p:nvSpPr>
        <p:spPr>
          <a:xfrm>
            <a:off x="8244688" y="2249424"/>
            <a:ext cx="3105760" cy="347472"/>
          </a:xfrm>
          <a:prstGeom prst="rect">
            <a:avLst/>
          </a:prstGeom>
          <a:noFill/>
          <a:ln/>
        </p:spPr>
        <p:txBody>
          <a:bodyPr wrap="square" lIns="0" tIns="0" rIns="0" bIns="0" rtlCol="0" anchor="t"/>
          <a:lstStyle/>
          <a:p>
            <a:pPr indent="0" marL="0">
              <a:buNone/>
            </a:pPr>
            <a:r>
              <a:rPr lang="en-US" sz="1150" dirty="0">
                <a:solidFill>
                  <a:srgbClr val="8A4A34"/>
                </a:solidFill>
                <a:latin typeface="Calibri" pitchFamily="34" charset="0"/>
                <a:ea typeface="Calibri" pitchFamily="34" charset="-122"/>
                <a:cs typeface="Calibri" pitchFamily="34" charset="-120"/>
              </a:rPr>
              <a:t>Travailler à deux sur une machine. La session tient.</a:t>
            </a:r>
            <a:endParaRPr lang="en-US" sz="1150" dirty="0"/>
          </a:p>
        </p:txBody>
      </p:sp>
      <p:sp>
        <p:nvSpPr>
          <p:cNvPr id="24" name="Text 22"/>
          <p:cNvSpPr txBox="1"/>
          <p:nvPr/>
        </p:nvSpPr>
        <p:spPr>
          <a:xfrm>
            <a:off x="6553048" y="2615184"/>
            <a:ext cx="1600200" cy="347472"/>
          </a:xfrm>
          <a:prstGeom prst="rect">
            <a:avLst/>
          </a:prstGeom>
          <a:noFill/>
          <a:ln/>
        </p:spPr>
        <p:txBody>
          <a:bodyPr wrap="square" lIns="0" tIns="0" rIns="0" bIns="0" rtlCol="0" anchor="t"/>
          <a:lstStyle/>
          <a:p>
            <a:pPr indent="0" marL="0">
              <a:buNone/>
            </a:pPr>
            <a:r>
              <a:rPr lang="en-US" sz="1150" b="1" dirty="0">
                <a:solidFill>
                  <a:srgbClr val="8A4A34"/>
                </a:solidFill>
                <a:latin typeface="Calibri" pitchFamily="34" charset="0"/>
                <a:ea typeface="Calibri" pitchFamily="34" charset="-122"/>
                <a:cs typeface="Calibri" pitchFamily="34" charset="-120"/>
              </a:rPr>
              <a:t>Seedance saturé</a:t>
            </a:r>
            <a:endParaRPr lang="en-US" sz="1150" dirty="0"/>
          </a:p>
        </p:txBody>
      </p:sp>
      <p:sp>
        <p:nvSpPr>
          <p:cNvPr id="25" name="Text 23"/>
          <p:cNvSpPr txBox="1"/>
          <p:nvPr/>
        </p:nvSpPr>
        <p:spPr>
          <a:xfrm>
            <a:off x="8244688" y="2615184"/>
            <a:ext cx="3105760" cy="347472"/>
          </a:xfrm>
          <a:prstGeom prst="rect">
            <a:avLst/>
          </a:prstGeom>
          <a:noFill/>
          <a:ln/>
        </p:spPr>
        <p:txBody>
          <a:bodyPr wrap="square" lIns="0" tIns="0" rIns="0" bIns="0" rtlCol="0" anchor="t"/>
          <a:lstStyle/>
          <a:p>
            <a:pPr indent="0" marL="0">
              <a:buNone/>
            </a:pPr>
            <a:r>
              <a:rPr lang="en-US" sz="1150" dirty="0">
                <a:solidFill>
                  <a:srgbClr val="8A4A34"/>
                </a:solidFill>
                <a:latin typeface="Calibri" pitchFamily="34" charset="0"/>
                <a:ea typeface="Calibri" pitchFamily="34" charset="-122"/>
                <a:cs typeface="Calibri" pitchFamily="34" charset="-120"/>
              </a:rPr>
              <a:t>Deux clips préparés en local, lisibles hors ligne.</a:t>
            </a:r>
            <a:endParaRPr lang="en-US" sz="1150" dirty="0"/>
          </a:p>
        </p:txBody>
      </p:sp>
      <p:sp>
        <p:nvSpPr>
          <p:cNvPr id="26" name="Text 24"/>
          <p:cNvSpPr txBox="1"/>
          <p:nvPr/>
        </p:nvSpPr>
        <p:spPr>
          <a:xfrm>
            <a:off x="6553048" y="2980944"/>
            <a:ext cx="1600200" cy="347472"/>
          </a:xfrm>
          <a:prstGeom prst="rect">
            <a:avLst/>
          </a:prstGeom>
          <a:noFill/>
          <a:ln/>
        </p:spPr>
        <p:txBody>
          <a:bodyPr wrap="square" lIns="0" tIns="0" rIns="0" bIns="0" rtlCol="0" anchor="t"/>
          <a:lstStyle/>
          <a:p>
            <a:pPr indent="0" marL="0">
              <a:buNone/>
            </a:pPr>
            <a:r>
              <a:rPr lang="en-US" sz="1150" b="1" dirty="0">
                <a:solidFill>
                  <a:srgbClr val="8A4A34"/>
                </a:solidFill>
                <a:latin typeface="Calibri" pitchFamily="34" charset="0"/>
                <a:ea typeface="Calibri" pitchFamily="34" charset="-122"/>
                <a:cs typeface="Calibri" pitchFamily="34" charset="-120"/>
              </a:rPr>
              <a:t>Pas de capture 3D</a:t>
            </a:r>
            <a:endParaRPr lang="en-US" sz="1150" dirty="0"/>
          </a:p>
        </p:txBody>
      </p:sp>
      <p:sp>
        <p:nvSpPr>
          <p:cNvPr id="27" name="Text 25"/>
          <p:cNvSpPr txBox="1"/>
          <p:nvPr/>
        </p:nvSpPr>
        <p:spPr>
          <a:xfrm>
            <a:off x="8244688" y="2980944"/>
            <a:ext cx="3105760" cy="347472"/>
          </a:xfrm>
          <a:prstGeom prst="rect">
            <a:avLst/>
          </a:prstGeom>
          <a:noFill/>
          <a:ln/>
        </p:spPr>
        <p:txBody>
          <a:bodyPr wrap="square" lIns="0" tIns="0" rIns="0" bIns="0" rtlCol="0" anchor="t"/>
          <a:lstStyle/>
          <a:p>
            <a:pPr indent="0" marL="0">
              <a:buNone/>
            </a:pPr>
            <a:r>
              <a:rPr lang="en-US" sz="1150" dirty="0">
                <a:solidFill>
                  <a:srgbClr val="8A4A34"/>
                </a:solidFill>
                <a:latin typeface="Calibri" pitchFamily="34" charset="0"/>
                <a:ea typeface="Calibri" pitchFamily="34" charset="-122"/>
                <a:cs typeface="Calibri" pitchFamily="34" charset="-120"/>
              </a:rPr>
              <a:t>Basculer sur l'esquisse scannée, ou fournir un modèle neutre.</a:t>
            </a:r>
            <a:endParaRPr lang="en-US" sz="1150" dirty="0"/>
          </a:p>
        </p:txBody>
      </p:sp>
      <p:sp>
        <p:nvSpPr>
          <p:cNvPr id="28" name="Text 26"/>
          <p:cNvSpPr txBox="1"/>
          <p:nvPr/>
        </p:nvSpPr>
        <p:spPr>
          <a:xfrm>
            <a:off x="6553048" y="3346704"/>
            <a:ext cx="1600200" cy="347472"/>
          </a:xfrm>
          <a:prstGeom prst="rect">
            <a:avLst/>
          </a:prstGeom>
          <a:noFill/>
          <a:ln/>
        </p:spPr>
        <p:txBody>
          <a:bodyPr wrap="square" lIns="0" tIns="0" rIns="0" bIns="0" rtlCol="0" anchor="t"/>
          <a:lstStyle/>
          <a:p>
            <a:pPr indent="0" marL="0">
              <a:buNone/>
            </a:pPr>
            <a:r>
              <a:rPr lang="en-US" sz="1150" b="1" dirty="0">
                <a:solidFill>
                  <a:srgbClr val="8A4A34"/>
                </a:solidFill>
                <a:latin typeface="Calibri" pitchFamily="34" charset="0"/>
                <a:ea typeface="Calibri" pitchFamily="34" charset="-122"/>
                <a:cs typeface="Calibri" pitchFamily="34" charset="-120"/>
              </a:rPr>
              <a:t>Trop en avance</a:t>
            </a:r>
            <a:endParaRPr lang="en-US" sz="1150" dirty="0"/>
          </a:p>
        </p:txBody>
      </p:sp>
      <p:sp>
        <p:nvSpPr>
          <p:cNvPr id="29" name="Text 27"/>
          <p:cNvSpPr txBox="1"/>
          <p:nvPr/>
        </p:nvSpPr>
        <p:spPr>
          <a:xfrm>
            <a:off x="8244688" y="3346704"/>
            <a:ext cx="3105760" cy="347472"/>
          </a:xfrm>
          <a:prstGeom prst="rect">
            <a:avLst/>
          </a:prstGeom>
          <a:noFill/>
          <a:ln/>
        </p:spPr>
        <p:txBody>
          <a:bodyPr wrap="square" lIns="0" tIns="0" rIns="0" bIns="0" rtlCol="0" anchor="t"/>
          <a:lstStyle/>
          <a:p>
            <a:pPr indent="0" marL="0">
              <a:buNone/>
            </a:pPr>
            <a:r>
              <a:rPr lang="en-US" sz="1150" dirty="0">
                <a:solidFill>
                  <a:srgbClr val="8A4A34"/>
                </a:solidFill>
                <a:latin typeface="Calibri" pitchFamily="34" charset="0"/>
                <a:ea typeface="Calibri" pitchFamily="34" charset="-122"/>
                <a:cs typeface="Calibri" pitchFamily="34" charset="-120"/>
              </a:rPr>
              <a:t>Approfondir les références matières, lancer un deuxième agent.</a:t>
            </a:r>
            <a:endParaRPr lang="en-US" sz="1150" dirty="0"/>
          </a:p>
        </p:txBody>
      </p:sp>
      <p:sp>
        <p:nvSpPr>
          <p:cNvPr id="30" name="Shape 28"/>
          <p:cNvSpPr/>
          <p:nvPr/>
        </p:nvSpPr>
        <p:spPr>
          <a:xfrm>
            <a:off x="566928" y="3895344"/>
            <a:ext cx="11057839" cy="1609344"/>
          </a:xfrm>
          <a:prstGeom prst="roundRect">
            <a:avLst>
              <a:gd name="adj" fmla="val 4545"/>
            </a:avLst>
          </a:prstGeom>
          <a:solidFill>
            <a:srgbClr val="14171A"/>
          </a:solidFill>
          <a:ln/>
        </p:spPr>
      </p:sp>
      <p:sp>
        <p:nvSpPr>
          <p:cNvPr id="31" name="Text 29"/>
          <p:cNvSpPr txBox="1"/>
          <p:nvPr/>
        </p:nvSpPr>
        <p:spPr>
          <a:xfrm>
            <a:off x="841248" y="4078224"/>
            <a:ext cx="10509199" cy="237744"/>
          </a:xfrm>
          <a:prstGeom prst="rect">
            <a:avLst/>
          </a:prstGeom>
          <a:noFill/>
          <a:ln/>
        </p:spPr>
        <p:txBody>
          <a:bodyPr wrap="square" lIns="0" tIns="0" rIns="0" bIns="0" rtlCol="0" anchor="ctr"/>
          <a:lstStyle/>
          <a:p>
            <a:pPr indent="0" marL="0">
              <a:buNone/>
            </a:pPr>
            <a:r>
              <a:rPr lang="en-US" sz="1000" b="1" spc="120" kern="0" dirty="0">
                <a:solidFill>
                  <a:srgbClr val="C0542A"/>
                </a:solidFill>
                <a:latin typeface="Calibri" pitchFamily="34" charset="0"/>
                <a:ea typeface="Calibri" pitchFamily="34" charset="-122"/>
                <a:cs typeface="Calibri" pitchFamily="34" charset="-120"/>
              </a:rPr>
              <a:t>LES TROIS CHOSES À PRÉPARER LA VEILLE</a:t>
            </a:r>
            <a:endParaRPr lang="en-US" sz="1000" dirty="0"/>
          </a:p>
        </p:txBody>
      </p:sp>
      <p:sp>
        <p:nvSpPr>
          <p:cNvPr id="32" name="Text 30"/>
          <p:cNvSpPr txBox="1"/>
          <p:nvPr/>
        </p:nvSpPr>
        <p:spPr>
          <a:xfrm>
            <a:off x="841248" y="4389120"/>
            <a:ext cx="10509199" cy="10058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C8D0D4"/>
                </a:solidFill>
                <a:latin typeface="Calibri" pitchFamily="34" charset="0"/>
                <a:ea typeface="Calibri" pitchFamily="34" charset="-122"/>
                <a:cs typeface="Calibri" pitchFamily="34" charset="-120"/>
              </a:rPr>
              <a:t>Deux clips vidéo de secours, générés depuis un rendu d'architecture, disponibles hors ligne</a:t>
            </a:r>
            <a:endParaRPr lang="en-US" sz="1150" dirty="0"/>
          </a:p>
          <a:p>
            <a:pPr marL="342900" indent="-342900">
              <a:spcAft>
                <a:spcPts val="600"/>
              </a:spcAft>
              <a:buSzPct val="100000"/>
              <a:buChar char="–"/>
            </a:pPr>
            <a:r>
              <a:rPr lang="en-US" sz="1150" dirty="0">
                <a:solidFill>
                  <a:srgbClr val="C8D0D4"/>
                </a:solidFill>
                <a:latin typeface="Calibri" pitchFamily="34" charset="0"/>
                <a:ea typeface="Calibri" pitchFamily="34" charset="-122"/>
                <a:cs typeface="Calibri" pitchFamily="34" charset="-120"/>
              </a:rPr>
              <a:t>Un projet de démonstration à vous : capture 3D propre, image générée, trois itérations déjà faites</a:t>
            </a:r>
            <a:endParaRPr lang="en-US" sz="1150" dirty="0"/>
          </a:p>
          <a:p>
            <a:pPr marL="342900" indent="-342900">
              <a:spcAft>
                <a:spcPts val="600"/>
              </a:spcAft>
              <a:buSzPct val="100000"/>
              <a:buChar char="–"/>
            </a:pPr>
            <a:r>
              <a:rPr lang="en-US" sz="1150" dirty="0">
                <a:solidFill>
                  <a:srgbClr val="C8D0D4"/>
                </a:solidFill>
                <a:latin typeface="Calibri" pitchFamily="34" charset="0"/>
                <a:ea typeface="Calibri" pitchFamily="34" charset="-122"/>
                <a:cs typeface="Calibri" pitchFamily="34" charset="-120"/>
              </a:rPr>
              <a:t>Un fichier partagé ouvert et vide, qui deviendra leur bibliothèque de prompts pendant la session</a:t>
            </a:r>
            <a:endParaRPr lang="en-US" sz="1150" dirty="0"/>
          </a:p>
        </p:txBody>
      </p:sp>
      <p:sp>
        <p:nvSpPr>
          <p:cNvPr id="33" name="Shape 31"/>
          <p:cNvSpPr/>
          <p:nvPr/>
        </p:nvSpPr>
        <p:spPr>
          <a:xfrm>
            <a:off x="566928" y="5632704"/>
            <a:ext cx="11057839" cy="603504"/>
          </a:xfrm>
          <a:prstGeom prst="roundRect">
            <a:avLst>
              <a:gd name="adj" fmla="val 12121"/>
            </a:avLst>
          </a:prstGeom>
          <a:solidFill>
            <a:srgbClr val="F6E7E0"/>
          </a:solidFill>
          <a:ln/>
        </p:spPr>
      </p:sp>
      <p:sp>
        <p:nvSpPr>
          <p:cNvPr id="34" name="Shape 32"/>
          <p:cNvSpPr/>
          <p:nvPr/>
        </p:nvSpPr>
        <p:spPr>
          <a:xfrm>
            <a:off x="786384" y="5788152"/>
            <a:ext cx="603504" cy="292608"/>
          </a:xfrm>
          <a:prstGeom prst="roundRect">
            <a:avLst>
              <a:gd name="adj" fmla="val 21875"/>
            </a:avLst>
          </a:prstGeom>
          <a:solidFill>
            <a:srgbClr val="C0542A"/>
          </a:solidFill>
          <a:ln/>
        </p:spPr>
      </p:sp>
      <p:sp>
        <p:nvSpPr>
          <p:cNvPr id="35" name="Text 33"/>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36" name="Text 34"/>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Le seul indicateur qui compte en fin de session : est-ce que chacun repart avec une image de son projet qu'il assume, et un agent qui tourne ? Le reste est du contenu.</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9869119" cy="256032"/>
          </a:xfrm>
          <a:prstGeom prst="rect">
            <a:avLst/>
          </a:prstGeom>
          <a:noFill/>
          <a:ln/>
        </p:spPr>
        <p:txBody>
          <a:bodyPr wrap="square" lIns="0" tIns="0" rIns="0" bIns="0" rtlCol="0" anchor="ctr"/>
          <a:lstStyle/>
          <a:p>
            <a:pPr indent="0" marL="0">
              <a:buNone/>
            </a:pPr>
            <a:r>
              <a:rPr lang="en-US" sz="1050" b="1" spc="160" kern="0" dirty="0">
                <a:solidFill>
                  <a:srgbClr val="C0542A"/>
                </a:solidFill>
                <a:latin typeface="Calibri" pitchFamily="34" charset="0"/>
                <a:ea typeface="Calibri" pitchFamily="34" charset="-122"/>
                <a:cs typeface="Calibri" pitchFamily="34" charset="-120"/>
              </a:rPr>
              <a:t>ANNEXE · À DISTRIBUER</a:t>
            </a:r>
            <a:endParaRPr lang="en-US" sz="1050" dirty="0"/>
          </a:p>
        </p:txBody>
      </p:sp>
      <p:sp>
        <p:nvSpPr>
          <p:cNvPr id="3" name="Text 1"/>
          <p:cNvSpPr txBox="1"/>
          <p:nvPr/>
        </p:nvSpPr>
        <p:spPr>
          <a:xfrm>
            <a:off x="566928" y="694944"/>
            <a:ext cx="9869119" cy="640080"/>
          </a:xfrm>
          <a:prstGeom prst="rect">
            <a:avLst/>
          </a:prstGeom>
          <a:noFill/>
          <a:ln/>
        </p:spPr>
        <p:txBody>
          <a:bodyPr wrap="square" lIns="0" tIns="0" rIns="0" bIns="0" rtlCol="0" anchor="t"/>
          <a:lstStyle/>
          <a:p>
            <a:pPr indent="0" marL="0">
              <a:buNone/>
            </a:pPr>
            <a:r>
              <a:rPr lang="en-US" sz="2900" b="1" dirty="0">
                <a:solidFill>
                  <a:srgbClr val="14171A"/>
                </a:solidFill>
                <a:latin typeface="Cambria" pitchFamily="34" charset="0"/>
                <a:ea typeface="Cambria" pitchFamily="34" charset="-122"/>
                <a:cs typeface="Cambria" pitchFamily="34" charset="-120"/>
              </a:rPr>
              <a:t>Bibliothèque de prompts, à copier telle quelle</a:t>
            </a:r>
            <a:endParaRPr lang="en-US" sz="2900" dirty="0"/>
          </a:p>
        </p:txBody>
      </p:sp>
      <p:sp>
        <p:nvSpPr>
          <p:cNvPr id="4" name="Text 2"/>
          <p:cNvSpPr txBox="1"/>
          <p:nvPr/>
        </p:nvSpPr>
        <p:spPr>
          <a:xfrm>
            <a:off x="566928" y="6364224"/>
            <a:ext cx="6400800" cy="256032"/>
          </a:xfrm>
          <a:prstGeom prst="rect">
            <a:avLst/>
          </a:prstGeom>
          <a:noFill/>
          <a:ln/>
        </p:spPr>
        <p:txBody>
          <a:bodyPr wrap="square" lIns="0" tIns="0" rIns="0" bIns="0" rtlCol="0" anchor="ctr"/>
          <a:lstStyle/>
          <a:p>
            <a:pPr indent="0" marL="0">
              <a:buNone/>
            </a:pPr>
            <a:r>
              <a:rPr lang="en-US" sz="900" dirty="0">
                <a:solidFill>
                  <a:srgbClr val="78868D"/>
                </a:solidFill>
                <a:latin typeface="Calibri" pitchFamily="34" charset="0"/>
                <a:ea typeface="Calibri" pitchFamily="34" charset="-122"/>
                <a:cs typeface="Calibri" pitchFamily="34" charset="-120"/>
              </a:rPr>
              <a:t>L'IA au service du projet architectural</a:t>
            </a:r>
            <a:endParaRPr lang="en-US" sz="900" dirty="0"/>
          </a:p>
        </p:txBody>
      </p:sp>
      <p:sp>
        <p:nvSpPr>
          <p:cNvPr id="5" name="Text 3"/>
          <p:cNvSpPr txBox="1"/>
          <p:nvPr/>
        </p:nvSpPr>
        <p:spPr>
          <a:xfrm>
            <a:off x="10527487" y="6364224"/>
            <a:ext cx="1097280" cy="256032"/>
          </a:xfrm>
          <a:prstGeom prst="rect">
            <a:avLst/>
          </a:prstGeom>
          <a:noFill/>
          <a:ln/>
        </p:spPr>
        <p:txBody>
          <a:bodyPr wrap="square" lIns="0" tIns="0" rIns="0" bIns="0" rtlCol="0" anchor="ctr"/>
          <a:lstStyle/>
          <a:p>
            <a:pPr algn="r" indent="0" marL="0">
              <a:buNone/>
            </a:pPr>
            <a:r>
              <a:rPr lang="en-US" sz="900" dirty="0">
                <a:solidFill>
                  <a:srgbClr val="78868D"/>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566928" y="1389888"/>
            <a:ext cx="3533546" cy="1956816"/>
          </a:xfrm>
          <a:prstGeom prst="roundRect">
            <a:avLst>
              <a:gd name="adj" fmla="val 3738"/>
            </a:avLst>
          </a:prstGeom>
          <a:solidFill>
            <a:srgbClr val="1B2126"/>
          </a:solidFill>
          <a:ln/>
        </p:spPr>
      </p:sp>
      <p:sp>
        <p:nvSpPr>
          <p:cNvPr id="7" name="Text 5"/>
          <p:cNvSpPr txBox="1"/>
          <p:nvPr/>
        </p:nvSpPr>
        <p:spPr>
          <a:xfrm>
            <a:off x="749808" y="1517904"/>
            <a:ext cx="3167786" cy="219456"/>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IMAGE · CAPTURE 3D → RENDU</a:t>
            </a:r>
            <a:endParaRPr lang="en-US" sz="900" dirty="0"/>
          </a:p>
        </p:txBody>
      </p:sp>
      <p:sp>
        <p:nvSpPr>
          <p:cNvPr id="8" name="Text 6"/>
          <p:cNvSpPr txBox="1"/>
          <p:nvPr/>
        </p:nvSpPr>
        <p:spPr>
          <a:xfrm>
            <a:off x="749808" y="1773936"/>
            <a:ext cx="3167786" cy="1426464"/>
          </a:xfrm>
          <a:prstGeom prst="rect">
            <a:avLst/>
          </a:prstGeom>
          <a:noFill/>
          <a:ln/>
        </p:spPr>
        <p:txBody>
          <a:bodyPr wrap="square" lIns="0" tIns="0" rIns="0" bIns="0" rtlCol="0" anchor="t"/>
          <a:lstStyle/>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Voici une capture de ma maquette 3D.</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Conserve exactement la géométrie, les</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proportions, le cadrage, le point de vue.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N'ajoute ni ne supprime aucun volume.</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Transforme-la en photographie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d'architecture : [matériaux] ·</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[lumière et ciel] · [staffage]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Objectif 24 mm, verticales redressées.</a:t>
            </a:r>
            <a:endParaRPr lang="en-US" sz="900" dirty="0"/>
          </a:p>
        </p:txBody>
      </p:sp>
      <p:sp>
        <p:nvSpPr>
          <p:cNvPr id="9" name="Shape 7"/>
          <p:cNvSpPr/>
          <p:nvPr/>
        </p:nvSpPr>
        <p:spPr>
          <a:xfrm>
            <a:off x="4329074" y="1389888"/>
            <a:ext cx="3533546" cy="1956816"/>
          </a:xfrm>
          <a:prstGeom prst="roundRect">
            <a:avLst>
              <a:gd name="adj" fmla="val 3738"/>
            </a:avLst>
          </a:prstGeom>
          <a:solidFill>
            <a:srgbClr val="1B2126"/>
          </a:solidFill>
          <a:ln/>
        </p:spPr>
      </p:sp>
      <p:sp>
        <p:nvSpPr>
          <p:cNvPr id="10" name="Text 8"/>
          <p:cNvSpPr txBox="1"/>
          <p:nvPr/>
        </p:nvSpPr>
        <p:spPr>
          <a:xfrm>
            <a:off x="4511954" y="1517904"/>
            <a:ext cx="3167786" cy="219456"/>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IMAGE · ESQUISSE → MAQUETTE BLANCHE</a:t>
            </a:r>
            <a:endParaRPr lang="en-US" sz="900" dirty="0"/>
          </a:p>
        </p:txBody>
      </p:sp>
      <p:sp>
        <p:nvSpPr>
          <p:cNvPr id="11" name="Text 9"/>
          <p:cNvSpPr txBox="1"/>
          <p:nvPr/>
        </p:nvSpPr>
        <p:spPr>
          <a:xfrm>
            <a:off x="4511954" y="1773936"/>
            <a:ext cx="3167786" cy="1426464"/>
          </a:xfrm>
          <a:prstGeom prst="rect">
            <a:avLst/>
          </a:prstGeom>
          <a:noFill/>
          <a:ln/>
        </p:spPr>
        <p:txBody>
          <a:bodyPr wrap="square" lIns="0" tIns="0" rIns="0" bIns="0" rtlCol="0" anchor="t"/>
          <a:lstStyle/>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Voici un croquis à main levée.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Respecte strictement la géométrie,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les proportions et l'implantation.</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Produis-en une maquette blanche :</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volumes en plâtre mat, socle neutre,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lumière rasante de trois quarts,</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fond gris clair. Aucun matériau,</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aucune couleur, aucun décor.</a:t>
            </a:r>
            <a:endParaRPr lang="en-US" sz="900" dirty="0"/>
          </a:p>
        </p:txBody>
      </p:sp>
      <p:sp>
        <p:nvSpPr>
          <p:cNvPr id="12" name="Shape 10"/>
          <p:cNvSpPr/>
          <p:nvPr/>
        </p:nvSpPr>
        <p:spPr>
          <a:xfrm>
            <a:off x="8091221" y="1389888"/>
            <a:ext cx="3533546" cy="1956816"/>
          </a:xfrm>
          <a:prstGeom prst="roundRect">
            <a:avLst>
              <a:gd name="adj" fmla="val 3738"/>
            </a:avLst>
          </a:prstGeom>
          <a:solidFill>
            <a:srgbClr val="1B2126"/>
          </a:solidFill>
          <a:ln/>
        </p:spPr>
      </p:sp>
      <p:sp>
        <p:nvSpPr>
          <p:cNvPr id="13" name="Text 11"/>
          <p:cNvSpPr txBox="1"/>
          <p:nvPr/>
        </p:nvSpPr>
        <p:spPr>
          <a:xfrm>
            <a:off x="8274101" y="1517904"/>
            <a:ext cx="3167786" cy="219456"/>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IMAGE · LES TROIS ITÉRATIONS</a:t>
            </a:r>
            <a:endParaRPr lang="en-US" sz="900" dirty="0"/>
          </a:p>
        </p:txBody>
      </p:sp>
      <p:sp>
        <p:nvSpPr>
          <p:cNvPr id="14" name="Text 12"/>
          <p:cNvSpPr txBox="1"/>
          <p:nvPr/>
        </p:nvSpPr>
        <p:spPr>
          <a:xfrm>
            <a:off x="8274101" y="1773936"/>
            <a:ext cx="3167786" cy="1426464"/>
          </a:xfrm>
          <a:prstGeom prst="rect">
            <a:avLst/>
          </a:prstGeom>
          <a:noFill/>
          <a:ln/>
        </p:spPr>
        <p:txBody>
          <a:bodyPr wrap="square" lIns="0" tIns="0" rIns="0" bIns="0" rtlCol="0" anchor="t"/>
          <a:lstStyle/>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MATIÈRE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Garde tout identique. Change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uniquement le bardage en [matériau].</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LUMIÈRE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Même image, même cadrage. Passe en</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[ambiance] et ajuste les ombres.</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DÉTAIL</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Conserve l'ensemble. Supprime [élément].</a:t>
            </a:r>
            <a:endParaRPr lang="en-US" sz="900" dirty="0"/>
          </a:p>
        </p:txBody>
      </p:sp>
      <p:sp>
        <p:nvSpPr>
          <p:cNvPr id="15" name="Shape 13"/>
          <p:cNvSpPr/>
          <p:nvPr/>
        </p:nvSpPr>
        <p:spPr>
          <a:xfrm>
            <a:off x="566928" y="3547872"/>
            <a:ext cx="3533546" cy="1956816"/>
          </a:xfrm>
          <a:prstGeom prst="roundRect">
            <a:avLst>
              <a:gd name="adj" fmla="val 3738"/>
            </a:avLst>
          </a:prstGeom>
          <a:solidFill>
            <a:srgbClr val="1B2126"/>
          </a:solidFill>
          <a:ln/>
        </p:spPr>
      </p:sp>
      <p:sp>
        <p:nvSpPr>
          <p:cNvPr id="16" name="Text 14"/>
          <p:cNvSpPr txBox="1"/>
          <p:nvPr/>
        </p:nvSpPr>
        <p:spPr>
          <a:xfrm>
            <a:off x="749808" y="3675888"/>
            <a:ext cx="3167786" cy="219456"/>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VIDÉO · TRAVELLING AVANT</a:t>
            </a:r>
            <a:endParaRPr lang="en-US" sz="900" dirty="0"/>
          </a:p>
        </p:txBody>
      </p:sp>
      <p:sp>
        <p:nvSpPr>
          <p:cNvPr id="17" name="Text 15"/>
          <p:cNvSpPr txBox="1"/>
          <p:nvPr/>
        </p:nvSpPr>
        <p:spPr>
          <a:xfrm>
            <a:off x="749808" y="3931920"/>
            <a:ext cx="3167786" cy="1426464"/>
          </a:xfrm>
          <a:prstGeom prst="rect">
            <a:avLst/>
          </a:prstGeom>
          <a:noFill/>
          <a:ln/>
        </p:spPr>
        <p:txBody>
          <a:bodyPr wrap="square" lIns="0" tIns="0" rIns="0" bIns="0" rtlCol="0" anchor="t"/>
          <a:lstStyle/>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Photographie d'architecture d'une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[typologie] en [matériau], en fin</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d'après-midi.</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La caméra avance lentement et</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régulièrement vers l'entrée, hauteur</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constante, sans à-coups.</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Le feuillage bouge légèrement au vent.</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Aucun son. Un plan, six secondes.</a:t>
            </a:r>
            <a:endParaRPr lang="en-US" sz="900" dirty="0"/>
          </a:p>
        </p:txBody>
      </p:sp>
      <p:sp>
        <p:nvSpPr>
          <p:cNvPr id="18" name="Shape 16"/>
          <p:cNvSpPr/>
          <p:nvPr/>
        </p:nvSpPr>
        <p:spPr>
          <a:xfrm>
            <a:off x="4329074" y="3547872"/>
            <a:ext cx="3533546" cy="1956816"/>
          </a:xfrm>
          <a:prstGeom prst="roundRect">
            <a:avLst>
              <a:gd name="adj" fmla="val 3738"/>
            </a:avLst>
          </a:prstGeom>
          <a:solidFill>
            <a:srgbClr val="1B2126"/>
          </a:solidFill>
          <a:ln/>
        </p:spPr>
      </p:sp>
      <p:sp>
        <p:nvSpPr>
          <p:cNvPr id="19" name="Text 17"/>
          <p:cNvSpPr txBox="1"/>
          <p:nvPr/>
        </p:nvSpPr>
        <p:spPr>
          <a:xfrm>
            <a:off x="4511954" y="3675888"/>
            <a:ext cx="3167786" cy="219456"/>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VIDÉO · PANORAMIQUE DE FAÇADE</a:t>
            </a:r>
            <a:endParaRPr lang="en-US" sz="900" dirty="0"/>
          </a:p>
        </p:txBody>
      </p:sp>
      <p:sp>
        <p:nvSpPr>
          <p:cNvPr id="20" name="Text 18"/>
          <p:cNvSpPr txBox="1"/>
          <p:nvPr/>
        </p:nvSpPr>
        <p:spPr>
          <a:xfrm>
            <a:off x="4511954" y="3931920"/>
            <a:ext cx="3167786" cy="1426464"/>
          </a:xfrm>
          <a:prstGeom prst="rect">
            <a:avLst/>
          </a:prstGeom>
          <a:noFill/>
          <a:ln/>
        </p:spPr>
        <p:txBody>
          <a:bodyPr wrap="square" lIns="0" tIns="0" rIns="0" bIns="0" rtlCol="0" anchor="t"/>
          <a:lstStyle/>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Façade sud d'un [typologie] en</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[matériau], ciel couvert uniforme.</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Panoramique lent et régulier de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gauche à droite, caméra fixe,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vitesse constante.</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Aucun mouvement en dehors de la</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végétation.</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Aucun son. Un plan, huit secondes.</a:t>
            </a:r>
            <a:endParaRPr lang="en-US" sz="900" dirty="0"/>
          </a:p>
        </p:txBody>
      </p:sp>
      <p:sp>
        <p:nvSpPr>
          <p:cNvPr id="21" name="Shape 19"/>
          <p:cNvSpPr/>
          <p:nvPr/>
        </p:nvSpPr>
        <p:spPr>
          <a:xfrm>
            <a:off x="8091221" y="3547872"/>
            <a:ext cx="3533546" cy="1956816"/>
          </a:xfrm>
          <a:prstGeom prst="roundRect">
            <a:avLst>
              <a:gd name="adj" fmla="val 3738"/>
            </a:avLst>
          </a:prstGeom>
          <a:solidFill>
            <a:srgbClr val="1B2126"/>
          </a:solidFill>
          <a:ln/>
        </p:spPr>
      </p:sp>
      <p:sp>
        <p:nvSpPr>
          <p:cNvPr id="22" name="Text 20"/>
          <p:cNvSpPr txBox="1"/>
          <p:nvPr/>
        </p:nvSpPr>
        <p:spPr>
          <a:xfrm>
            <a:off x="8274101" y="3675888"/>
            <a:ext cx="3167786" cy="219456"/>
          </a:xfrm>
          <a:prstGeom prst="rect">
            <a:avLst/>
          </a:prstGeom>
          <a:noFill/>
          <a:ln/>
        </p:spPr>
        <p:txBody>
          <a:bodyPr wrap="square" lIns="0" tIns="0" rIns="0" bIns="0" rtlCol="0" anchor="ctr"/>
          <a:lstStyle/>
          <a:p>
            <a:pPr indent="0" marL="0">
              <a:buNone/>
            </a:pPr>
            <a:r>
              <a:rPr lang="en-US" sz="900" b="1" spc="100" kern="0" dirty="0">
                <a:solidFill>
                  <a:srgbClr val="C0542A"/>
                </a:solidFill>
                <a:latin typeface="Calibri" pitchFamily="34" charset="0"/>
                <a:ea typeface="Calibri" pitchFamily="34" charset="-122"/>
                <a:cs typeface="Calibri" pitchFamily="34" charset="-120"/>
              </a:rPr>
              <a:t>VIDÉO · SURVOL DU PROJET</a:t>
            </a:r>
            <a:endParaRPr lang="en-US" sz="900" dirty="0"/>
          </a:p>
        </p:txBody>
      </p:sp>
      <p:sp>
        <p:nvSpPr>
          <p:cNvPr id="23" name="Text 21"/>
          <p:cNvSpPr txBox="1"/>
          <p:nvPr/>
        </p:nvSpPr>
        <p:spPr>
          <a:xfrm>
            <a:off x="8274101" y="3931920"/>
            <a:ext cx="3167786" cy="1426464"/>
          </a:xfrm>
          <a:prstGeom prst="rect">
            <a:avLst/>
          </a:prstGeom>
          <a:noFill/>
          <a:ln/>
        </p:spPr>
        <p:txBody>
          <a:bodyPr wrap="square" lIns="0" tIns="0" rIns="0" bIns="0" rtlCol="0" anchor="t"/>
          <a:lstStyle/>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Vue aérienne d'un [typologie] dans</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son contexte, en milieu de matinée.</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Lent mouvement orbital autour du</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bâtiment, altitude et vitesse</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constantes.</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La végétation bouge légèrement.</a:t>
            </a: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Aucun personnage en mouvement.</a:t>
            </a:r>
            <a:endParaRPr lang="en-US" sz="900" dirty="0"/>
          </a:p>
          <a:p>
            <a:pPr indent="0" marL="0">
              <a:lnSpc>
                <a:spcPct val="100000"/>
              </a:lnSpc>
              <a:buNone/>
            </a:pPr>
            <a:endParaRPr lang="en-US" sz="900" dirty="0"/>
          </a:p>
          <a:p>
            <a:pPr indent="0" marL="0">
              <a:lnSpc>
                <a:spcPct val="100000"/>
              </a:lnSpc>
              <a:buNone/>
            </a:pPr>
            <a:r>
              <a:rPr lang="en-US" sz="900" dirty="0">
                <a:solidFill>
                  <a:srgbClr val="DFE5E8"/>
                </a:solidFill>
                <a:latin typeface="Consolas" pitchFamily="34" charset="0"/>
                <a:ea typeface="Consolas" pitchFamily="34" charset="-122"/>
                <a:cs typeface="Consolas" pitchFamily="34" charset="-120"/>
              </a:rPr>
              <a:t>Aucun son. Un plan, huit secondes.</a:t>
            </a:r>
            <a:endParaRPr lang="en-US" sz="900" dirty="0"/>
          </a:p>
        </p:txBody>
      </p:sp>
      <p:sp>
        <p:nvSpPr>
          <p:cNvPr id="24" name="Shape 22"/>
          <p:cNvSpPr/>
          <p:nvPr/>
        </p:nvSpPr>
        <p:spPr>
          <a:xfrm>
            <a:off x="566928" y="5632704"/>
            <a:ext cx="11057839" cy="603504"/>
          </a:xfrm>
          <a:prstGeom prst="roundRect">
            <a:avLst>
              <a:gd name="adj" fmla="val 12121"/>
            </a:avLst>
          </a:prstGeom>
          <a:solidFill>
            <a:srgbClr val="F6E7E0"/>
          </a:solidFill>
          <a:ln/>
        </p:spPr>
      </p:sp>
      <p:sp>
        <p:nvSpPr>
          <p:cNvPr id="25" name="Shape 23"/>
          <p:cNvSpPr/>
          <p:nvPr/>
        </p:nvSpPr>
        <p:spPr>
          <a:xfrm>
            <a:off x="786384" y="5788152"/>
            <a:ext cx="603504" cy="292608"/>
          </a:xfrm>
          <a:prstGeom prst="roundRect">
            <a:avLst>
              <a:gd name="adj" fmla="val 21875"/>
            </a:avLst>
          </a:prstGeom>
          <a:solidFill>
            <a:srgbClr val="C0542A"/>
          </a:solidFill>
          <a:ln/>
        </p:spPr>
      </p:sp>
      <p:sp>
        <p:nvSpPr>
          <p:cNvPr id="26" name="Text 24"/>
          <p:cNvSpPr txBox="1"/>
          <p:nvPr/>
        </p:nvSpPr>
        <p:spPr>
          <a:xfrm>
            <a:off x="786384" y="5788152"/>
            <a:ext cx="6035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TIP</a:t>
            </a:r>
            <a:endParaRPr lang="en-US" sz="950" dirty="0"/>
          </a:p>
        </p:txBody>
      </p:sp>
      <p:sp>
        <p:nvSpPr>
          <p:cNvPr id="27" name="Text 25"/>
          <p:cNvSpPr txBox="1"/>
          <p:nvPr/>
        </p:nvSpPr>
        <p:spPr>
          <a:xfrm>
            <a:off x="1536192" y="5632704"/>
            <a:ext cx="9832543" cy="603504"/>
          </a:xfrm>
          <a:prstGeom prst="rect">
            <a:avLst/>
          </a:prstGeom>
          <a:noFill/>
          <a:ln/>
        </p:spPr>
        <p:txBody>
          <a:bodyPr wrap="square" lIns="0" tIns="0" rIns="0" bIns="0" rtlCol="0" anchor="ctr"/>
          <a:lstStyle/>
          <a:p>
            <a:pPr indent="0" marL="0">
              <a:buNone/>
            </a:pPr>
            <a:r>
              <a:rPr lang="en-US" sz="1200" i="1" dirty="0">
                <a:solidFill>
                  <a:srgbClr val="8A4A34"/>
                </a:solidFill>
                <a:latin typeface="Calibri" pitchFamily="34" charset="0"/>
                <a:ea typeface="Calibri" pitchFamily="34" charset="-122"/>
                <a:cs typeface="Calibri" pitchFamily="34" charset="-120"/>
              </a:rPr>
              <a:t>Les crochets sont volontaires : remplissez-les avec votre propre vocabulaire. Un prompt entièrement pré-écrit ne devient jamais le vôtre — et c'est le vôtre qui vous fera gagner du temps.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L'IA au service du projet architectural - Conducteur de session</dc:title>
  <dc:subject>PptxGenJS Presentation</dc:subject>
  <dc:creator>ANCA Agency</dc:creator>
  <cp:lastModifiedBy>ANCA Agency</cp:lastModifiedBy>
  <cp:revision>1</cp:revision>
  <dcterms:created xsi:type="dcterms:W3CDTF">2026-09-03T07:52:10Z</dcterms:created>
  <dcterms:modified xsi:type="dcterms:W3CDTF">2026-09-03T07:52:10Z</dcterms:modified>
</cp:coreProperties>
</file>